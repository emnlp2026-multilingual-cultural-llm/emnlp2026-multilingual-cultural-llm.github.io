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notesSlides/notesSlide14.xml" ContentType="application/vnd.openxmlformats-officedocument.presentationml.notesSlide+xml"/>
  <Override PartName="/ppt/tags/tag10.xml" ContentType="application/vnd.openxmlformats-officedocument.presentationml.tags+xml"/>
  <Override PartName="/ppt/notesSlides/notesSlide15.xml" ContentType="application/vnd.openxmlformats-officedocument.presentationml.notesSlide+xml"/>
  <Override PartName="/ppt/tags/tag11.xml" ContentType="application/vnd.openxmlformats-officedocument.presentationml.tags+xml"/>
  <Override PartName="/ppt/notesSlides/notesSlide16.xml" ContentType="application/vnd.openxmlformats-officedocument.presentationml.notesSlide+xml"/>
  <Override PartName="/ppt/tags/tag12.xml" ContentType="application/vnd.openxmlformats-officedocument.presentationml.tags+xml"/>
  <Override PartName="/ppt/notesSlides/notesSlide17.xml" ContentType="application/vnd.openxmlformats-officedocument.presentationml.notesSlide+xml"/>
  <Override PartName="/ppt/tags/tag13.xml" ContentType="application/vnd.openxmlformats-officedocument.presentationml.tags+xml"/>
  <Override PartName="/ppt/notesSlides/notesSlide18.xml" ContentType="application/vnd.openxmlformats-officedocument.presentationml.notesSlide+xml"/>
  <Override PartName="/ppt/tags/tag14.xml" ContentType="application/vnd.openxmlformats-officedocument.presentationml.tags+xml"/>
  <Override PartName="/ppt/notesSlides/notesSlide19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16.xml" ContentType="application/vnd.openxmlformats-officedocument.presentationml.tags+xml"/>
  <Override PartName="/ppt/notesSlides/notesSlide21.xml" ContentType="application/vnd.openxmlformats-officedocument.presentationml.notesSlide+xml"/>
  <Override PartName="/ppt/tags/tag17.xml" ContentType="application/vnd.openxmlformats-officedocument.presentationml.tags+xml"/>
  <Override PartName="/ppt/notesSlides/notesSlide22.xml" ContentType="application/vnd.openxmlformats-officedocument.presentationml.notesSlide+xml"/>
  <Override PartName="/ppt/tags/tag18.xml" ContentType="application/vnd.openxmlformats-officedocument.presentationml.tags+xml"/>
  <Override PartName="/ppt/notesSlides/notesSlide23.xml" ContentType="application/vnd.openxmlformats-officedocument.presentationml.notesSlide+xml"/>
  <Override PartName="/ppt/tags/tag19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676" r:id="rId3"/>
    <p:sldId id="313" r:id="rId4"/>
    <p:sldId id="414" r:id="rId5"/>
    <p:sldId id="614" r:id="rId6"/>
    <p:sldId id="551" r:id="rId7"/>
    <p:sldId id="675" r:id="rId8"/>
    <p:sldId id="679" r:id="rId9"/>
    <p:sldId id="681" r:id="rId10"/>
    <p:sldId id="682" r:id="rId11"/>
    <p:sldId id="687" r:id="rId12"/>
    <p:sldId id="686" r:id="rId13"/>
    <p:sldId id="688" r:id="rId14"/>
    <p:sldId id="690" r:id="rId15"/>
    <p:sldId id="691" r:id="rId16"/>
    <p:sldId id="694" r:id="rId17"/>
    <p:sldId id="696" r:id="rId18"/>
    <p:sldId id="695" r:id="rId19"/>
    <p:sldId id="697" r:id="rId20"/>
    <p:sldId id="698" r:id="rId21"/>
    <p:sldId id="699" r:id="rId22"/>
    <p:sldId id="700" r:id="rId23"/>
    <p:sldId id="701" r:id="rId24"/>
    <p:sldId id="702" r:id="rId25"/>
    <p:sldId id="658" r:id="rId26"/>
    <p:sldId id="659" r:id="rId27"/>
    <p:sldId id="662" r:id="rId28"/>
    <p:sldId id="665" r:id="rId29"/>
    <p:sldId id="666" r:id="rId30"/>
    <p:sldId id="703" r:id="rId31"/>
    <p:sldId id="279" r:id="rId32"/>
  </p:sldIdLst>
  <p:sldSz cx="9144000" cy="5143500" type="screen16x9"/>
  <p:notesSz cx="6858000" cy="9144000"/>
  <p:embeddedFontLst>
    <p:embeddedFont>
      <p:font typeface="Work Sans" pitchFamily="2" charset="77"/>
      <p:regular r:id="rId34"/>
      <p:bold r:id="rId35"/>
      <p:italic r:id="rId36"/>
      <p:boldItalic r:id="rId37"/>
    </p:embeddedFont>
    <p:embeddedFont>
      <p:font typeface="Work Sans Medium" pitchFamily="2" charset="77"/>
      <p:regular r:id="rId38"/>
      <p:italic r:id="rId39"/>
    </p:embeddedFont>
    <p:embeddedFont>
      <p:font typeface="Work Sans SemiBold" pitchFamily="2" charset="77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3" roundtripDataSignature="AMtx7mgYIoNinYYV6/Nm8gugC7TKhh1o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A109"/>
    <a:srgbClr val="42D100"/>
    <a:srgbClr val="007DD7"/>
    <a:srgbClr val="1E61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4"/>
    <p:restoredTop sz="96341"/>
  </p:normalViewPr>
  <p:slideViewPr>
    <p:cSldViewPr snapToGrid="0">
      <p:cViewPr>
        <p:scale>
          <a:sx n="251" d="100"/>
          <a:sy n="251" d="100"/>
        </p:scale>
        <p:origin x="1360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9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8" Type="http://schemas.openxmlformats.org/officeDocument/2006/relationships/slide" Target="slides/slide7.xml"/><Relationship Id="rId93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9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7" name="Google Shape;9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66344C49-22DB-8337-4C87-6C5CBBA71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:notes">
            <a:extLst>
              <a:ext uri="{FF2B5EF4-FFF2-40B4-BE49-F238E27FC236}">
                <a16:creationId xmlns:a16="http://schemas.microsoft.com/office/drawing/2014/main" id="{1500607D-EE4C-C035-2557-F5D75A16F2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:notes">
            <a:extLst>
              <a:ext uri="{FF2B5EF4-FFF2-40B4-BE49-F238E27FC236}">
                <a16:creationId xmlns:a16="http://schemas.microsoft.com/office/drawing/2014/main" id="{C285921F-6071-B258-4800-C4E961E4BD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5171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1b1fb4e12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31b1fb4e12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>
          <a:extLst>
            <a:ext uri="{FF2B5EF4-FFF2-40B4-BE49-F238E27FC236}">
              <a16:creationId xmlns:a16="http://schemas.microsoft.com/office/drawing/2014/main" id="{2A176556-B05F-05DA-35BD-4095AFBD7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39d43167a8_0_964:notes">
            <a:extLst>
              <a:ext uri="{FF2B5EF4-FFF2-40B4-BE49-F238E27FC236}">
                <a16:creationId xmlns:a16="http://schemas.microsoft.com/office/drawing/2014/main" id="{D5E26E9C-E38A-C685-5E39-2EA4C4E54D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339d43167a8_0_964:notes">
            <a:extLst>
              <a:ext uri="{FF2B5EF4-FFF2-40B4-BE49-F238E27FC236}">
                <a16:creationId xmlns:a16="http://schemas.microsoft.com/office/drawing/2014/main" id="{EA48C433-C70E-E9D6-D4E3-8B8B6DA664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Vision-</a:t>
            </a:r>
            <a:r>
              <a:rPr lang="fr" dirty="0" err="1"/>
              <a:t>language</a:t>
            </a:r>
            <a:r>
              <a:rPr lang="fr" dirty="0"/>
              <a:t> </a:t>
            </a:r>
            <a:r>
              <a:rPr lang="fr" dirty="0" err="1"/>
              <a:t>models</a:t>
            </a:r>
            <a:r>
              <a:rPr lang="fr" dirty="0"/>
              <a:t> (e.g., GPT4, Gemini, </a:t>
            </a:r>
            <a:r>
              <a:rPr lang="fr" dirty="0" err="1"/>
              <a:t>LLaVA</a:t>
            </a:r>
            <a:r>
              <a:rPr lang="fr" dirty="0"/>
              <a:t>, </a:t>
            </a:r>
            <a:r>
              <a:rPr lang="fr" dirty="0" err="1"/>
              <a:t>InternVL</a:t>
            </a:r>
            <a:r>
              <a:rPr lang="fr" dirty="0"/>
              <a:t>) are </a:t>
            </a:r>
            <a:r>
              <a:rPr lang="fr" dirty="0" err="1"/>
              <a:t>very</a:t>
            </a:r>
            <a:r>
              <a:rPr lang="fr" dirty="0"/>
              <a:t> good at </a:t>
            </a:r>
            <a:r>
              <a:rPr lang="fr" dirty="0" err="1"/>
              <a:t>solving</a:t>
            </a:r>
            <a:r>
              <a:rPr lang="fr" dirty="0"/>
              <a:t> </a:t>
            </a:r>
            <a:r>
              <a:rPr lang="fr" dirty="0" err="1"/>
              <a:t>general</a:t>
            </a:r>
            <a:r>
              <a:rPr lang="fr" dirty="0"/>
              <a:t> </a:t>
            </a:r>
            <a:r>
              <a:rPr lang="fr" dirty="0" err="1"/>
              <a:t>scene</a:t>
            </a:r>
            <a:r>
              <a:rPr lang="fr" dirty="0"/>
              <a:t> </a:t>
            </a:r>
            <a:r>
              <a:rPr lang="fr" dirty="0" err="1"/>
              <a:t>understanding</a:t>
            </a:r>
            <a:r>
              <a:rPr lang="fr" dirty="0"/>
              <a:t> </a:t>
            </a:r>
            <a:r>
              <a:rPr lang="fr" dirty="0" err="1"/>
              <a:t>tasks</a:t>
            </a:r>
            <a:r>
              <a:rPr lang="fr" dirty="0"/>
              <a:t>, for </a:t>
            </a:r>
            <a:r>
              <a:rPr lang="fr" dirty="0" err="1"/>
              <a:t>example</a:t>
            </a:r>
            <a:r>
              <a:rPr lang="fr" dirty="0"/>
              <a:t> </a:t>
            </a:r>
            <a:r>
              <a:rPr lang="fr" dirty="0" err="1"/>
              <a:t>human</a:t>
            </a:r>
            <a:r>
              <a:rPr lang="fr" dirty="0"/>
              <a:t> performance on VQA v2 </a:t>
            </a:r>
            <a:r>
              <a:rPr lang="fr" dirty="0" err="1"/>
              <a:t>is</a:t>
            </a:r>
            <a:r>
              <a:rPr lang="fr" dirty="0"/>
              <a:t> </a:t>
            </a:r>
            <a:r>
              <a:rPr lang="fr" dirty="0" err="1"/>
              <a:t>already</a:t>
            </a:r>
            <a:r>
              <a:rPr lang="fr" dirty="0"/>
              <a:t> </a:t>
            </a:r>
            <a:r>
              <a:rPr lang="fr" dirty="0" err="1"/>
              <a:t>surpassed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Now, </a:t>
            </a:r>
            <a:r>
              <a:rPr lang="fr" dirty="0" err="1"/>
              <a:t>given</a:t>
            </a:r>
            <a:r>
              <a:rPr lang="fr" dirty="0"/>
              <a:t> </a:t>
            </a:r>
            <a:r>
              <a:rPr lang="fr" dirty="0" err="1"/>
              <a:t>that</a:t>
            </a:r>
            <a:r>
              <a:rPr lang="fr" dirty="0"/>
              <a:t> </a:t>
            </a:r>
            <a:r>
              <a:rPr lang="fr" dirty="0" err="1"/>
              <a:t>these</a:t>
            </a:r>
            <a:r>
              <a:rPr lang="fr" dirty="0"/>
              <a:t> </a:t>
            </a:r>
            <a:r>
              <a:rPr lang="fr" dirty="0" err="1"/>
              <a:t>models</a:t>
            </a:r>
            <a:r>
              <a:rPr lang="fr" dirty="0"/>
              <a:t> are </a:t>
            </a:r>
            <a:r>
              <a:rPr lang="fr" dirty="0" err="1"/>
              <a:t>being</a:t>
            </a:r>
            <a:r>
              <a:rPr lang="fr" dirty="0"/>
              <a:t> </a:t>
            </a:r>
            <a:r>
              <a:rPr lang="fr" dirty="0" err="1"/>
              <a:t>used</a:t>
            </a:r>
            <a:r>
              <a:rPr lang="fr" dirty="0"/>
              <a:t> </a:t>
            </a:r>
            <a:r>
              <a:rPr lang="fr" dirty="0" err="1"/>
              <a:t>globally</a:t>
            </a:r>
            <a:r>
              <a:rPr lang="fr" dirty="0"/>
              <a:t> </a:t>
            </a:r>
            <a:r>
              <a:rPr lang="fr" dirty="0" err="1"/>
              <a:t>we</a:t>
            </a:r>
            <a:r>
              <a:rPr lang="fr" dirty="0"/>
              <a:t> </a:t>
            </a:r>
            <a:r>
              <a:rPr lang="fr" dirty="0" err="1"/>
              <a:t>need</a:t>
            </a:r>
            <a:r>
              <a:rPr lang="fr" dirty="0"/>
              <a:t> to </a:t>
            </a:r>
            <a:r>
              <a:rPr lang="fr" dirty="0" err="1"/>
              <a:t>hold</a:t>
            </a:r>
            <a:r>
              <a:rPr lang="fr" dirty="0"/>
              <a:t> </a:t>
            </a:r>
            <a:r>
              <a:rPr lang="fr" dirty="0" err="1"/>
              <a:t>them</a:t>
            </a:r>
            <a:r>
              <a:rPr lang="fr" dirty="0"/>
              <a:t> to </a:t>
            </a:r>
            <a:r>
              <a:rPr lang="fr" dirty="0" err="1"/>
              <a:t>higher</a:t>
            </a:r>
            <a:r>
              <a:rPr lang="fr" dirty="0"/>
              <a:t> standards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err="1"/>
              <a:t>Models</a:t>
            </a:r>
            <a:r>
              <a:rPr lang="fr" dirty="0"/>
              <a:t> must </a:t>
            </a:r>
            <a:r>
              <a:rPr lang="fr" dirty="0" err="1"/>
              <a:t>be</a:t>
            </a:r>
            <a:r>
              <a:rPr lang="fr" dirty="0"/>
              <a:t> capable of </a:t>
            </a:r>
            <a:r>
              <a:rPr lang="fr" dirty="0" err="1"/>
              <a:t>understanding</a:t>
            </a:r>
            <a:r>
              <a:rPr lang="fr" dirty="0"/>
              <a:t> cultural concepts and values </a:t>
            </a:r>
            <a:r>
              <a:rPr lang="fr" dirty="0" err="1"/>
              <a:t>across</a:t>
            </a:r>
            <a:r>
              <a:rPr lang="fr" dirty="0"/>
              <a:t> multiple cultures to </a:t>
            </a:r>
            <a:r>
              <a:rPr lang="fr" dirty="0" err="1"/>
              <a:t>maximize</a:t>
            </a:r>
            <a:r>
              <a:rPr lang="fr" dirty="0"/>
              <a:t> </a:t>
            </a:r>
            <a:r>
              <a:rPr lang="fr" dirty="0" err="1"/>
              <a:t>their</a:t>
            </a:r>
            <a:r>
              <a:rPr lang="fr" dirty="0"/>
              <a:t> global utility!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3995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AB8280F1-7BC3-098D-6979-BFB092FA1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:notes">
            <a:extLst>
              <a:ext uri="{FF2B5EF4-FFF2-40B4-BE49-F238E27FC236}">
                <a16:creationId xmlns:a16="http://schemas.microsoft.com/office/drawing/2014/main" id="{C0C10E1B-CD99-E2F4-7EAA-D2AD44788E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:notes">
            <a:extLst>
              <a:ext uri="{FF2B5EF4-FFF2-40B4-BE49-F238E27FC236}">
                <a16:creationId xmlns:a16="http://schemas.microsoft.com/office/drawing/2014/main" id="{1ABD3ACF-0BAB-203E-C21B-C2B054DAFD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927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>
          <a:extLst>
            <a:ext uri="{FF2B5EF4-FFF2-40B4-BE49-F238E27FC236}">
              <a16:creationId xmlns:a16="http://schemas.microsoft.com/office/drawing/2014/main" id="{F487026A-D2C1-A8C4-0D69-D851D1ACD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39d43167a8_0_981:notes">
            <a:extLst>
              <a:ext uri="{FF2B5EF4-FFF2-40B4-BE49-F238E27FC236}">
                <a16:creationId xmlns:a16="http://schemas.microsoft.com/office/drawing/2014/main" id="{EA6EBEF2-1BFC-0DDA-5DF6-5E69F66A60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339d43167a8_0_981:notes">
            <a:extLst>
              <a:ext uri="{FF2B5EF4-FFF2-40B4-BE49-F238E27FC236}">
                <a16:creationId xmlns:a16="http://schemas.microsoft.com/office/drawing/2014/main" id="{4A6D29DF-D43E-A833-3D63-7E53E96A3A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6977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78CB65CF-991C-BD36-53DC-C67AF5BF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:notes">
            <a:extLst>
              <a:ext uri="{FF2B5EF4-FFF2-40B4-BE49-F238E27FC236}">
                <a16:creationId xmlns:a16="http://schemas.microsoft.com/office/drawing/2014/main" id="{10227509-E45C-C224-0D2F-186E5DFD09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:notes">
            <a:extLst>
              <a:ext uri="{FF2B5EF4-FFF2-40B4-BE49-F238E27FC236}">
                <a16:creationId xmlns:a16="http://schemas.microsoft.com/office/drawing/2014/main" id="{E90E8C5B-852E-F8C6-D946-6BE5CE506A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6282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1AC47406-4EF9-3611-0516-20FFD391D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:notes">
            <a:extLst>
              <a:ext uri="{FF2B5EF4-FFF2-40B4-BE49-F238E27FC236}">
                <a16:creationId xmlns:a16="http://schemas.microsoft.com/office/drawing/2014/main" id="{59548209-D214-4248-0F92-9E9781E905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:notes">
            <a:extLst>
              <a:ext uri="{FF2B5EF4-FFF2-40B4-BE49-F238E27FC236}">
                <a16:creationId xmlns:a16="http://schemas.microsoft.com/office/drawing/2014/main" id="{8AB2193A-DA79-5D49-F9C0-1D5486767D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4291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>
          <a:extLst>
            <a:ext uri="{FF2B5EF4-FFF2-40B4-BE49-F238E27FC236}">
              <a16:creationId xmlns:a16="http://schemas.microsoft.com/office/drawing/2014/main" id="{DD275C11-191D-9F74-6B98-210E9AEE6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39d43167a8_0_981:notes">
            <a:extLst>
              <a:ext uri="{FF2B5EF4-FFF2-40B4-BE49-F238E27FC236}">
                <a16:creationId xmlns:a16="http://schemas.microsoft.com/office/drawing/2014/main" id="{CD0DA590-B299-9C2C-15E8-FB67C81330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339d43167a8_0_981:notes">
            <a:extLst>
              <a:ext uri="{FF2B5EF4-FFF2-40B4-BE49-F238E27FC236}">
                <a16:creationId xmlns:a16="http://schemas.microsoft.com/office/drawing/2014/main" id="{577FA9FE-CD87-DE48-60FB-1D124CEA4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6360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B653D60D-5058-5D7C-9CAD-A9573F700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:notes">
            <a:extLst>
              <a:ext uri="{FF2B5EF4-FFF2-40B4-BE49-F238E27FC236}">
                <a16:creationId xmlns:a16="http://schemas.microsoft.com/office/drawing/2014/main" id="{D5CFABF1-BAA3-A616-23BA-81F385CAB8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:notes">
            <a:extLst>
              <a:ext uri="{FF2B5EF4-FFF2-40B4-BE49-F238E27FC236}">
                <a16:creationId xmlns:a16="http://schemas.microsoft.com/office/drawing/2014/main" id="{5E0103DD-E851-BB4E-9CAA-B203E68695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3237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13026C3D-58ED-A930-B40D-967B93F7B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:notes">
            <a:extLst>
              <a:ext uri="{FF2B5EF4-FFF2-40B4-BE49-F238E27FC236}">
                <a16:creationId xmlns:a16="http://schemas.microsoft.com/office/drawing/2014/main" id="{7530CE3B-3AD7-1159-DE5C-9DCC903FD2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:notes">
            <a:extLst>
              <a:ext uri="{FF2B5EF4-FFF2-40B4-BE49-F238E27FC236}">
                <a16:creationId xmlns:a16="http://schemas.microsoft.com/office/drawing/2014/main" id="{FEF4D772-F926-9E6E-471C-A10BC862EF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6155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F9435AFB-3015-2A8C-814B-1E5939AC5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:notes">
            <a:extLst>
              <a:ext uri="{FF2B5EF4-FFF2-40B4-BE49-F238E27FC236}">
                <a16:creationId xmlns:a16="http://schemas.microsoft.com/office/drawing/2014/main" id="{2109676D-73F5-3BAF-C962-E7682BBA86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:notes">
            <a:extLst>
              <a:ext uri="{FF2B5EF4-FFF2-40B4-BE49-F238E27FC236}">
                <a16:creationId xmlns:a16="http://schemas.microsoft.com/office/drawing/2014/main" id="{E1ED65ED-1751-9B8A-3428-5F845EDDE5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6175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B7369C18-4804-82C9-6F5C-C203A64EC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:notes">
            <a:extLst>
              <a:ext uri="{FF2B5EF4-FFF2-40B4-BE49-F238E27FC236}">
                <a16:creationId xmlns:a16="http://schemas.microsoft.com/office/drawing/2014/main" id="{AE6A81FB-5C12-AD0B-E994-341E0C3DEE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:notes">
            <a:extLst>
              <a:ext uri="{FF2B5EF4-FFF2-40B4-BE49-F238E27FC236}">
                <a16:creationId xmlns:a16="http://schemas.microsoft.com/office/drawing/2014/main" id="{A32E51D1-DE71-EFA7-D490-EF6D4EA666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24696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A074104B-A940-1F26-2EEB-7F333F37B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:notes">
            <a:extLst>
              <a:ext uri="{FF2B5EF4-FFF2-40B4-BE49-F238E27FC236}">
                <a16:creationId xmlns:a16="http://schemas.microsoft.com/office/drawing/2014/main" id="{AC1F913C-1179-1A84-7844-55C6DC0D1F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:notes">
            <a:extLst>
              <a:ext uri="{FF2B5EF4-FFF2-40B4-BE49-F238E27FC236}">
                <a16:creationId xmlns:a16="http://schemas.microsoft.com/office/drawing/2014/main" id="{47E54070-FF7D-3B8A-7849-2F899295ED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9664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77C37166-A469-F87F-8621-6FBE5AC45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:notes">
            <a:extLst>
              <a:ext uri="{FF2B5EF4-FFF2-40B4-BE49-F238E27FC236}">
                <a16:creationId xmlns:a16="http://schemas.microsoft.com/office/drawing/2014/main" id="{F2E9174A-046C-F68C-E1BA-9AC40A5ADC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:notes">
            <a:extLst>
              <a:ext uri="{FF2B5EF4-FFF2-40B4-BE49-F238E27FC236}">
                <a16:creationId xmlns:a16="http://schemas.microsoft.com/office/drawing/2014/main" id="{4AECC706-041A-B244-869A-8E2AECD1A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45005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8A63A1B9-C7A0-60A7-59FF-C50E2AA08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:notes">
            <a:extLst>
              <a:ext uri="{FF2B5EF4-FFF2-40B4-BE49-F238E27FC236}">
                <a16:creationId xmlns:a16="http://schemas.microsoft.com/office/drawing/2014/main" id="{8C5EE986-DEEF-1158-05AD-AF874E52B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:notes">
            <a:extLst>
              <a:ext uri="{FF2B5EF4-FFF2-40B4-BE49-F238E27FC236}">
                <a16:creationId xmlns:a16="http://schemas.microsoft.com/office/drawing/2014/main" id="{6945D5AF-5AE1-2C14-C281-71863EADC0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55480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7C3C33AF-6DD3-6F12-2E42-125FFE14F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:notes">
            <a:extLst>
              <a:ext uri="{FF2B5EF4-FFF2-40B4-BE49-F238E27FC236}">
                <a16:creationId xmlns:a16="http://schemas.microsoft.com/office/drawing/2014/main" id="{8712203D-B3BE-0BFE-8CAF-60B88BE9BE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:notes">
            <a:extLst>
              <a:ext uri="{FF2B5EF4-FFF2-40B4-BE49-F238E27FC236}">
                <a16:creationId xmlns:a16="http://schemas.microsoft.com/office/drawing/2014/main" id="{6CDB06AA-24C8-4B6A-4F0F-F68D78B2FD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03416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9225C495-71F1-CF6E-34C6-1C1FF1FC7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:notes">
            <a:extLst>
              <a:ext uri="{FF2B5EF4-FFF2-40B4-BE49-F238E27FC236}">
                <a16:creationId xmlns:a16="http://schemas.microsoft.com/office/drawing/2014/main" id="{1FCDEB04-E2CD-684E-2078-65B3409F45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:notes">
            <a:extLst>
              <a:ext uri="{FF2B5EF4-FFF2-40B4-BE49-F238E27FC236}">
                <a16:creationId xmlns:a16="http://schemas.microsoft.com/office/drawing/2014/main" id="{59DCC6F2-85CB-0170-C256-75B041A674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80700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D2953499-F642-A8F2-449D-F139AECEF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:notes">
            <a:extLst>
              <a:ext uri="{FF2B5EF4-FFF2-40B4-BE49-F238E27FC236}">
                <a16:creationId xmlns:a16="http://schemas.microsoft.com/office/drawing/2014/main" id="{599BF4C2-EB54-DBF6-AD17-5F0398284E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:notes">
            <a:extLst>
              <a:ext uri="{FF2B5EF4-FFF2-40B4-BE49-F238E27FC236}">
                <a16:creationId xmlns:a16="http://schemas.microsoft.com/office/drawing/2014/main" id="{0A4022C7-6C89-7FBD-C642-C099FCD058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03573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7B91C6C1-D058-D3AB-A843-2EFD092C9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:notes">
            <a:extLst>
              <a:ext uri="{FF2B5EF4-FFF2-40B4-BE49-F238E27FC236}">
                <a16:creationId xmlns:a16="http://schemas.microsoft.com/office/drawing/2014/main" id="{0877FD88-8DF3-653B-F82D-BE2C503EDA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:notes">
            <a:extLst>
              <a:ext uri="{FF2B5EF4-FFF2-40B4-BE49-F238E27FC236}">
                <a16:creationId xmlns:a16="http://schemas.microsoft.com/office/drawing/2014/main" id="{C8569CFE-1846-498D-CFCA-3A4A6551B9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10449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0FB2D5C3-01A1-9FB8-B29B-80E76CA68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:notes">
            <a:extLst>
              <a:ext uri="{FF2B5EF4-FFF2-40B4-BE49-F238E27FC236}">
                <a16:creationId xmlns:a16="http://schemas.microsoft.com/office/drawing/2014/main" id="{DCB2A538-E85E-A553-2C53-9F782F2B60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:notes">
            <a:extLst>
              <a:ext uri="{FF2B5EF4-FFF2-40B4-BE49-F238E27FC236}">
                <a16:creationId xmlns:a16="http://schemas.microsoft.com/office/drawing/2014/main" id="{92AD777A-172A-D9F3-AD24-9232928C2E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27021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5B87A677-5957-EA16-E47C-52D14A99D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:notes">
            <a:extLst>
              <a:ext uri="{FF2B5EF4-FFF2-40B4-BE49-F238E27FC236}">
                <a16:creationId xmlns:a16="http://schemas.microsoft.com/office/drawing/2014/main" id="{6AA5B165-88A7-AD48-265F-E4FF483FCA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:notes">
            <a:extLst>
              <a:ext uri="{FF2B5EF4-FFF2-40B4-BE49-F238E27FC236}">
                <a16:creationId xmlns:a16="http://schemas.microsoft.com/office/drawing/2014/main" id="{5DC7376B-A192-CA33-6EFC-79C9C90563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41856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307A8C3C-C47F-AEEA-6DC2-A299A1B52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:notes">
            <a:extLst>
              <a:ext uri="{FF2B5EF4-FFF2-40B4-BE49-F238E27FC236}">
                <a16:creationId xmlns:a16="http://schemas.microsoft.com/office/drawing/2014/main" id="{741D0C8D-7B35-8684-3AC0-BAC0606A4E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:notes">
            <a:extLst>
              <a:ext uri="{FF2B5EF4-FFF2-40B4-BE49-F238E27FC236}">
                <a16:creationId xmlns:a16="http://schemas.microsoft.com/office/drawing/2014/main" id="{2973A845-88AC-CCBE-025B-2BDD0B8755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72646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0B5D5972-DC8F-EA06-97EF-572D37435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:notes">
            <a:extLst>
              <a:ext uri="{FF2B5EF4-FFF2-40B4-BE49-F238E27FC236}">
                <a16:creationId xmlns:a16="http://schemas.microsoft.com/office/drawing/2014/main" id="{D2BA9B09-7E49-62C2-09A0-6946664B57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:notes">
            <a:extLst>
              <a:ext uri="{FF2B5EF4-FFF2-40B4-BE49-F238E27FC236}">
                <a16:creationId xmlns:a16="http://schemas.microsoft.com/office/drawing/2014/main" id="{19E98633-33EC-3549-DDAF-C120971196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999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4" name="Google Shape;233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ans mosaïque">
  <p:cSld name="TITLE_1">
    <p:bg>
      <p:bgPr>
        <a:solidFill>
          <a:schemeClr val="dk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0"/>
          <p:cNvSpPr txBox="1">
            <a:spLocks noGrp="1"/>
          </p:cNvSpPr>
          <p:nvPr>
            <p:ph type="ctrTitle"/>
          </p:nvPr>
        </p:nvSpPr>
        <p:spPr>
          <a:xfrm>
            <a:off x="954000" y="928800"/>
            <a:ext cx="5921100" cy="25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7" name="Google Shape;57;p40"/>
          <p:cNvSpPr txBox="1">
            <a:spLocks noGrp="1"/>
          </p:cNvSpPr>
          <p:nvPr>
            <p:ph type="subTitle" idx="1"/>
          </p:nvPr>
        </p:nvSpPr>
        <p:spPr>
          <a:xfrm>
            <a:off x="954000" y="3637225"/>
            <a:ext cx="5921100" cy="9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8" name="Google Shape;58;p40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9" name="Google Shape;59;p40"/>
          <p:cNvGrpSpPr/>
          <p:nvPr/>
        </p:nvGrpSpPr>
        <p:grpSpPr>
          <a:xfrm>
            <a:off x="1057345" y="385128"/>
            <a:ext cx="1223860" cy="361943"/>
            <a:chOff x="249750" y="1780450"/>
            <a:chExt cx="7107200" cy="2090950"/>
          </a:xfrm>
        </p:grpSpPr>
        <p:sp>
          <p:nvSpPr>
            <p:cNvPr id="60" name="Google Shape;60;p40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1" name="Google Shape;61;p40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2" name="Google Shape;62;p40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3" name="Google Shape;63;p40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4" name="Google Shape;64;p40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5" name="Google Shape;65;p40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6" name="Google Shape;66;p40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7" name="Google Shape;67;p40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" name="Google Shape;68;p40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" name="Google Shape;69;p40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" name="Google Shape;70;p40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1" name="Google Shape;71;p40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2" name="Google Shape;72;p40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" name="Google Shape;73;p40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" name="Google Shape;74;p40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" name="Google Shape;75;p40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" name="Google Shape;76;p40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7" name="Google Shape;77;p40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8" name="Google Shape;78;p40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" name="Google Shape;79;p40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" name="Google Shape;80;p40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" name="Google Shape;81;p40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" name="Google Shape;82;p40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" name="Google Shape;84;p40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" name="Google Shape;85;p40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" name="Google Shape;86;p40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" name="Google Shape;87;p40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8" name="Google Shape;88;p40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9" name="Google Shape;89;p40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0" name="Google Shape;90;p40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1" name="Google Shape;91;p40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2" name="Google Shape;92;p40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3" name="Google Shape;93;p40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4" name="Google Shape;94;p40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5" name="Google Shape;95;p40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6" name="Google Shape;96;p40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7" name="Google Shape;97;p40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8" name="Google Shape;98;p40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9" name="Google Shape;99;p40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00" name="Google Shape;100;p40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01" name="Google Shape;101;p40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02" name="Google Shape;102;p40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03" name="Google Shape;103;p40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04" name="Google Shape;104;p40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cxnSp>
        <p:nvCxnSpPr>
          <p:cNvPr id="105" name="Google Shape;105;p40"/>
          <p:cNvCxnSpPr/>
          <p:nvPr/>
        </p:nvCxnSpPr>
        <p:spPr>
          <a:xfrm>
            <a:off x="1049375" y="928800"/>
            <a:ext cx="7051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665">
          <p15:clr>
            <a:srgbClr val="E46962"/>
          </p15:clr>
        </p15:guide>
        <p15:guide id="2" pos="5518">
          <p15:clr>
            <a:srgbClr val="E46962"/>
          </p15:clr>
        </p15:guide>
        <p15:guide id="3" orient="horz" pos="2291">
          <p15:clr>
            <a:srgbClr val="E46962"/>
          </p15:clr>
        </p15:guide>
        <p15:guide id="4" orient="horz" pos="2220">
          <p15:clr>
            <a:srgbClr val="E46962"/>
          </p15:clr>
        </p15:guide>
        <p15:guide id="5" orient="horz" pos="585">
          <p15:clr>
            <a:srgbClr val="E46962"/>
          </p15:clr>
        </p15:guide>
        <p15:guide id="6" orient="horz" pos="2792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ement" type="titleOnly">
  <p:cSld name="TITLE_ONLY">
    <p:bg>
      <p:bgPr>
        <a:solidFill>
          <a:srgbClr val="F4F5F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1"/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1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9" name="Google Shape;109;p41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" name="Google Shape;110;p41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pos="5517">
          <p15:clr>
            <a:srgbClr val="E46962"/>
          </p15:clr>
        </p15:guide>
        <p15:guide id="3" orient="horz" pos="138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avec mosaïque" type="title">
  <p:cSld name="TITLE">
    <p:bg>
      <p:bgPr>
        <a:solidFill>
          <a:schemeClr val="dk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2"/>
          <p:cNvSpPr txBox="1">
            <a:spLocks noGrp="1"/>
          </p:cNvSpPr>
          <p:nvPr>
            <p:ph type="ctrTitle"/>
          </p:nvPr>
        </p:nvSpPr>
        <p:spPr>
          <a:xfrm>
            <a:off x="4230450" y="928800"/>
            <a:ext cx="4528800" cy="25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3" name="Google Shape;113;p42"/>
          <p:cNvSpPr txBox="1">
            <a:spLocks noGrp="1"/>
          </p:cNvSpPr>
          <p:nvPr>
            <p:ph type="subTitle" idx="1"/>
          </p:nvPr>
        </p:nvSpPr>
        <p:spPr>
          <a:xfrm>
            <a:off x="4230450" y="3637225"/>
            <a:ext cx="4528800" cy="9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4" name="Google Shape;114;p42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5" name="Google Shape;115;p42"/>
          <p:cNvGrpSpPr/>
          <p:nvPr/>
        </p:nvGrpSpPr>
        <p:grpSpPr>
          <a:xfrm>
            <a:off x="4334395" y="385128"/>
            <a:ext cx="1223860" cy="361943"/>
            <a:chOff x="249750" y="1780450"/>
            <a:chExt cx="7107200" cy="2090950"/>
          </a:xfrm>
        </p:grpSpPr>
        <p:sp>
          <p:nvSpPr>
            <p:cNvPr id="116" name="Google Shape;116;p42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17" name="Google Shape;117;p42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18" name="Google Shape;118;p42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19" name="Google Shape;119;p42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0" name="Google Shape;120;p42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1" name="Google Shape;121;p42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2" name="Google Shape;122;p42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3" name="Google Shape;123;p42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4" name="Google Shape;124;p42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5" name="Google Shape;125;p42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6" name="Google Shape;126;p42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7" name="Google Shape;127;p42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8" name="Google Shape;128;p42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9" name="Google Shape;129;p42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0" name="Google Shape;130;p42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1" name="Google Shape;131;p42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2" name="Google Shape;132;p42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3" name="Google Shape;133;p42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4" name="Google Shape;134;p42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5" name="Google Shape;135;p42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6" name="Google Shape;136;p42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7" name="Google Shape;137;p42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8" name="Google Shape;138;p42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9" name="Google Shape;139;p42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0" name="Google Shape;140;p42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1" name="Google Shape;141;p42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2" name="Google Shape;142;p42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3" name="Google Shape;143;p42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4" name="Google Shape;144;p42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5" name="Google Shape;145;p42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6" name="Google Shape;146;p42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7" name="Google Shape;147;p42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8" name="Google Shape;148;p42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9" name="Google Shape;149;p42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0" name="Google Shape;150;p42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1" name="Google Shape;151;p42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2" name="Google Shape;152;p42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3" name="Google Shape;153;p42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4" name="Google Shape;154;p42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5" name="Google Shape;155;p42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6" name="Google Shape;156;p42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7" name="Google Shape;157;p42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8" name="Google Shape;158;p42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9" name="Google Shape;159;p42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60" name="Google Shape;160;p42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161" name="Google Shape;161;p42"/>
          <p:cNvSpPr>
            <a:spLocks noGrp="1"/>
          </p:cNvSpPr>
          <p:nvPr>
            <p:ph type="pic" idx="2"/>
          </p:nvPr>
        </p:nvSpPr>
        <p:spPr>
          <a:xfrm>
            <a:off x="606600" y="928800"/>
            <a:ext cx="3143400" cy="3502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2" name="Google Shape;162;p42"/>
          <p:cNvCxnSpPr/>
          <p:nvPr/>
        </p:nvCxnSpPr>
        <p:spPr>
          <a:xfrm>
            <a:off x="4326350" y="928800"/>
            <a:ext cx="4341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665">
          <p15:clr>
            <a:srgbClr val="E46962"/>
          </p15:clr>
        </p15:guide>
        <p15:guide id="2" pos="5518">
          <p15:clr>
            <a:srgbClr val="E46962"/>
          </p15:clr>
        </p15:guide>
        <p15:guide id="3" orient="horz" pos="2291">
          <p15:clr>
            <a:srgbClr val="E46962"/>
          </p15:clr>
        </p15:guide>
        <p15:guide id="4" orient="horz" pos="2220">
          <p15:clr>
            <a:srgbClr val="E46962"/>
          </p15:clr>
        </p15:guide>
        <p15:guide id="5" orient="horz" pos="585">
          <p15:clr>
            <a:srgbClr val="E46962"/>
          </p15:clr>
        </p15:guide>
        <p15:guide id="6" orient="horz" pos="279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type="secHead">
  <p:cSld name="SECTION_HEADER">
    <p:bg>
      <p:bgPr>
        <a:solidFill>
          <a:srgbClr val="A9DAE9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3"/>
          <p:cNvSpPr txBox="1">
            <a:spLocks noGrp="1"/>
          </p:cNvSpPr>
          <p:nvPr>
            <p:ph type="title"/>
          </p:nvPr>
        </p:nvSpPr>
        <p:spPr>
          <a:xfrm>
            <a:off x="864000" y="826325"/>
            <a:ext cx="4473600" cy="19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Work Sans Medium"/>
              <a:buNone/>
              <a:defRPr sz="33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5" name="Google Shape;165;p43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43"/>
          <p:cNvSpPr txBox="1">
            <a:spLocks noGrp="1"/>
          </p:cNvSpPr>
          <p:nvPr>
            <p:ph type="subTitle" idx="1"/>
          </p:nvPr>
        </p:nvSpPr>
        <p:spPr>
          <a:xfrm>
            <a:off x="864000" y="2755025"/>
            <a:ext cx="44736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7" name="Google Shape;167;p43"/>
          <p:cNvSpPr>
            <a:spLocks noGrp="1"/>
          </p:cNvSpPr>
          <p:nvPr>
            <p:ph type="pic" idx="2"/>
          </p:nvPr>
        </p:nvSpPr>
        <p:spPr>
          <a:xfrm>
            <a:off x="5579650" y="1102900"/>
            <a:ext cx="2847300" cy="2942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8" name="Google Shape;168;p43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735">
          <p15:clr>
            <a:srgbClr val="E46962"/>
          </p15:clr>
        </p15:guide>
        <p15:guide id="3" orient="horz" pos="521">
          <p15:clr>
            <a:srgbClr val="E46962"/>
          </p15:clr>
        </p15:guide>
        <p15:guide id="4" pos="3362">
          <p15:clr>
            <a:srgbClr val="E46962"/>
          </p15:clr>
        </p15:guide>
        <p15:guide id="5" orient="horz" pos="11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e et image 1">
  <p:cSld name="ONE_COLUMN_TEXT">
    <p:bg>
      <p:bgPr>
        <a:solidFill>
          <a:srgbClr val="F4DA9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4"/>
          <p:cNvSpPr/>
          <p:nvPr/>
        </p:nvSpPr>
        <p:spPr>
          <a:xfrm>
            <a:off x="0" y="0"/>
            <a:ext cx="49014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4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3947400" cy="14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2" name="Google Shape;172;p44"/>
          <p:cNvSpPr txBox="1">
            <a:spLocks noGrp="1"/>
          </p:cNvSpPr>
          <p:nvPr>
            <p:ph type="body" idx="1"/>
          </p:nvPr>
        </p:nvSpPr>
        <p:spPr>
          <a:xfrm>
            <a:off x="864000" y="2415275"/>
            <a:ext cx="3947400" cy="2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44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4" name="Google Shape;174;p44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p44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76" name="Google Shape;176;p44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177" name="Google Shape;177;p44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78" name="Google Shape;178;p44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79" name="Google Shape;179;p44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80" name="Google Shape;180;p44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81" name="Google Shape;181;p44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82" name="Google Shape;182;p44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83" name="Google Shape;183;p44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84" name="Google Shape;184;p44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85" name="Google Shape;185;p44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86" name="Google Shape;186;p44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87" name="Google Shape;187;p44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88" name="Google Shape;188;p44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89" name="Google Shape;189;p44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0" name="Google Shape;190;p44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1" name="Google Shape;191;p44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2" name="Google Shape;192;p44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3" name="Google Shape;193;p44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4" name="Google Shape;194;p44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5" name="Google Shape;195;p44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6" name="Google Shape;196;p44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7" name="Google Shape;197;p44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8" name="Google Shape;198;p44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9" name="Google Shape;199;p44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0" name="Google Shape;200;p44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1" name="Google Shape;201;p44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2" name="Google Shape;202;p44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3" name="Google Shape;203;p44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4" name="Google Shape;204;p44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5" name="Google Shape;205;p44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6" name="Google Shape;206;p44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7" name="Google Shape;207;p44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8" name="Google Shape;208;p44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9" name="Google Shape;209;p44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0" name="Google Shape;210;p44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1" name="Google Shape;211;p44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2" name="Google Shape;212;p44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3" name="Google Shape;213;p44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4" name="Google Shape;214;p44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5" name="Google Shape;215;p44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6" name="Google Shape;216;p44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7" name="Google Shape;217;p44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8" name="Google Shape;218;p44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9" name="Google Shape;219;p44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20" name="Google Shape;220;p44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21" name="Google Shape;221;p44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222" name="Google Shape;222;p44"/>
          <p:cNvSpPr txBox="1">
            <a:spLocks noGrp="1"/>
          </p:cNvSpPr>
          <p:nvPr>
            <p:ph type="subTitle" idx="2"/>
          </p:nvPr>
        </p:nvSpPr>
        <p:spPr>
          <a:xfrm>
            <a:off x="864000" y="1627725"/>
            <a:ext cx="39474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3" name="Google Shape;223;p44"/>
          <p:cNvSpPr>
            <a:spLocks noGrp="1"/>
          </p:cNvSpPr>
          <p:nvPr>
            <p:ph type="pic" idx="3"/>
          </p:nvPr>
        </p:nvSpPr>
        <p:spPr>
          <a:xfrm>
            <a:off x="5579650" y="1102900"/>
            <a:ext cx="2847600" cy="2942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1521">
          <p15:clr>
            <a:srgbClr val="E46962"/>
          </p15:clr>
        </p15:guide>
        <p15:guide id="4" orient="horz" pos="102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e et image 2">
  <p:cSld name="ONE_COLUMN_TEXT_1">
    <p:bg>
      <p:bgPr>
        <a:solidFill>
          <a:srgbClr val="B9DBC1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5"/>
          <p:cNvSpPr/>
          <p:nvPr/>
        </p:nvSpPr>
        <p:spPr>
          <a:xfrm>
            <a:off x="0" y="0"/>
            <a:ext cx="49014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5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3947400" cy="14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7" name="Google Shape;227;p45"/>
          <p:cNvSpPr txBox="1">
            <a:spLocks noGrp="1"/>
          </p:cNvSpPr>
          <p:nvPr>
            <p:ph type="body" idx="1"/>
          </p:nvPr>
        </p:nvSpPr>
        <p:spPr>
          <a:xfrm>
            <a:off x="864000" y="2415300"/>
            <a:ext cx="3947400" cy="2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45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9" name="Google Shape;229;p45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0" name="Google Shape;230;p45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31" name="Google Shape;231;p45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232" name="Google Shape;232;p45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33" name="Google Shape;233;p45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34" name="Google Shape;234;p45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35" name="Google Shape;235;p45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36" name="Google Shape;236;p45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37" name="Google Shape;237;p45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38" name="Google Shape;238;p45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39" name="Google Shape;239;p45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40" name="Google Shape;240;p45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41" name="Google Shape;241;p45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42" name="Google Shape;242;p45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43" name="Google Shape;243;p45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44" name="Google Shape;244;p45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45" name="Google Shape;245;p45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46" name="Google Shape;246;p45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47" name="Google Shape;247;p45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48" name="Google Shape;248;p45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49" name="Google Shape;249;p45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0" name="Google Shape;250;p45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1" name="Google Shape;251;p45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2" name="Google Shape;252;p45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3" name="Google Shape;253;p45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4" name="Google Shape;254;p45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5" name="Google Shape;255;p45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6" name="Google Shape;256;p45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7" name="Google Shape;257;p45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8" name="Google Shape;258;p45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9" name="Google Shape;259;p45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0" name="Google Shape;260;p45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1" name="Google Shape;261;p45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2" name="Google Shape;262;p45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3" name="Google Shape;263;p45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4" name="Google Shape;264;p45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5" name="Google Shape;265;p45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6" name="Google Shape;266;p45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7" name="Google Shape;267;p45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8" name="Google Shape;268;p45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9" name="Google Shape;269;p45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0" name="Google Shape;270;p45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1" name="Google Shape;271;p45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2" name="Google Shape;272;p45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3" name="Google Shape;273;p45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4" name="Google Shape;274;p45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5" name="Google Shape;275;p45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6" name="Google Shape;276;p45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277" name="Google Shape;277;p45"/>
          <p:cNvSpPr txBox="1">
            <a:spLocks noGrp="1"/>
          </p:cNvSpPr>
          <p:nvPr>
            <p:ph type="subTitle" idx="2"/>
          </p:nvPr>
        </p:nvSpPr>
        <p:spPr>
          <a:xfrm>
            <a:off x="864000" y="1627725"/>
            <a:ext cx="39474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8" name="Google Shape;278;p45"/>
          <p:cNvSpPr>
            <a:spLocks noGrp="1"/>
          </p:cNvSpPr>
          <p:nvPr>
            <p:ph type="pic" idx="3"/>
          </p:nvPr>
        </p:nvSpPr>
        <p:spPr>
          <a:xfrm>
            <a:off x="5666400" y="468000"/>
            <a:ext cx="2678400" cy="40176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1025">
          <p15:clr>
            <a:srgbClr val="E46962"/>
          </p15:clr>
        </p15:guide>
        <p15:guide id="4" orient="horz" pos="152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et texte 2">
  <p:cSld name="ONE_COLUMN_TEXT_1_2">
    <p:bg>
      <p:bgPr>
        <a:solidFill>
          <a:srgbClr val="F3B692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/>
          <p:nvPr/>
        </p:nvSpPr>
        <p:spPr>
          <a:xfrm>
            <a:off x="3877200" y="0"/>
            <a:ext cx="52719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6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7894800" cy="12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2" name="Google Shape;282;p46"/>
          <p:cNvSpPr txBox="1">
            <a:spLocks noGrp="1"/>
          </p:cNvSpPr>
          <p:nvPr>
            <p:ph type="body" idx="1"/>
          </p:nvPr>
        </p:nvSpPr>
        <p:spPr>
          <a:xfrm>
            <a:off x="4230000" y="2415325"/>
            <a:ext cx="3895200" cy="2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283" name="Google Shape;283;p46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4" name="Google Shape;284;p46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5" name="Google Shape;285;p46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86" name="Google Shape;286;p46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287" name="Google Shape;287;p46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88" name="Google Shape;288;p46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89" name="Google Shape;289;p46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0" name="Google Shape;290;p46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1" name="Google Shape;291;p46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2" name="Google Shape;292;p46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3" name="Google Shape;293;p46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4" name="Google Shape;294;p46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5" name="Google Shape;295;p46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6" name="Google Shape;296;p46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7" name="Google Shape;297;p46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8" name="Google Shape;298;p46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9" name="Google Shape;299;p46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0" name="Google Shape;300;p46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1" name="Google Shape;301;p46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2" name="Google Shape;302;p46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3" name="Google Shape;303;p46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4" name="Google Shape;304;p46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5" name="Google Shape;305;p46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6" name="Google Shape;306;p46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7" name="Google Shape;307;p46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8" name="Google Shape;308;p46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9" name="Google Shape;309;p46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0" name="Google Shape;310;p46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1" name="Google Shape;311;p46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2" name="Google Shape;312;p46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3" name="Google Shape;313;p46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4" name="Google Shape;314;p46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5" name="Google Shape;315;p46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6" name="Google Shape;316;p46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7" name="Google Shape;317;p46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8" name="Google Shape;318;p46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9" name="Google Shape;319;p46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0" name="Google Shape;320;p46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1" name="Google Shape;321;p46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2" name="Google Shape;322;p46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3" name="Google Shape;323;p46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8" name="Google Shape;328;p46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9" name="Google Shape;329;p46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0" name="Google Shape;330;p46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1" name="Google Shape;331;p46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332" name="Google Shape;332;p46"/>
          <p:cNvSpPr txBox="1">
            <a:spLocks noGrp="1"/>
          </p:cNvSpPr>
          <p:nvPr>
            <p:ph type="subTitle" idx="2"/>
          </p:nvPr>
        </p:nvSpPr>
        <p:spPr>
          <a:xfrm>
            <a:off x="4230000" y="1344625"/>
            <a:ext cx="4528800" cy="10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33" name="Google Shape;333;p46"/>
          <p:cNvSpPr>
            <a:spLocks noGrp="1"/>
          </p:cNvSpPr>
          <p:nvPr>
            <p:ph type="pic" idx="3"/>
          </p:nvPr>
        </p:nvSpPr>
        <p:spPr>
          <a:xfrm>
            <a:off x="954000" y="1501225"/>
            <a:ext cx="2487600" cy="2487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946">
          <p15:clr>
            <a:srgbClr val="E46962"/>
          </p15:clr>
        </p15:guide>
        <p15:guide id="4" pos="2665">
          <p15:clr>
            <a:srgbClr val="E46962"/>
          </p15:clr>
        </p15:guide>
        <p15:guide id="5" pos="5517">
          <p15:clr>
            <a:srgbClr val="E46962"/>
          </p15:clr>
        </p15:guide>
        <p15:guide id="6" orient="horz" pos="1521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et texte 4">
  <p:cSld name="ONE_COLUMN_TEXT_1_2_1">
    <p:bg>
      <p:bgPr>
        <a:solidFill>
          <a:srgbClr val="F4DA92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7"/>
          <p:cNvSpPr/>
          <p:nvPr/>
        </p:nvSpPr>
        <p:spPr>
          <a:xfrm>
            <a:off x="3877200" y="0"/>
            <a:ext cx="52719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36" name="Google Shape;336;p47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78948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7" name="Google Shape;337;p47"/>
          <p:cNvSpPr txBox="1">
            <a:spLocks noGrp="1"/>
          </p:cNvSpPr>
          <p:nvPr>
            <p:ph type="body" idx="1"/>
          </p:nvPr>
        </p:nvSpPr>
        <p:spPr>
          <a:xfrm>
            <a:off x="4230000" y="2016000"/>
            <a:ext cx="2264400" cy="2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338" name="Google Shape;338;p47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39" name="Google Shape;339;p47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0" name="Google Shape;340;p47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41" name="Google Shape;341;p47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342" name="Google Shape;342;p47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3" name="Google Shape;343;p47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4" name="Google Shape;344;p47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5" name="Google Shape;345;p47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6" name="Google Shape;346;p47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7" name="Google Shape;347;p47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8" name="Google Shape;348;p47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9" name="Google Shape;349;p47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50" name="Google Shape;350;p47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51" name="Google Shape;351;p47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52" name="Google Shape;352;p47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53" name="Google Shape;353;p47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54" name="Google Shape;354;p47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55" name="Google Shape;355;p47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56" name="Google Shape;356;p47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57" name="Google Shape;357;p47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58" name="Google Shape;358;p47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59" name="Google Shape;359;p47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0" name="Google Shape;360;p47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1" name="Google Shape;361;p47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2" name="Google Shape;362;p47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3" name="Google Shape;363;p47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4" name="Google Shape;364;p47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5" name="Google Shape;365;p47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6" name="Google Shape;366;p47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7" name="Google Shape;367;p47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8" name="Google Shape;368;p47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9" name="Google Shape;369;p47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0" name="Google Shape;370;p47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1" name="Google Shape;371;p47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2" name="Google Shape;372;p47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3" name="Google Shape;373;p47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4" name="Google Shape;374;p47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5" name="Google Shape;375;p47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6" name="Google Shape;376;p47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7" name="Google Shape;377;p47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8" name="Google Shape;378;p47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9" name="Google Shape;379;p47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0" name="Google Shape;380;p47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1" name="Google Shape;381;p47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2" name="Google Shape;382;p47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3" name="Google Shape;383;p47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4" name="Google Shape;384;p47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5" name="Google Shape;385;p47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6" name="Google Shape;386;p47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387" name="Google Shape;387;p47"/>
          <p:cNvSpPr txBox="1">
            <a:spLocks noGrp="1"/>
          </p:cNvSpPr>
          <p:nvPr>
            <p:ph type="subTitle" idx="2"/>
          </p:nvPr>
        </p:nvSpPr>
        <p:spPr>
          <a:xfrm>
            <a:off x="4230000" y="1501200"/>
            <a:ext cx="2166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Work Sans Medium"/>
              <a:buNone/>
              <a:defRPr sz="105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47"/>
          <p:cNvSpPr>
            <a:spLocks noGrp="1"/>
          </p:cNvSpPr>
          <p:nvPr>
            <p:ph type="pic" idx="3"/>
          </p:nvPr>
        </p:nvSpPr>
        <p:spPr>
          <a:xfrm>
            <a:off x="954000" y="1501200"/>
            <a:ext cx="2487600" cy="24876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389" name="Google Shape;389;p47"/>
          <p:cNvCxnSpPr/>
          <p:nvPr/>
        </p:nvCxnSpPr>
        <p:spPr>
          <a:xfrm>
            <a:off x="4330800" y="1501200"/>
            <a:ext cx="207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0" name="Google Shape;390;p47"/>
          <p:cNvSpPr txBox="1">
            <a:spLocks noGrp="1"/>
          </p:cNvSpPr>
          <p:nvPr>
            <p:ph type="body" idx="4"/>
          </p:nvPr>
        </p:nvSpPr>
        <p:spPr>
          <a:xfrm>
            <a:off x="6497100" y="2016000"/>
            <a:ext cx="2264400" cy="2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391" name="Google Shape;391;p47"/>
          <p:cNvSpPr txBox="1">
            <a:spLocks noGrp="1"/>
          </p:cNvSpPr>
          <p:nvPr>
            <p:ph type="subTitle" idx="5"/>
          </p:nvPr>
        </p:nvSpPr>
        <p:spPr>
          <a:xfrm>
            <a:off x="6497100" y="1501200"/>
            <a:ext cx="2166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Work Sans Medium"/>
              <a:buNone/>
              <a:defRPr sz="105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9pPr>
          </a:lstStyle>
          <a:p>
            <a:endParaRPr/>
          </a:p>
        </p:txBody>
      </p:sp>
      <p:cxnSp>
        <p:nvCxnSpPr>
          <p:cNvPr id="392" name="Google Shape;392;p47"/>
          <p:cNvCxnSpPr/>
          <p:nvPr/>
        </p:nvCxnSpPr>
        <p:spPr>
          <a:xfrm>
            <a:off x="6587300" y="1501200"/>
            <a:ext cx="209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1270">
          <p15:clr>
            <a:srgbClr val="E46962"/>
          </p15:clr>
        </p15:guide>
        <p15:guide id="4" pos="2665">
          <p15:clr>
            <a:srgbClr val="E46962"/>
          </p15:clr>
        </p15:guide>
        <p15:guide id="5" pos="5517">
          <p15:clr>
            <a:srgbClr val="E46962"/>
          </p15:clr>
        </p15:guide>
        <p15:guide id="6" pos="4091">
          <p15:clr>
            <a:srgbClr val="E46962"/>
          </p15:clr>
        </p15:guide>
        <p15:guide id="7" pos="4148">
          <p15:clr>
            <a:srgbClr val="E46962"/>
          </p15:clr>
        </p15:guide>
        <p15:guide id="8" pos="4034">
          <p15:clr>
            <a:srgbClr val="E46962"/>
          </p15:clr>
        </p15:guide>
        <p15:guide id="9" orient="horz" pos="946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et texte 1">
  <p:cSld name="ONE_COLUMN_TEXT_1_3">
    <p:bg>
      <p:bgPr>
        <a:solidFill>
          <a:srgbClr val="CEB3D3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8"/>
          <p:cNvSpPr>
            <a:spLocks noGrp="1"/>
          </p:cNvSpPr>
          <p:nvPr>
            <p:ph type="pic" idx="2"/>
          </p:nvPr>
        </p:nvSpPr>
        <p:spPr>
          <a:xfrm>
            <a:off x="1249200" y="1198800"/>
            <a:ext cx="1850400" cy="2934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395" name="Google Shape;395;p48"/>
          <p:cNvSpPr/>
          <p:nvPr/>
        </p:nvSpPr>
        <p:spPr>
          <a:xfrm>
            <a:off x="3884400" y="0"/>
            <a:ext cx="52596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48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2996100" cy="7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7" name="Google Shape;397;p48"/>
          <p:cNvSpPr txBox="1">
            <a:spLocks noGrp="1"/>
          </p:cNvSpPr>
          <p:nvPr>
            <p:ph type="body" idx="1"/>
          </p:nvPr>
        </p:nvSpPr>
        <p:spPr>
          <a:xfrm>
            <a:off x="4230000" y="1501225"/>
            <a:ext cx="4521600" cy="30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398" name="Google Shape;398;p48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9" name="Google Shape;399;p48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0" name="Google Shape;400;p48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01" name="Google Shape;401;p48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402" name="Google Shape;402;p48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03" name="Google Shape;403;p48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04" name="Google Shape;404;p48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05" name="Google Shape;405;p48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06" name="Google Shape;406;p48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07" name="Google Shape;407;p48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08" name="Google Shape;408;p48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09" name="Google Shape;409;p48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10" name="Google Shape;410;p48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11" name="Google Shape;411;p48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12" name="Google Shape;412;p48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13" name="Google Shape;413;p48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14" name="Google Shape;414;p48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15" name="Google Shape;415;p48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16" name="Google Shape;416;p48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17" name="Google Shape;417;p48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18" name="Google Shape;418;p48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19" name="Google Shape;419;p48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0" name="Google Shape;420;p48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1" name="Google Shape;421;p48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2" name="Google Shape;422;p48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3" name="Google Shape;423;p48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4" name="Google Shape;424;p48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5" name="Google Shape;425;p48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6" name="Google Shape;426;p48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7" name="Google Shape;427;p48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8" name="Google Shape;428;p48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9" name="Google Shape;429;p48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0" name="Google Shape;430;p48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1" name="Google Shape;431;p48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2" name="Google Shape;432;p48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3" name="Google Shape;433;p48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4" name="Google Shape;434;p48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5" name="Google Shape;435;p48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6" name="Google Shape;436;p48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7" name="Google Shape;437;p48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8" name="Google Shape;438;p48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9" name="Google Shape;439;p48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0" name="Google Shape;440;p48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1" name="Google Shape;441;p48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2" name="Google Shape;442;p48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3" name="Google Shape;443;p48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4" name="Google Shape;444;p48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5" name="Google Shape;445;p48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6" name="Google Shape;446;p48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447" name="Google Shape;447;p48"/>
          <p:cNvSpPr txBox="1">
            <a:spLocks noGrp="1"/>
          </p:cNvSpPr>
          <p:nvPr>
            <p:ph type="subTitle" idx="3"/>
          </p:nvPr>
        </p:nvSpPr>
        <p:spPr>
          <a:xfrm>
            <a:off x="4230000" y="218425"/>
            <a:ext cx="4521600" cy="12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946">
          <p15:clr>
            <a:srgbClr val="E46962"/>
          </p15:clr>
        </p15:guide>
        <p15:guide id="4" pos="2665">
          <p15:clr>
            <a:srgbClr val="E46962"/>
          </p15:clr>
        </p15:guide>
        <p15:guide id="5" pos="551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et texte 3">
  <p:cSld name="ONE_COLUMN_TEXT_1_2_2">
    <p:bg>
      <p:bgPr>
        <a:solidFill>
          <a:srgbClr val="B9DBC1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9"/>
          <p:cNvSpPr/>
          <p:nvPr/>
        </p:nvSpPr>
        <p:spPr>
          <a:xfrm>
            <a:off x="3877200" y="0"/>
            <a:ext cx="52719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9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7894800" cy="6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51" name="Google Shape;451;p49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52" name="Google Shape;452;p49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3" name="Google Shape;453;p49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54" name="Google Shape;454;p49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455" name="Google Shape;455;p49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56" name="Google Shape;456;p49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57" name="Google Shape;457;p49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58" name="Google Shape;458;p49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59" name="Google Shape;459;p49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60" name="Google Shape;460;p49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61" name="Google Shape;461;p49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62" name="Google Shape;462;p49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63" name="Google Shape;463;p49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64" name="Google Shape;464;p49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65" name="Google Shape;465;p49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66" name="Google Shape;466;p49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67" name="Google Shape;467;p49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68" name="Google Shape;468;p49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69" name="Google Shape;469;p49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70" name="Google Shape;470;p49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71" name="Google Shape;471;p49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72" name="Google Shape;472;p49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73" name="Google Shape;473;p49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74" name="Google Shape;474;p49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75" name="Google Shape;475;p49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76" name="Google Shape;476;p49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77" name="Google Shape;477;p49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78" name="Google Shape;478;p49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79" name="Google Shape;479;p49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80" name="Google Shape;480;p49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81" name="Google Shape;481;p49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82" name="Google Shape;482;p49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83" name="Google Shape;483;p49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84" name="Google Shape;484;p49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85" name="Google Shape;485;p49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86" name="Google Shape;486;p49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87" name="Google Shape;487;p49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88" name="Google Shape;488;p49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89" name="Google Shape;489;p49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90" name="Google Shape;490;p49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91" name="Google Shape;491;p49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92" name="Google Shape;492;p49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93" name="Google Shape;493;p49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94" name="Google Shape;494;p49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95" name="Google Shape;495;p49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96" name="Google Shape;496;p49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97" name="Google Shape;497;p49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98" name="Google Shape;498;p49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99" name="Google Shape;499;p49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500" name="Google Shape;500;p49"/>
          <p:cNvSpPr txBox="1">
            <a:spLocks noGrp="1"/>
          </p:cNvSpPr>
          <p:nvPr>
            <p:ph type="subTitle" idx="1"/>
          </p:nvPr>
        </p:nvSpPr>
        <p:spPr>
          <a:xfrm>
            <a:off x="864000" y="885600"/>
            <a:ext cx="3013200" cy="10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ork Sans Medium"/>
              <a:buNone/>
              <a:defRPr sz="11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01" name="Google Shape;501;p49"/>
          <p:cNvSpPr>
            <a:spLocks noGrp="1"/>
          </p:cNvSpPr>
          <p:nvPr>
            <p:ph type="pic" idx="2"/>
          </p:nvPr>
        </p:nvSpPr>
        <p:spPr>
          <a:xfrm>
            <a:off x="954000" y="1926000"/>
            <a:ext cx="2487600" cy="24876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558">
          <p15:clr>
            <a:srgbClr val="E46962"/>
          </p15:clr>
        </p15:guide>
        <p15:guide id="4" pos="2665">
          <p15:clr>
            <a:srgbClr val="E46962"/>
          </p15:clr>
        </p15:guide>
        <p15:guide id="5" pos="5517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sous-titre 1">
  <p:cSld name="TITLE_ONLY_1">
    <p:bg>
      <p:bgPr>
        <a:solidFill>
          <a:srgbClr val="F4F5F1"/>
        </a:solidFill>
        <a:effectLst/>
      </p:bgPr>
    </p:bg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0"/>
          <p:cNvSpPr txBox="1">
            <a:spLocks noGrp="1"/>
          </p:cNvSpPr>
          <p:nvPr>
            <p:ph type="title"/>
          </p:nvPr>
        </p:nvSpPr>
        <p:spPr>
          <a:xfrm>
            <a:off x="864000" y="218426"/>
            <a:ext cx="7894800" cy="6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50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05" name="Google Shape;505;p50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6" name="Google Shape;506;p50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7" name="Google Shape;507;p50"/>
          <p:cNvSpPr txBox="1">
            <a:spLocks noGrp="1"/>
          </p:cNvSpPr>
          <p:nvPr>
            <p:ph type="subTitle" idx="1"/>
          </p:nvPr>
        </p:nvSpPr>
        <p:spPr>
          <a:xfrm>
            <a:off x="864000" y="864000"/>
            <a:ext cx="44736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pos="5517">
          <p15:clr>
            <a:srgbClr val="E46962"/>
          </p15:clr>
        </p15:guide>
        <p15:guide id="3" orient="horz" pos="138">
          <p15:clr>
            <a:srgbClr val="E46962"/>
          </p15:clr>
        </p15:guide>
        <p15:guide id="4" orient="horz" pos="544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sur 3 colonnes">
  <p:cSld name="TITLE_AND_TWO_COLUMNS_1">
    <p:bg>
      <p:bgPr>
        <a:solidFill>
          <a:srgbClr val="F4F5F1"/>
        </a:solidFill>
        <a:effectLst/>
      </p:bgPr>
    </p:bg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1"/>
          <p:cNvSpPr txBox="1">
            <a:spLocks noGrp="1"/>
          </p:cNvSpPr>
          <p:nvPr>
            <p:ph type="body" idx="1"/>
          </p:nvPr>
        </p:nvSpPr>
        <p:spPr>
          <a:xfrm>
            <a:off x="6127200" y="1501200"/>
            <a:ext cx="2631600" cy="3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ork Sans Medium"/>
              <a:buChar char="•"/>
              <a:defRPr sz="11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510" name="Google Shape;510;p51"/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1" name="Google Shape;511;p51"/>
          <p:cNvSpPr txBox="1">
            <a:spLocks noGrp="1"/>
          </p:cNvSpPr>
          <p:nvPr>
            <p:ph type="body" idx="2"/>
          </p:nvPr>
        </p:nvSpPr>
        <p:spPr>
          <a:xfrm>
            <a:off x="864000" y="1501200"/>
            <a:ext cx="2631600" cy="3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ork Sans Medium"/>
              <a:buChar char="•"/>
              <a:defRPr sz="11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512" name="Google Shape;512;p51"/>
          <p:cNvSpPr txBox="1">
            <a:spLocks noGrp="1"/>
          </p:cNvSpPr>
          <p:nvPr>
            <p:ph type="body" idx="3"/>
          </p:nvPr>
        </p:nvSpPr>
        <p:spPr>
          <a:xfrm>
            <a:off x="3495600" y="1501200"/>
            <a:ext cx="2631600" cy="3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Work Sans Medium"/>
              <a:buChar char="•"/>
              <a:defRPr sz="11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513" name="Google Shape;513;p51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14" name="Google Shape;514;p51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5" name="Google Shape;515;p51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202">
          <p15:clr>
            <a:srgbClr val="E46962"/>
          </p15:clr>
        </p15:guide>
        <p15:guide id="2" pos="3860">
          <p15:clr>
            <a:srgbClr val="E46962"/>
          </p15:clr>
        </p15:guide>
        <p15:guide id="3" pos="5517">
          <p15:clr>
            <a:srgbClr val="E46962"/>
          </p15:clr>
        </p15:guide>
        <p15:guide id="4" pos="544">
          <p15:clr>
            <a:srgbClr val="E46962"/>
          </p15:clr>
        </p15:guide>
        <p15:guide id="5" orient="horz" pos="138">
          <p15:clr>
            <a:srgbClr val="E46962"/>
          </p15:clr>
        </p15:guide>
        <p15:guide id="6" orient="horz" pos="946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Professors">
  <p:cSld name="TITLE_AND_TWO_COLUMNS_1_1">
    <p:bg>
      <p:bgPr>
        <a:solidFill>
          <a:srgbClr val="F4F5F1"/>
        </a:solidFill>
        <a:effectLst/>
      </p:bgPr>
    </p:bg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2"/>
          <p:cNvSpPr txBox="1">
            <a:spLocks noGrp="1"/>
          </p:cNvSpPr>
          <p:nvPr>
            <p:ph type="body" idx="1"/>
          </p:nvPr>
        </p:nvSpPr>
        <p:spPr>
          <a:xfrm>
            <a:off x="7099200" y="1148400"/>
            <a:ext cx="1659600" cy="1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Char char="•"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518" name="Google Shape;518;p52"/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52"/>
          <p:cNvSpPr txBox="1">
            <a:spLocks noGrp="1"/>
          </p:cNvSpPr>
          <p:nvPr>
            <p:ph type="body" idx="2"/>
          </p:nvPr>
        </p:nvSpPr>
        <p:spPr>
          <a:xfrm>
            <a:off x="1836000" y="1148400"/>
            <a:ext cx="1659600" cy="1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Char char="•"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520" name="Google Shape;520;p52"/>
          <p:cNvSpPr txBox="1">
            <a:spLocks noGrp="1"/>
          </p:cNvSpPr>
          <p:nvPr>
            <p:ph type="body" idx="3"/>
          </p:nvPr>
        </p:nvSpPr>
        <p:spPr>
          <a:xfrm>
            <a:off x="4467600" y="1148400"/>
            <a:ext cx="1659600" cy="1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Char char="•"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521" name="Google Shape;521;p52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22" name="Google Shape;522;p52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3" name="Google Shape;523;p52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4" name="Google Shape;524;p52"/>
          <p:cNvSpPr>
            <a:spLocks noGrp="1"/>
          </p:cNvSpPr>
          <p:nvPr>
            <p:ph type="pic" idx="4"/>
          </p:nvPr>
        </p:nvSpPr>
        <p:spPr>
          <a:xfrm>
            <a:off x="954000" y="1238400"/>
            <a:ext cx="882000" cy="109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25" name="Google Shape;525;p52"/>
          <p:cNvSpPr>
            <a:spLocks noGrp="1"/>
          </p:cNvSpPr>
          <p:nvPr>
            <p:ph type="pic" idx="5"/>
          </p:nvPr>
        </p:nvSpPr>
        <p:spPr>
          <a:xfrm>
            <a:off x="3585600" y="1238400"/>
            <a:ext cx="882000" cy="109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26" name="Google Shape;526;p52"/>
          <p:cNvSpPr>
            <a:spLocks noGrp="1"/>
          </p:cNvSpPr>
          <p:nvPr>
            <p:ph type="pic" idx="6"/>
          </p:nvPr>
        </p:nvSpPr>
        <p:spPr>
          <a:xfrm>
            <a:off x="6217200" y="1238400"/>
            <a:ext cx="882000" cy="109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27" name="Google Shape;527;p52"/>
          <p:cNvSpPr>
            <a:spLocks noGrp="1"/>
          </p:cNvSpPr>
          <p:nvPr>
            <p:ph type="pic" idx="7"/>
          </p:nvPr>
        </p:nvSpPr>
        <p:spPr>
          <a:xfrm>
            <a:off x="954000" y="3052800"/>
            <a:ext cx="882000" cy="109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28" name="Google Shape;528;p52"/>
          <p:cNvSpPr>
            <a:spLocks noGrp="1"/>
          </p:cNvSpPr>
          <p:nvPr>
            <p:ph type="pic" idx="8"/>
          </p:nvPr>
        </p:nvSpPr>
        <p:spPr>
          <a:xfrm>
            <a:off x="3585600" y="3052800"/>
            <a:ext cx="882000" cy="109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29" name="Google Shape;529;p52"/>
          <p:cNvSpPr>
            <a:spLocks noGrp="1"/>
          </p:cNvSpPr>
          <p:nvPr>
            <p:ph type="pic" idx="9"/>
          </p:nvPr>
        </p:nvSpPr>
        <p:spPr>
          <a:xfrm>
            <a:off x="6217200" y="3052800"/>
            <a:ext cx="882000" cy="109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30" name="Google Shape;530;p52"/>
          <p:cNvSpPr txBox="1">
            <a:spLocks noGrp="1"/>
          </p:cNvSpPr>
          <p:nvPr>
            <p:ph type="body" idx="13"/>
          </p:nvPr>
        </p:nvSpPr>
        <p:spPr>
          <a:xfrm>
            <a:off x="7099200" y="2962800"/>
            <a:ext cx="1659600" cy="1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Char char="•"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531" name="Google Shape;531;p52"/>
          <p:cNvSpPr txBox="1">
            <a:spLocks noGrp="1"/>
          </p:cNvSpPr>
          <p:nvPr>
            <p:ph type="body" idx="14"/>
          </p:nvPr>
        </p:nvSpPr>
        <p:spPr>
          <a:xfrm>
            <a:off x="1836000" y="2962800"/>
            <a:ext cx="1659600" cy="1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Char char="•"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532" name="Google Shape;532;p52"/>
          <p:cNvSpPr txBox="1">
            <a:spLocks noGrp="1"/>
          </p:cNvSpPr>
          <p:nvPr>
            <p:ph type="body" idx="15"/>
          </p:nvPr>
        </p:nvSpPr>
        <p:spPr>
          <a:xfrm>
            <a:off x="4467600" y="2962800"/>
            <a:ext cx="1659600" cy="1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Char char="•"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cxnSp>
        <p:nvCxnSpPr>
          <p:cNvPr id="533" name="Google Shape;533;p52"/>
          <p:cNvCxnSpPr/>
          <p:nvPr/>
        </p:nvCxnSpPr>
        <p:spPr>
          <a:xfrm>
            <a:off x="954000" y="1153025"/>
            <a:ext cx="2449800" cy="0"/>
          </a:xfrm>
          <a:prstGeom prst="straightConnector1">
            <a:avLst/>
          </a:prstGeom>
          <a:noFill/>
          <a:ln w="9525" cap="flat" cmpd="sng">
            <a:solidFill>
              <a:srgbClr val="CEB3D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4" name="Google Shape;534;p52"/>
          <p:cNvCxnSpPr/>
          <p:nvPr/>
        </p:nvCxnSpPr>
        <p:spPr>
          <a:xfrm>
            <a:off x="3585600" y="1153025"/>
            <a:ext cx="2449800" cy="0"/>
          </a:xfrm>
          <a:prstGeom prst="straightConnector1">
            <a:avLst/>
          </a:prstGeom>
          <a:noFill/>
          <a:ln w="9525" cap="flat" cmpd="sng">
            <a:solidFill>
              <a:srgbClr val="CEB3D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5" name="Google Shape;535;p52"/>
          <p:cNvCxnSpPr/>
          <p:nvPr/>
        </p:nvCxnSpPr>
        <p:spPr>
          <a:xfrm>
            <a:off x="6217200" y="1153025"/>
            <a:ext cx="2449800" cy="0"/>
          </a:xfrm>
          <a:prstGeom prst="straightConnector1">
            <a:avLst/>
          </a:prstGeom>
          <a:noFill/>
          <a:ln w="9525" cap="flat" cmpd="sng">
            <a:solidFill>
              <a:srgbClr val="CEB3D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6" name="Google Shape;536;p52"/>
          <p:cNvCxnSpPr/>
          <p:nvPr/>
        </p:nvCxnSpPr>
        <p:spPr>
          <a:xfrm>
            <a:off x="954000" y="2967800"/>
            <a:ext cx="2449800" cy="0"/>
          </a:xfrm>
          <a:prstGeom prst="straightConnector1">
            <a:avLst/>
          </a:prstGeom>
          <a:noFill/>
          <a:ln w="9525" cap="flat" cmpd="sng">
            <a:solidFill>
              <a:srgbClr val="CEB3D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7" name="Google Shape;537;p52"/>
          <p:cNvCxnSpPr/>
          <p:nvPr/>
        </p:nvCxnSpPr>
        <p:spPr>
          <a:xfrm>
            <a:off x="3585600" y="2967800"/>
            <a:ext cx="2449800" cy="0"/>
          </a:xfrm>
          <a:prstGeom prst="straightConnector1">
            <a:avLst/>
          </a:prstGeom>
          <a:noFill/>
          <a:ln w="9525" cap="flat" cmpd="sng">
            <a:solidFill>
              <a:srgbClr val="CEB3D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8" name="Google Shape;538;p52"/>
          <p:cNvCxnSpPr/>
          <p:nvPr/>
        </p:nvCxnSpPr>
        <p:spPr>
          <a:xfrm>
            <a:off x="6217200" y="2967800"/>
            <a:ext cx="2449800" cy="0"/>
          </a:xfrm>
          <a:prstGeom prst="straightConnector1">
            <a:avLst/>
          </a:prstGeom>
          <a:noFill/>
          <a:ln w="9525" cap="flat" cmpd="sng">
            <a:solidFill>
              <a:srgbClr val="CEB3D3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202">
          <p15:clr>
            <a:srgbClr val="E46962"/>
          </p15:clr>
        </p15:guide>
        <p15:guide id="2" pos="3860">
          <p15:clr>
            <a:srgbClr val="E46962"/>
          </p15:clr>
        </p15:guide>
        <p15:guide id="3" pos="5517">
          <p15:clr>
            <a:srgbClr val="E46962"/>
          </p15:clr>
        </p15:guide>
        <p15:guide id="4" pos="544">
          <p15:clr>
            <a:srgbClr val="E46962"/>
          </p15:clr>
        </p15:guide>
        <p15:guide id="5" orient="horz" pos="138">
          <p15:clr>
            <a:srgbClr val="E46962"/>
          </p15:clr>
        </p15:guide>
        <p15:guide id="6" orient="horz" pos="780">
          <p15:clr>
            <a:srgbClr val="E46962"/>
          </p15:clr>
        </p15:guide>
        <p15:guide id="7" orient="horz" pos="1923">
          <p15:clr>
            <a:srgbClr val="E46962"/>
          </p15:clr>
        </p15:guide>
        <p15:guide id="8" orient="horz" pos="1866">
          <p15:clr>
            <a:srgbClr val="E46962"/>
          </p15:clr>
        </p15:guide>
        <p15:guide id="9" orient="horz" pos="726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2 columns" type="twoColTx">
  <p:cSld name="TITLE_AND_TWO_COLUMNS">
    <p:bg>
      <p:bgPr>
        <a:solidFill>
          <a:srgbClr val="F4F5F1"/>
        </a:solidFill>
        <a:effectLst/>
      </p:bgPr>
    </p:bg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3"/>
          <p:cNvSpPr/>
          <p:nvPr/>
        </p:nvSpPr>
        <p:spPr>
          <a:xfrm>
            <a:off x="4811550" y="0"/>
            <a:ext cx="4332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3"/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53"/>
          <p:cNvSpPr txBox="1">
            <a:spLocks noGrp="1"/>
          </p:cNvSpPr>
          <p:nvPr>
            <p:ph type="body" idx="1"/>
          </p:nvPr>
        </p:nvSpPr>
        <p:spPr>
          <a:xfrm>
            <a:off x="864000" y="1501200"/>
            <a:ext cx="3947400" cy="30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543" name="Google Shape;543;p53"/>
          <p:cNvSpPr txBox="1">
            <a:spLocks noGrp="1"/>
          </p:cNvSpPr>
          <p:nvPr>
            <p:ph type="body" idx="2"/>
          </p:nvPr>
        </p:nvSpPr>
        <p:spPr>
          <a:xfrm>
            <a:off x="5148225" y="1501200"/>
            <a:ext cx="3610500" cy="30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544" name="Google Shape;544;p53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45" name="Google Shape;545;p53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6" name="Google Shape;546;p53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47" name="Google Shape;547;p53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548" name="Google Shape;548;p53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49" name="Google Shape;549;p53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50" name="Google Shape;550;p53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51" name="Google Shape;551;p53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52" name="Google Shape;552;p53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53" name="Google Shape;553;p53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54" name="Google Shape;554;p53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55" name="Google Shape;555;p53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56" name="Google Shape;556;p53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57" name="Google Shape;557;p53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58" name="Google Shape;558;p53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59" name="Google Shape;559;p53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60" name="Google Shape;560;p53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61" name="Google Shape;561;p53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62" name="Google Shape;562;p53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63" name="Google Shape;563;p53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64" name="Google Shape;564;p53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65" name="Google Shape;565;p53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66" name="Google Shape;566;p53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67" name="Google Shape;567;p53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68" name="Google Shape;568;p53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69" name="Google Shape;569;p53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70" name="Google Shape;570;p53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71" name="Google Shape;571;p53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72" name="Google Shape;572;p53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73" name="Google Shape;573;p53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74" name="Google Shape;574;p53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75" name="Google Shape;575;p53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76" name="Google Shape;576;p53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77" name="Google Shape;577;p53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78" name="Google Shape;578;p53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79" name="Google Shape;579;p53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80" name="Google Shape;580;p53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81" name="Google Shape;581;p53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82" name="Google Shape;582;p53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83" name="Google Shape;583;p53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84" name="Google Shape;584;p53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85" name="Google Shape;585;p53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86" name="Google Shape;586;p53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87" name="Google Shape;587;p53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88" name="Google Shape;588;p53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89" name="Google Shape;589;p53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90" name="Google Shape;590;p53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91" name="Google Shape;591;p53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92" name="Google Shape;592;p53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243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946">
          <p15:clr>
            <a:srgbClr val="E46962"/>
          </p15:clr>
        </p15:guide>
        <p15:guide id="4" pos="3031">
          <p15:clr>
            <a:srgbClr val="E46962"/>
          </p15:clr>
        </p15:guide>
        <p15:guide id="5" pos="5517">
          <p15:clr>
            <a:srgbClr val="E46962"/>
          </p15:clr>
        </p15:guide>
        <p15:guide id="6" pos="544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sous-titre 2">
  <p:cSld name="TITLE_ONLY_1_1">
    <p:bg>
      <p:bgPr>
        <a:solidFill>
          <a:srgbClr val="F4F5F1"/>
        </a:solidFill>
        <a:effectLst/>
      </p:bgPr>
    </p:bg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4"/>
          <p:cNvSpPr txBox="1">
            <a:spLocks noGrp="1"/>
          </p:cNvSpPr>
          <p:nvPr>
            <p:ph type="title"/>
          </p:nvPr>
        </p:nvSpPr>
        <p:spPr>
          <a:xfrm>
            <a:off x="864000" y="218426"/>
            <a:ext cx="7894800" cy="6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5" name="Google Shape;595;p54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6" name="Google Shape;596;p54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7" name="Google Shape;597;p54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8" name="Google Shape;598;p54"/>
          <p:cNvSpPr txBox="1">
            <a:spLocks noGrp="1"/>
          </p:cNvSpPr>
          <p:nvPr>
            <p:ph type="subTitle" idx="1"/>
          </p:nvPr>
        </p:nvSpPr>
        <p:spPr>
          <a:xfrm>
            <a:off x="864000" y="1501200"/>
            <a:ext cx="2590200" cy="28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pos="5517">
          <p15:clr>
            <a:srgbClr val="E46962"/>
          </p15:clr>
        </p15:guide>
        <p15:guide id="3" orient="horz" pos="138">
          <p15:clr>
            <a:srgbClr val="E46962"/>
          </p15:clr>
        </p15:guide>
        <p15:guide id="4" orient="horz" pos="544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sur 4 colonnes">
  <p:cSld name="TITLE_AND_TWO_COLUMNS_1_2">
    <p:bg>
      <p:bgPr>
        <a:solidFill>
          <a:srgbClr val="F4F5F1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5"/>
          <p:cNvSpPr txBox="1">
            <a:spLocks noGrp="1"/>
          </p:cNvSpPr>
          <p:nvPr>
            <p:ph type="body" idx="1"/>
          </p:nvPr>
        </p:nvSpPr>
        <p:spPr>
          <a:xfrm>
            <a:off x="4811400" y="1501200"/>
            <a:ext cx="1973700" cy="3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•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601" name="Google Shape;601;p55"/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2" name="Google Shape;602;p55"/>
          <p:cNvSpPr txBox="1">
            <a:spLocks noGrp="1"/>
          </p:cNvSpPr>
          <p:nvPr>
            <p:ph type="body" idx="2"/>
          </p:nvPr>
        </p:nvSpPr>
        <p:spPr>
          <a:xfrm>
            <a:off x="864000" y="1501200"/>
            <a:ext cx="1973700" cy="3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•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603" name="Google Shape;603;p55"/>
          <p:cNvSpPr txBox="1">
            <a:spLocks noGrp="1"/>
          </p:cNvSpPr>
          <p:nvPr>
            <p:ph type="body" idx="3"/>
          </p:nvPr>
        </p:nvSpPr>
        <p:spPr>
          <a:xfrm>
            <a:off x="2837700" y="1501200"/>
            <a:ext cx="1973700" cy="3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•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604" name="Google Shape;604;p55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05" name="Google Shape;605;p55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6" name="Google Shape;606;p55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7" name="Google Shape;607;p55"/>
          <p:cNvSpPr txBox="1">
            <a:spLocks noGrp="1"/>
          </p:cNvSpPr>
          <p:nvPr>
            <p:ph type="body" idx="4"/>
          </p:nvPr>
        </p:nvSpPr>
        <p:spPr>
          <a:xfrm>
            <a:off x="6785100" y="1501200"/>
            <a:ext cx="1973700" cy="3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•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105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60">
          <p15:clr>
            <a:srgbClr val="E46962"/>
          </p15:clr>
        </p15:guide>
        <p15:guide id="2" pos="5517">
          <p15:clr>
            <a:srgbClr val="E46962"/>
          </p15:clr>
        </p15:guide>
        <p15:guide id="3" pos="544">
          <p15:clr>
            <a:srgbClr val="E46962"/>
          </p15:clr>
        </p15:guide>
        <p15:guide id="4" orient="horz" pos="138">
          <p15:clr>
            <a:srgbClr val="E46962"/>
          </p15:clr>
        </p15:guide>
        <p15:guide id="5" orient="horz" pos="946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sur 5 colonnes">
  <p:cSld name="TITLE_AND_TWO_COLUMNS_1_2_1">
    <p:bg>
      <p:bgPr>
        <a:solidFill>
          <a:srgbClr val="F4F5F1"/>
        </a:solidFill>
        <a:effectLst/>
      </p:bgPr>
    </p:bg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6"/>
          <p:cNvSpPr txBox="1">
            <a:spLocks noGrp="1"/>
          </p:cNvSpPr>
          <p:nvPr>
            <p:ph type="body" idx="1"/>
          </p:nvPr>
        </p:nvSpPr>
        <p:spPr>
          <a:xfrm>
            <a:off x="4021925" y="1501200"/>
            <a:ext cx="1578900" cy="3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Work Sans Medium"/>
              <a:buChar char="•"/>
              <a:defRPr sz="105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610" name="Google Shape;610;p56"/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1" name="Google Shape;611;p56"/>
          <p:cNvSpPr txBox="1">
            <a:spLocks noGrp="1"/>
          </p:cNvSpPr>
          <p:nvPr>
            <p:ph type="body" idx="2"/>
          </p:nvPr>
        </p:nvSpPr>
        <p:spPr>
          <a:xfrm>
            <a:off x="864000" y="1501200"/>
            <a:ext cx="1578900" cy="3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Work Sans Medium"/>
              <a:buChar char="•"/>
              <a:defRPr sz="105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612" name="Google Shape;612;p56"/>
          <p:cNvSpPr txBox="1">
            <a:spLocks noGrp="1"/>
          </p:cNvSpPr>
          <p:nvPr>
            <p:ph type="body" idx="3"/>
          </p:nvPr>
        </p:nvSpPr>
        <p:spPr>
          <a:xfrm>
            <a:off x="2442900" y="1501200"/>
            <a:ext cx="1578900" cy="3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Work Sans Medium"/>
              <a:buChar char="•"/>
              <a:defRPr sz="105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613" name="Google Shape;613;p56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14" name="Google Shape;614;p56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5" name="Google Shape;615;p56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6" name="Google Shape;616;p56"/>
          <p:cNvSpPr txBox="1">
            <a:spLocks noGrp="1"/>
          </p:cNvSpPr>
          <p:nvPr>
            <p:ph type="body" idx="4"/>
          </p:nvPr>
        </p:nvSpPr>
        <p:spPr>
          <a:xfrm>
            <a:off x="5600825" y="1501200"/>
            <a:ext cx="1578900" cy="3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Work Sans Medium"/>
              <a:buChar char="•"/>
              <a:defRPr sz="105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617" name="Google Shape;617;p56"/>
          <p:cNvSpPr txBox="1">
            <a:spLocks noGrp="1"/>
          </p:cNvSpPr>
          <p:nvPr>
            <p:ph type="body" idx="5"/>
          </p:nvPr>
        </p:nvSpPr>
        <p:spPr>
          <a:xfrm>
            <a:off x="7179975" y="1501200"/>
            <a:ext cx="1578900" cy="3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Work Sans Medium"/>
              <a:buChar char="•"/>
              <a:defRPr sz="105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marL="914400" lvl="1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525"/>
              </a:spcBef>
              <a:spcAft>
                <a:spcPts val="525"/>
              </a:spcAft>
              <a:buSzPts val="900"/>
              <a:buChar char="•"/>
              <a:defRPr sz="9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pos="5517">
          <p15:clr>
            <a:srgbClr val="E46962"/>
          </p15:clr>
        </p15:guide>
        <p15:guide id="3" pos="1539">
          <p15:clr>
            <a:srgbClr val="E46962"/>
          </p15:clr>
        </p15:guide>
        <p15:guide id="4" orient="horz" pos="138">
          <p15:clr>
            <a:srgbClr val="E46962"/>
          </p15:clr>
        </p15:guide>
        <p15:guide id="5" orient="horz" pos="946">
          <p15:clr>
            <a:srgbClr val="E46962"/>
          </p15:clr>
        </p15:guide>
        <p15:guide id="6" pos="2533">
          <p15:clr>
            <a:srgbClr val="E46962"/>
          </p15:clr>
        </p15:guide>
        <p15:guide id="7" pos="3528">
          <p15:clr>
            <a:srgbClr val="E46962"/>
          </p15:clr>
        </p15:guide>
        <p15:guide id="8" pos="4523">
          <p15:clr>
            <a:srgbClr val="E46962"/>
          </p15:clr>
        </p15:guide>
        <p15:guide id="9" pos="1596">
          <p15:clr>
            <a:srgbClr val="E46962"/>
          </p15:clr>
        </p15:guide>
        <p15:guide id="10" pos="1482">
          <p15:clr>
            <a:srgbClr val="E46962"/>
          </p15:clr>
        </p15:guide>
        <p15:guide id="11" pos="2477">
          <p15:clr>
            <a:srgbClr val="E46962"/>
          </p15:clr>
        </p15:guide>
        <p15:guide id="12" pos="2590">
          <p15:clr>
            <a:srgbClr val="E46962"/>
          </p15:clr>
        </p15:guide>
        <p15:guide id="13" pos="3471">
          <p15:clr>
            <a:srgbClr val="E46962"/>
          </p15:clr>
        </p15:guide>
        <p15:guide id="14" pos="3585">
          <p15:clr>
            <a:srgbClr val="E46962"/>
          </p15:clr>
        </p15:guide>
        <p15:guide id="15" pos="4466">
          <p15:clr>
            <a:srgbClr val="E46962"/>
          </p15:clr>
        </p15:guide>
        <p15:guide id="16" pos="4579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 avec texte 1">
  <p:cSld name="ONE_COLUMN_TEXT_1_1_1"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7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78876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20" name="Google Shape;620;p57"/>
          <p:cNvSpPr txBox="1">
            <a:spLocks noGrp="1"/>
          </p:cNvSpPr>
          <p:nvPr>
            <p:ph type="body" idx="1"/>
          </p:nvPr>
        </p:nvSpPr>
        <p:spPr>
          <a:xfrm>
            <a:off x="864000" y="2076403"/>
            <a:ext cx="2369400" cy="2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621" name="Google Shape;621;p57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22" name="Google Shape;622;p57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3" name="Google Shape;623;p57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4" name="Google Shape;624;p57"/>
          <p:cNvSpPr txBox="1">
            <a:spLocks noGrp="1"/>
          </p:cNvSpPr>
          <p:nvPr>
            <p:ph type="subTitle" idx="2"/>
          </p:nvPr>
        </p:nvSpPr>
        <p:spPr>
          <a:xfrm>
            <a:off x="864000" y="973000"/>
            <a:ext cx="23694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613">
          <p15:clr>
            <a:srgbClr val="E46962"/>
          </p15:clr>
        </p15:guide>
        <p15:guide id="4" orient="horz" pos="1308">
          <p15:clr>
            <a:srgbClr val="E46962"/>
          </p15:clr>
        </p15:guide>
        <p15:guide id="5" pos="5513">
          <p15:clr>
            <a:srgbClr val="E46962"/>
          </p15:clr>
        </p15:guide>
        <p15:guide id="6" pos="2113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 avec texte 2">
  <p:cSld name="ONE_COLUMN_TEXT_1_1_1_1"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8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78876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27" name="Google Shape;627;p58"/>
          <p:cNvSpPr txBox="1">
            <a:spLocks noGrp="1"/>
          </p:cNvSpPr>
          <p:nvPr>
            <p:ph type="body" idx="1"/>
          </p:nvPr>
        </p:nvSpPr>
        <p:spPr>
          <a:xfrm>
            <a:off x="864000" y="2076402"/>
            <a:ext cx="3008400" cy="2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628" name="Google Shape;628;p58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29" name="Google Shape;629;p58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0" name="Google Shape;630;p58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p58"/>
          <p:cNvSpPr txBox="1">
            <a:spLocks noGrp="1"/>
          </p:cNvSpPr>
          <p:nvPr>
            <p:ph type="subTitle" idx="2"/>
          </p:nvPr>
        </p:nvSpPr>
        <p:spPr>
          <a:xfrm>
            <a:off x="864000" y="973000"/>
            <a:ext cx="30084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613">
          <p15:clr>
            <a:srgbClr val="E46962"/>
          </p15:clr>
        </p15:guide>
        <p15:guide id="4" orient="horz" pos="1308">
          <p15:clr>
            <a:srgbClr val="E46962"/>
          </p15:clr>
        </p15:guide>
        <p15:guide id="5" pos="5513">
          <p15:clr>
            <a:srgbClr val="E46962"/>
          </p15:clr>
        </p15:guide>
        <p15:guide id="6" pos="263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">
    <p:bg>
      <p:bgPr>
        <a:solidFill>
          <a:srgbClr val="F2C1D3"/>
        </a:solidFill>
        <a:effectLst/>
      </p:bgPr>
    </p:bg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59"/>
          <p:cNvSpPr txBox="1">
            <a:spLocks noGrp="1"/>
          </p:cNvSpPr>
          <p:nvPr>
            <p:ph type="title"/>
          </p:nvPr>
        </p:nvSpPr>
        <p:spPr>
          <a:xfrm>
            <a:off x="864000" y="826325"/>
            <a:ext cx="4473600" cy="19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Work Sans Medium"/>
              <a:buNone/>
              <a:defRPr sz="33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34" name="Google Shape;634;p59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5" name="Google Shape;635;p59"/>
          <p:cNvSpPr txBox="1">
            <a:spLocks noGrp="1"/>
          </p:cNvSpPr>
          <p:nvPr>
            <p:ph type="subTitle" idx="1"/>
          </p:nvPr>
        </p:nvSpPr>
        <p:spPr>
          <a:xfrm>
            <a:off x="864000" y="2755025"/>
            <a:ext cx="44736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36" name="Google Shape;636;p59"/>
          <p:cNvSpPr>
            <a:spLocks noGrp="1"/>
          </p:cNvSpPr>
          <p:nvPr>
            <p:ph type="pic" idx="2"/>
          </p:nvPr>
        </p:nvSpPr>
        <p:spPr>
          <a:xfrm>
            <a:off x="5579650" y="1102900"/>
            <a:ext cx="2847300" cy="2942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37" name="Google Shape;637;p59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735">
          <p15:clr>
            <a:srgbClr val="E46962"/>
          </p15:clr>
        </p15:guide>
        <p15:guide id="3" orient="horz" pos="521">
          <p15:clr>
            <a:srgbClr val="E46962"/>
          </p15:clr>
        </p15:guide>
        <p15:guide id="4" pos="3362">
          <p15:clr>
            <a:srgbClr val="E46962"/>
          </p15:clr>
        </p15:guide>
        <p15:guide id="5" orient="horz" pos="11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1_1">
    <p:bg>
      <p:bgPr>
        <a:solidFill>
          <a:srgbClr val="B9DBC1"/>
        </a:solidFill>
        <a:effectLst/>
      </p:bgPr>
    </p:bg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0"/>
          <p:cNvSpPr txBox="1">
            <a:spLocks noGrp="1"/>
          </p:cNvSpPr>
          <p:nvPr>
            <p:ph type="title"/>
          </p:nvPr>
        </p:nvSpPr>
        <p:spPr>
          <a:xfrm>
            <a:off x="864000" y="826325"/>
            <a:ext cx="4473600" cy="19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Work Sans Medium"/>
              <a:buNone/>
              <a:defRPr sz="33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0" name="Google Shape;640;p60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1" name="Google Shape;641;p60"/>
          <p:cNvSpPr txBox="1">
            <a:spLocks noGrp="1"/>
          </p:cNvSpPr>
          <p:nvPr>
            <p:ph type="subTitle" idx="1"/>
          </p:nvPr>
        </p:nvSpPr>
        <p:spPr>
          <a:xfrm>
            <a:off x="864000" y="2755025"/>
            <a:ext cx="44736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42" name="Google Shape;642;p60"/>
          <p:cNvSpPr>
            <a:spLocks noGrp="1"/>
          </p:cNvSpPr>
          <p:nvPr>
            <p:ph type="pic" idx="2"/>
          </p:nvPr>
        </p:nvSpPr>
        <p:spPr>
          <a:xfrm>
            <a:off x="5579650" y="1102900"/>
            <a:ext cx="2847300" cy="2942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43" name="Google Shape;643;p60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735">
          <p15:clr>
            <a:srgbClr val="E46962"/>
          </p15:clr>
        </p15:guide>
        <p15:guide id="3" orient="horz" pos="521">
          <p15:clr>
            <a:srgbClr val="E46962"/>
          </p15:clr>
        </p15:guide>
        <p15:guide id="4" pos="3362">
          <p15:clr>
            <a:srgbClr val="E46962"/>
          </p15:clr>
        </p15:guide>
        <p15:guide id="5" orient="horz" pos="113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_HEADER_1_1_1">
    <p:bg>
      <p:bgPr>
        <a:solidFill>
          <a:srgbClr val="F4DA92"/>
        </a:solidFill>
        <a:effectLst/>
      </p:bgPr>
    </p:bg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1"/>
          <p:cNvSpPr txBox="1">
            <a:spLocks noGrp="1"/>
          </p:cNvSpPr>
          <p:nvPr>
            <p:ph type="title"/>
          </p:nvPr>
        </p:nvSpPr>
        <p:spPr>
          <a:xfrm>
            <a:off x="864000" y="826325"/>
            <a:ext cx="4473600" cy="19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Work Sans Medium"/>
              <a:buNone/>
              <a:defRPr sz="33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6" name="Google Shape;646;p61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7" name="Google Shape;647;p61"/>
          <p:cNvSpPr txBox="1">
            <a:spLocks noGrp="1"/>
          </p:cNvSpPr>
          <p:nvPr>
            <p:ph type="subTitle" idx="1"/>
          </p:nvPr>
        </p:nvSpPr>
        <p:spPr>
          <a:xfrm>
            <a:off x="864000" y="2755025"/>
            <a:ext cx="44736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48" name="Google Shape;648;p61"/>
          <p:cNvSpPr>
            <a:spLocks noGrp="1"/>
          </p:cNvSpPr>
          <p:nvPr>
            <p:ph type="pic" idx="2"/>
          </p:nvPr>
        </p:nvSpPr>
        <p:spPr>
          <a:xfrm>
            <a:off x="5579650" y="1102900"/>
            <a:ext cx="2847300" cy="2942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49" name="Google Shape;649;p61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735">
          <p15:clr>
            <a:srgbClr val="E46962"/>
          </p15:clr>
        </p15:guide>
        <p15:guide id="3" orient="horz" pos="521">
          <p15:clr>
            <a:srgbClr val="E46962"/>
          </p15:clr>
        </p15:guide>
        <p15:guide id="4" pos="3362">
          <p15:clr>
            <a:srgbClr val="E46962"/>
          </p15:clr>
        </p15:guide>
        <p15:guide id="5" orient="horz" pos="113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_HEADER_1_1_1_1">
    <p:bg>
      <p:bgPr>
        <a:solidFill>
          <a:srgbClr val="F3B692"/>
        </a:solidFill>
        <a:effectLst/>
      </p:bgPr>
    </p:bg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62"/>
          <p:cNvSpPr txBox="1">
            <a:spLocks noGrp="1"/>
          </p:cNvSpPr>
          <p:nvPr>
            <p:ph type="title"/>
          </p:nvPr>
        </p:nvSpPr>
        <p:spPr>
          <a:xfrm>
            <a:off x="864000" y="826325"/>
            <a:ext cx="4473600" cy="19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Work Sans Medium"/>
              <a:buNone/>
              <a:defRPr sz="33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2" name="Google Shape;652;p62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3" name="Google Shape;653;p62"/>
          <p:cNvSpPr txBox="1">
            <a:spLocks noGrp="1"/>
          </p:cNvSpPr>
          <p:nvPr>
            <p:ph type="subTitle" idx="1"/>
          </p:nvPr>
        </p:nvSpPr>
        <p:spPr>
          <a:xfrm>
            <a:off x="864000" y="2755025"/>
            <a:ext cx="44736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54" name="Google Shape;654;p62"/>
          <p:cNvSpPr>
            <a:spLocks noGrp="1"/>
          </p:cNvSpPr>
          <p:nvPr>
            <p:ph type="pic" idx="2"/>
          </p:nvPr>
        </p:nvSpPr>
        <p:spPr>
          <a:xfrm>
            <a:off x="5579650" y="1102900"/>
            <a:ext cx="2847300" cy="2942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55" name="Google Shape;655;p62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735">
          <p15:clr>
            <a:srgbClr val="E46962"/>
          </p15:clr>
        </p15:guide>
        <p15:guide id="3" orient="horz" pos="521">
          <p15:clr>
            <a:srgbClr val="E46962"/>
          </p15:clr>
        </p15:guide>
        <p15:guide id="4" pos="3362">
          <p15:clr>
            <a:srgbClr val="E46962"/>
          </p15:clr>
        </p15:guide>
        <p15:guide id="5" orient="horz" pos="113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sur 2 colonnes">
  <p:cSld name="TITLE_AND_TWO_COLUMNS_2">
    <p:bg>
      <p:bgPr>
        <a:solidFill>
          <a:srgbClr val="F4F5F1"/>
        </a:solidFill>
        <a:effectLst/>
      </p:bgPr>
    </p:bg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3"/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8" name="Google Shape;658;p63"/>
          <p:cNvSpPr txBox="1">
            <a:spLocks noGrp="1"/>
          </p:cNvSpPr>
          <p:nvPr>
            <p:ph type="body" idx="1"/>
          </p:nvPr>
        </p:nvSpPr>
        <p:spPr>
          <a:xfrm>
            <a:off x="864000" y="1501200"/>
            <a:ext cx="3947100" cy="30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659" name="Google Shape;659;p63"/>
          <p:cNvSpPr txBox="1">
            <a:spLocks noGrp="1"/>
          </p:cNvSpPr>
          <p:nvPr>
            <p:ph type="body" idx="2"/>
          </p:nvPr>
        </p:nvSpPr>
        <p:spPr>
          <a:xfrm>
            <a:off x="4811700" y="1501200"/>
            <a:ext cx="3947100" cy="30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660" name="Google Shape;660;p63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61" name="Google Shape;661;p63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2" name="Google Shape;662;p63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31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946">
          <p15:clr>
            <a:srgbClr val="E46962"/>
          </p15:clr>
        </p15:guide>
        <p15:guide id="4" pos="544">
          <p15:clr>
            <a:srgbClr val="E46962"/>
          </p15:clr>
        </p15:guide>
        <p15:guide id="5" pos="5517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e et image 3">
  <p:cSld name="ONE_COLUMN_TEXT_1_5">
    <p:bg>
      <p:bgPr>
        <a:solidFill>
          <a:srgbClr val="A9DAE9"/>
        </a:solidFill>
        <a:effectLst/>
      </p:bgPr>
    </p:bg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4"/>
          <p:cNvSpPr/>
          <p:nvPr/>
        </p:nvSpPr>
        <p:spPr>
          <a:xfrm>
            <a:off x="0" y="0"/>
            <a:ext cx="49014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64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3947400" cy="14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66" name="Google Shape;666;p64"/>
          <p:cNvSpPr txBox="1">
            <a:spLocks noGrp="1"/>
          </p:cNvSpPr>
          <p:nvPr>
            <p:ph type="body" idx="1"/>
          </p:nvPr>
        </p:nvSpPr>
        <p:spPr>
          <a:xfrm>
            <a:off x="864000" y="2415300"/>
            <a:ext cx="3947400" cy="2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667" name="Google Shape;667;p64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68" name="Google Shape;668;p64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9" name="Google Shape;669;p64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70" name="Google Shape;670;p64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671" name="Google Shape;671;p64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72" name="Google Shape;672;p64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73" name="Google Shape;673;p64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74" name="Google Shape;674;p64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75" name="Google Shape;675;p64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76" name="Google Shape;676;p64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77" name="Google Shape;677;p64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78" name="Google Shape;678;p64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79" name="Google Shape;679;p64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0" name="Google Shape;680;p64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1" name="Google Shape;681;p64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2" name="Google Shape;682;p64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3" name="Google Shape;683;p64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4" name="Google Shape;684;p64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5" name="Google Shape;685;p64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6" name="Google Shape;686;p64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7" name="Google Shape;687;p64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8" name="Google Shape;688;p64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9" name="Google Shape;689;p64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0" name="Google Shape;690;p64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1" name="Google Shape;691;p64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2" name="Google Shape;692;p64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3" name="Google Shape;693;p64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4" name="Google Shape;694;p64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5" name="Google Shape;695;p64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6" name="Google Shape;696;p64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7" name="Google Shape;697;p64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8" name="Google Shape;698;p64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99" name="Google Shape;699;p64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0" name="Google Shape;700;p64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1" name="Google Shape;701;p64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2" name="Google Shape;702;p64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3" name="Google Shape;703;p64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4" name="Google Shape;704;p64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5" name="Google Shape;705;p64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6" name="Google Shape;706;p64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7" name="Google Shape;707;p64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8" name="Google Shape;708;p64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09" name="Google Shape;709;p64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10" name="Google Shape;710;p64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11" name="Google Shape;711;p64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12" name="Google Shape;712;p64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13" name="Google Shape;713;p64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14" name="Google Shape;714;p64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15" name="Google Shape;715;p64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716" name="Google Shape;716;p64"/>
          <p:cNvSpPr txBox="1">
            <a:spLocks noGrp="1"/>
          </p:cNvSpPr>
          <p:nvPr>
            <p:ph type="subTitle" idx="2"/>
          </p:nvPr>
        </p:nvSpPr>
        <p:spPr>
          <a:xfrm>
            <a:off x="864000" y="1627725"/>
            <a:ext cx="39474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17" name="Google Shape;717;p64"/>
          <p:cNvSpPr>
            <a:spLocks noGrp="1"/>
          </p:cNvSpPr>
          <p:nvPr>
            <p:ph type="pic" idx="3"/>
          </p:nvPr>
        </p:nvSpPr>
        <p:spPr>
          <a:xfrm>
            <a:off x="5579650" y="1102900"/>
            <a:ext cx="2847600" cy="2942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1025">
          <p15:clr>
            <a:srgbClr val="E46962"/>
          </p15:clr>
        </p15:guide>
        <p15:guide id="4" orient="horz" pos="1521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e et image 4">
  <p:cSld name="ONE_COLUMN_TEXT_1_4">
    <p:bg>
      <p:bgPr>
        <a:solidFill>
          <a:srgbClr val="F2C1D3"/>
        </a:solidFill>
        <a:effectLst/>
      </p:bgPr>
    </p:bg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5"/>
          <p:cNvSpPr/>
          <p:nvPr/>
        </p:nvSpPr>
        <p:spPr>
          <a:xfrm>
            <a:off x="0" y="0"/>
            <a:ext cx="49014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65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3947400" cy="14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21" name="Google Shape;721;p65"/>
          <p:cNvSpPr txBox="1">
            <a:spLocks noGrp="1"/>
          </p:cNvSpPr>
          <p:nvPr>
            <p:ph type="body" idx="1"/>
          </p:nvPr>
        </p:nvSpPr>
        <p:spPr>
          <a:xfrm>
            <a:off x="864000" y="2415300"/>
            <a:ext cx="3947400" cy="2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722" name="Google Shape;722;p65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23" name="Google Shape;723;p65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4" name="Google Shape;724;p65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25" name="Google Shape;725;p65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726" name="Google Shape;726;p65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27" name="Google Shape;727;p65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28" name="Google Shape;728;p65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29" name="Google Shape;729;p65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0" name="Google Shape;730;p65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1" name="Google Shape;731;p65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2" name="Google Shape;732;p65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3" name="Google Shape;733;p65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4" name="Google Shape;734;p65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5" name="Google Shape;735;p65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6" name="Google Shape;736;p65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7" name="Google Shape;737;p65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8" name="Google Shape;738;p65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39" name="Google Shape;739;p65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0" name="Google Shape;740;p65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1" name="Google Shape;741;p65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2" name="Google Shape;742;p65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3" name="Google Shape;743;p65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4" name="Google Shape;744;p65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5" name="Google Shape;745;p65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6" name="Google Shape;746;p65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7" name="Google Shape;747;p65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8" name="Google Shape;748;p65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49" name="Google Shape;749;p65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0" name="Google Shape;750;p65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1" name="Google Shape;751;p65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2" name="Google Shape;752;p65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3" name="Google Shape;753;p65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4" name="Google Shape;754;p65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5" name="Google Shape;755;p65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6" name="Google Shape;756;p65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7" name="Google Shape;757;p65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8" name="Google Shape;758;p65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59" name="Google Shape;759;p65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0" name="Google Shape;760;p65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1" name="Google Shape;761;p65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2" name="Google Shape;762;p65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3" name="Google Shape;763;p65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4" name="Google Shape;764;p65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5" name="Google Shape;765;p65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6" name="Google Shape;766;p65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7" name="Google Shape;767;p65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8" name="Google Shape;768;p65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69" name="Google Shape;769;p65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70" name="Google Shape;770;p65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771" name="Google Shape;771;p65"/>
          <p:cNvSpPr txBox="1">
            <a:spLocks noGrp="1"/>
          </p:cNvSpPr>
          <p:nvPr>
            <p:ph type="subTitle" idx="2"/>
          </p:nvPr>
        </p:nvSpPr>
        <p:spPr>
          <a:xfrm>
            <a:off x="864000" y="1627725"/>
            <a:ext cx="39474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72" name="Google Shape;772;p65"/>
          <p:cNvSpPr>
            <a:spLocks noGrp="1"/>
          </p:cNvSpPr>
          <p:nvPr>
            <p:ph type="pic" idx="3"/>
          </p:nvPr>
        </p:nvSpPr>
        <p:spPr>
          <a:xfrm>
            <a:off x="5449775" y="1033475"/>
            <a:ext cx="3076500" cy="3076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1025">
          <p15:clr>
            <a:srgbClr val="E46962"/>
          </p15:clr>
        </p15:guide>
        <p15:guide id="4" orient="horz" pos="1521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e et image 5">
  <p:cSld name="ONE_COLUMN_TEXT_1_4_1">
    <p:bg>
      <p:bgPr>
        <a:solidFill>
          <a:srgbClr val="A0AAB7"/>
        </a:solidFill>
        <a:effectLst/>
      </p:bgPr>
    </p:bg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6"/>
          <p:cNvSpPr/>
          <p:nvPr/>
        </p:nvSpPr>
        <p:spPr>
          <a:xfrm>
            <a:off x="0" y="0"/>
            <a:ext cx="49014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66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3947400" cy="14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76" name="Google Shape;776;p66"/>
          <p:cNvSpPr txBox="1">
            <a:spLocks noGrp="1"/>
          </p:cNvSpPr>
          <p:nvPr>
            <p:ph type="body" idx="1"/>
          </p:nvPr>
        </p:nvSpPr>
        <p:spPr>
          <a:xfrm>
            <a:off x="864000" y="2415300"/>
            <a:ext cx="3947400" cy="2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777" name="Google Shape;777;p66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78" name="Google Shape;778;p66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9" name="Google Shape;779;p66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80" name="Google Shape;780;p66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781" name="Google Shape;781;p66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82" name="Google Shape;782;p66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83" name="Google Shape;783;p66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84" name="Google Shape;784;p66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85" name="Google Shape;785;p66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86" name="Google Shape;786;p66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87" name="Google Shape;787;p66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88" name="Google Shape;788;p66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89" name="Google Shape;789;p66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0" name="Google Shape;790;p66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1" name="Google Shape;791;p66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2" name="Google Shape;792;p66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3" name="Google Shape;793;p66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4" name="Google Shape;794;p66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5" name="Google Shape;795;p66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6" name="Google Shape;796;p66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7" name="Google Shape;797;p66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8" name="Google Shape;798;p66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99" name="Google Shape;799;p66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0" name="Google Shape;800;p66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1" name="Google Shape;801;p66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2" name="Google Shape;802;p66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3" name="Google Shape;803;p66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4" name="Google Shape;804;p66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5" name="Google Shape;805;p66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6" name="Google Shape;806;p66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7" name="Google Shape;807;p66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8" name="Google Shape;808;p66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09" name="Google Shape;809;p66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0" name="Google Shape;810;p66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1" name="Google Shape;811;p66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2" name="Google Shape;812;p66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3" name="Google Shape;813;p66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4" name="Google Shape;814;p66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5" name="Google Shape;815;p66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6" name="Google Shape;816;p66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7" name="Google Shape;817;p66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8" name="Google Shape;818;p66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19" name="Google Shape;819;p66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0" name="Google Shape;820;p66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1" name="Google Shape;821;p66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2" name="Google Shape;822;p66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3" name="Google Shape;823;p66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4" name="Google Shape;824;p66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5" name="Google Shape;825;p66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826" name="Google Shape;826;p66"/>
          <p:cNvSpPr txBox="1">
            <a:spLocks noGrp="1"/>
          </p:cNvSpPr>
          <p:nvPr>
            <p:ph type="subTitle" idx="2"/>
          </p:nvPr>
        </p:nvSpPr>
        <p:spPr>
          <a:xfrm>
            <a:off x="864000" y="1627725"/>
            <a:ext cx="39474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27" name="Google Shape;827;p66"/>
          <p:cNvSpPr>
            <a:spLocks noGrp="1"/>
          </p:cNvSpPr>
          <p:nvPr>
            <p:ph type="pic" idx="3"/>
          </p:nvPr>
        </p:nvSpPr>
        <p:spPr>
          <a:xfrm>
            <a:off x="5449775" y="1033475"/>
            <a:ext cx="3076500" cy="3076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1025">
          <p15:clr>
            <a:srgbClr val="E46962"/>
          </p15:clr>
        </p15:guide>
        <p15:guide id="4" orient="horz" pos="1521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et texte 5">
  <p:cSld name="ONE_COLUMN_TEXT_1_2_1_1">
    <p:bg>
      <p:bgPr>
        <a:solidFill>
          <a:srgbClr val="EC9191"/>
        </a:solidFill>
        <a:effectLst/>
      </p:bgPr>
    </p:bg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67"/>
          <p:cNvSpPr/>
          <p:nvPr/>
        </p:nvSpPr>
        <p:spPr>
          <a:xfrm>
            <a:off x="3877200" y="0"/>
            <a:ext cx="52719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30" name="Google Shape;830;p67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78948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31" name="Google Shape;831;p67"/>
          <p:cNvSpPr txBox="1">
            <a:spLocks noGrp="1"/>
          </p:cNvSpPr>
          <p:nvPr>
            <p:ph type="body" idx="1"/>
          </p:nvPr>
        </p:nvSpPr>
        <p:spPr>
          <a:xfrm>
            <a:off x="4230000" y="2016000"/>
            <a:ext cx="2264400" cy="2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832" name="Google Shape;832;p67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33" name="Google Shape;833;p67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4" name="Google Shape;834;p67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35" name="Google Shape;835;p67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836" name="Google Shape;836;p67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37" name="Google Shape;837;p67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38" name="Google Shape;838;p67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39" name="Google Shape;839;p67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0" name="Google Shape;840;p67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1" name="Google Shape;841;p67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2" name="Google Shape;842;p67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3" name="Google Shape;843;p67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4" name="Google Shape;844;p67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5" name="Google Shape;845;p67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6" name="Google Shape;846;p67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7" name="Google Shape;847;p67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8" name="Google Shape;848;p67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9" name="Google Shape;849;p67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0" name="Google Shape;850;p67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1" name="Google Shape;851;p67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2" name="Google Shape;852;p67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3" name="Google Shape;853;p67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4" name="Google Shape;854;p67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5" name="Google Shape;855;p67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6" name="Google Shape;856;p67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7" name="Google Shape;857;p67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8" name="Google Shape;858;p67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9" name="Google Shape;859;p67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0" name="Google Shape;860;p67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1" name="Google Shape;861;p67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2" name="Google Shape;862;p67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3" name="Google Shape;863;p67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4" name="Google Shape;864;p67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5" name="Google Shape;865;p67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6" name="Google Shape;866;p67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7" name="Google Shape;867;p67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8" name="Google Shape;868;p67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9" name="Google Shape;869;p67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0" name="Google Shape;870;p67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1" name="Google Shape;871;p67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2" name="Google Shape;872;p67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3" name="Google Shape;873;p67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4" name="Google Shape;874;p67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5" name="Google Shape;875;p67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6" name="Google Shape;876;p67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7" name="Google Shape;877;p67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8" name="Google Shape;878;p67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9" name="Google Shape;879;p67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80" name="Google Shape;880;p67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881" name="Google Shape;881;p67"/>
          <p:cNvSpPr txBox="1">
            <a:spLocks noGrp="1"/>
          </p:cNvSpPr>
          <p:nvPr>
            <p:ph type="subTitle" idx="2"/>
          </p:nvPr>
        </p:nvSpPr>
        <p:spPr>
          <a:xfrm>
            <a:off x="4230000" y="1501200"/>
            <a:ext cx="2166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Work Sans Medium"/>
              <a:buNone/>
              <a:defRPr sz="105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9pPr>
          </a:lstStyle>
          <a:p>
            <a:endParaRPr/>
          </a:p>
        </p:txBody>
      </p:sp>
      <p:sp>
        <p:nvSpPr>
          <p:cNvPr id="882" name="Google Shape;882;p67"/>
          <p:cNvSpPr>
            <a:spLocks noGrp="1"/>
          </p:cNvSpPr>
          <p:nvPr>
            <p:ph type="pic" idx="3"/>
          </p:nvPr>
        </p:nvSpPr>
        <p:spPr>
          <a:xfrm>
            <a:off x="954000" y="1501200"/>
            <a:ext cx="2487600" cy="24876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883" name="Google Shape;883;p67"/>
          <p:cNvCxnSpPr/>
          <p:nvPr/>
        </p:nvCxnSpPr>
        <p:spPr>
          <a:xfrm>
            <a:off x="4330800" y="1501200"/>
            <a:ext cx="207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4" name="Google Shape;884;p67"/>
          <p:cNvSpPr txBox="1">
            <a:spLocks noGrp="1"/>
          </p:cNvSpPr>
          <p:nvPr>
            <p:ph type="body" idx="4"/>
          </p:nvPr>
        </p:nvSpPr>
        <p:spPr>
          <a:xfrm>
            <a:off x="6497100" y="2016000"/>
            <a:ext cx="2264400" cy="2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885" name="Google Shape;885;p67"/>
          <p:cNvSpPr txBox="1">
            <a:spLocks noGrp="1"/>
          </p:cNvSpPr>
          <p:nvPr>
            <p:ph type="subTitle" idx="5"/>
          </p:nvPr>
        </p:nvSpPr>
        <p:spPr>
          <a:xfrm>
            <a:off x="6497100" y="1501200"/>
            <a:ext cx="2166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Work Sans Medium"/>
              <a:buNone/>
              <a:defRPr sz="105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  <a:defRPr/>
            </a:lvl9pPr>
          </a:lstStyle>
          <a:p>
            <a:endParaRPr/>
          </a:p>
        </p:txBody>
      </p:sp>
      <p:cxnSp>
        <p:nvCxnSpPr>
          <p:cNvPr id="886" name="Google Shape;886;p67"/>
          <p:cNvCxnSpPr/>
          <p:nvPr/>
        </p:nvCxnSpPr>
        <p:spPr>
          <a:xfrm>
            <a:off x="6587300" y="1501200"/>
            <a:ext cx="209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1270">
          <p15:clr>
            <a:srgbClr val="E46962"/>
          </p15:clr>
        </p15:guide>
        <p15:guide id="4" pos="2665">
          <p15:clr>
            <a:srgbClr val="E46962"/>
          </p15:clr>
        </p15:guide>
        <p15:guide id="5" pos="5517">
          <p15:clr>
            <a:srgbClr val="E46962"/>
          </p15:clr>
        </p15:guide>
        <p15:guide id="6" pos="4091">
          <p15:clr>
            <a:srgbClr val="E46962"/>
          </p15:clr>
        </p15:guide>
        <p15:guide id="7" pos="4148">
          <p15:clr>
            <a:srgbClr val="E46962"/>
          </p15:clr>
        </p15:guide>
        <p15:guide id="8" pos="4034">
          <p15:clr>
            <a:srgbClr val="E46962"/>
          </p15:clr>
        </p15:guide>
        <p15:guide id="9" orient="horz" pos="946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e et extrait">
  <p:cSld name="ONE_COLUMN_TEXT_1_1">
    <p:bg>
      <p:bgPr>
        <a:solidFill>
          <a:srgbClr val="A9DAE9"/>
        </a:solidFill>
        <a:effectLst/>
      </p:bgPr>
    </p:bg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68"/>
          <p:cNvSpPr/>
          <p:nvPr/>
        </p:nvSpPr>
        <p:spPr>
          <a:xfrm>
            <a:off x="0" y="0"/>
            <a:ext cx="4901400" cy="5143500"/>
          </a:xfrm>
          <a:prstGeom prst="rect">
            <a:avLst/>
          </a:prstGeom>
          <a:solidFill>
            <a:srgbClr val="F4F5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68"/>
          <p:cNvSpPr txBox="1">
            <a:spLocks noGrp="1"/>
          </p:cNvSpPr>
          <p:nvPr>
            <p:ph type="title"/>
          </p:nvPr>
        </p:nvSpPr>
        <p:spPr>
          <a:xfrm>
            <a:off x="864000" y="218425"/>
            <a:ext cx="3947400" cy="14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90" name="Google Shape;890;p68"/>
          <p:cNvSpPr txBox="1">
            <a:spLocks noGrp="1"/>
          </p:cNvSpPr>
          <p:nvPr>
            <p:ph type="body" idx="1"/>
          </p:nvPr>
        </p:nvSpPr>
        <p:spPr>
          <a:xfrm>
            <a:off x="864000" y="2415300"/>
            <a:ext cx="3947400" cy="2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 sz="1050"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891" name="Google Shape;891;p68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92" name="Google Shape;892;p68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3" name="Google Shape;893;p68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94" name="Google Shape;894;p68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895" name="Google Shape;895;p68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96" name="Google Shape;896;p68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97" name="Google Shape;897;p68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98" name="Google Shape;898;p68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99" name="Google Shape;899;p68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00" name="Google Shape;900;p68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01" name="Google Shape;901;p68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02" name="Google Shape;902;p68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03" name="Google Shape;903;p68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04" name="Google Shape;904;p68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05" name="Google Shape;905;p68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06" name="Google Shape;906;p68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07" name="Google Shape;907;p68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08" name="Google Shape;908;p68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09" name="Google Shape;909;p68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10" name="Google Shape;910;p68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11" name="Google Shape;911;p68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12" name="Google Shape;912;p68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13" name="Google Shape;913;p68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14" name="Google Shape;914;p68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15" name="Google Shape;915;p68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16" name="Google Shape;916;p68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17" name="Google Shape;917;p68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18" name="Google Shape;918;p68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19" name="Google Shape;919;p68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20" name="Google Shape;920;p68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21" name="Google Shape;921;p68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22" name="Google Shape;922;p68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23" name="Google Shape;923;p68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24" name="Google Shape;924;p68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25" name="Google Shape;925;p68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26" name="Google Shape;926;p68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27" name="Google Shape;927;p68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28" name="Google Shape;928;p68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29" name="Google Shape;929;p68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30" name="Google Shape;930;p68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31" name="Google Shape;931;p68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32" name="Google Shape;932;p68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33" name="Google Shape;933;p68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34" name="Google Shape;934;p68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35" name="Google Shape;935;p68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36" name="Google Shape;936;p68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37" name="Google Shape;937;p68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38" name="Google Shape;938;p68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39" name="Google Shape;939;p68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940" name="Google Shape;940;p68"/>
          <p:cNvSpPr txBox="1">
            <a:spLocks noGrp="1"/>
          </p:cNvSpPr>
          <p:nvPr>
            <p:ph type="subTitle" idx="2"/>
          </p:nvPr>
        </p:nvSpPr>
        <p:spPr>
          <a:xfrm>
            <a:off x="864000" y="1627725"/>
            <a:ext cx="39474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orient="horz" pos="138">
          <p15:clr>
            <a:srgbClr val="E46962"/>
          </p15:clr>
        </p15:guide>
        <p15:guide id="3" orient="horz" pos="1025">
          <p15:clr>
            <a:srgbClr val="E46962"/>
          </p15:clr>
        </p15:guide>
        <p15:guide id="4" orient="horz" pos="1521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69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43" name="Google Shape;943;p69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4" name="Google Shape;944;p69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sur 1 colonne" type="tx">
  <p:cSld name="Titre et texte sur 1 colonne">
    <p:bg>
      <p:bgPr>
        <a:solidFill>
          <a:srgbClr val="F4F5F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"/>
          <p:cNvSpPr txBox="1">
            <a:spLocks noGrp="1"/>
          </p:cNvSpPr>
          <p:nvPr>
            <p:ph type="body" idx="1"/>
          </p:nvPr>
        </p:nvSpPr>
        <p:spPr>
          <a:xfrm>
            <a:off x="864000" y="1501200"/>
            <a:ext cx="7894800" cy="3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1pPr>
            <a:lvl2pPr marL="914400" lvl="1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2pPr>
            <a:lvl3pPr marL="1371600" lvl="2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3pPr>
            <a:lvl4pPr marL="1828800" lvl="3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4pPr>
            <a:lvl5pPr marL="2286000" lvl="4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5pPr>
            <a:lvl6pPr marL="2743200" lvl="5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6pPr>
            <a:lvl7pPr marL="3200400" lvl="6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7pPr>
            <a:lvl8pPr marL="3657600" lvl="7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8pPr>
            <a:lvl9pPr marL="4114800" lvl="8" indent="-2952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59" name="Google Shape;59;p2"/>
          <p:cNvCxnSpPr/>
          <p:nvPr/>
        </p:nvCxnSpPr>
        <p:spPr>
          <a:xfrm>
            <a:off x="-10025" y="4766400"/>
            <a:ext cx="91590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2"/>
          <p:cNvCxnSpPr/>
          <p:nvPr/>
        </p:nvCxnSpPr>
        <p:spPr>
          <a:xfrm>
            <a:off x="481275" y="-5025"/>
            <a:ext cx="0" cy="51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87533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4">
          <p15:clr>
            <a:srgbClr val="E46962"/>
          </p15:clr>
        </p15:guide>
        <p15:guide id="2" pos="5517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4F5F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9"/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Work Sans"/>
              <a:buNone/>
              <a:defRPr sz="30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ork Sans"/>
              <a:buNone/>
              <a:defRPr sz="28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7" name="Google Shape;7;p39"/>
          <p:cNvSpPr txBox="1">
            <a:spLocks noGrp="1"/>
          </p:cNvSpPr>
          <p:nvPr>
            <p:ph type="body" idx="1"/>
          </p:nvPr>
        </p:nvSpPr>
        <p:spPr>
          <a:xfrm>
            <a:off x="864000" y="1501200"/>
            <a:ext cx="7894800" cy="3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•"/>
              <a:defRPr sz="120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295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•"/>
              <a:defRPr sz="105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295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•"/>
              <a:defRPr sz="105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295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•"/>
              <a:defRPr sz="105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295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•"/>
              <a:defRPr sz="105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295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•"/>
              <a:defRPr sz="105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295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•"/>
              <a:defRPr sz="105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295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•"/>
              <a:defRPr sz="105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295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•"/>
              <a:defRPr sz="1050" b="0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8" name="Google Shape;8;p39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" name="Google Shape;9;p39"/>
          <p:cNvGrpSpPr/>
          <p:nvPr/>
        </p:nvGrpSpPr>
        <p:grpSpPr>
          <a:xfrm>
            <a:off x="8150393" y="4878076"/>
            <a:ext cx="511008" cy="150548"/>
            <a:chOff x="249750" y="1780450"/>
            <a:chExt cx="7107200" cy="2090950"/>
          </a:xfrm>
        </p:grpSpPr>
        <p:sp>
          <p:nvSpPr>
            <p:cNvPr id="10" name="Google Shape;10;p39"/>
            <p:cNvSpPr/>
            <p:nvPr/>
          </p:nvSpPr>
          <p:spPr>
            <a:xfrm>
              <a:off x="2699700" y="1798725"/>
              <a:ext cx="1974600" cy="2036100"/>
            </a:xfrm>
            <a:custGeom>
              <a:avLst/>
              <a:gdLst/>
              <a:ahLst/>
              <a:cxnLst/>
              <a:rect l="l" t="t" r="r" b="b"/>
              <a:pathLst>
                <a:path w="78984" h="81444" extrusionOk="0">
                  <a:moveTo>
                    <a:pt x="1530" y="1"/>
                  </a:moveTo>
                  <a:cubicBezTo>
                    <a:pt x="665" y="1"/>
                    <a:pt x="0" y="732"/>
                    <a:pt x="0" y="1596"/>
                  </a:cubicBezTo>
                  <a:lnTo>
                    <a:pt x="0" y="79915"/>
                  </a:lnTo>
                  <a:cubicBezTo>
                    <a:pt x="0" y="80779"/>
                    <a:pt x="665" y="81444"/>
                    <a:pt x="1530" y="81444"/>
                  </a:cubicBezTo>
                  <a:lnTo>
                    <a:pt x="10438" y="81444"/>
                  </a:lnTo>
                  <a:cubicBezTo>
                    <a:pt x="11236" y="81444"/>
                    <a:pt x="11968" y="80779"/>
                    <a:pt x="11968" y="79915"/>
                  </a:cubicBezTo>
                  <a:lnTo>
                    <a:pt x="11968" y="30849"/>
                  </a:lnTo>
                  <a:cubicBezTo>
                    <a:pt x="11968" y="30535"/>
                    <a:pt x="12223" y="30337"/>
                    <a:pt x="12473" y="30337"/>
                  </a:cubicBezTo>
                  <a:cubicBezTo>
                    <a:pt x="12646" y="30337"/>
                    <a:pt x="12817" y="30432"/>
                    <a:pt x="12898" y="30650"/>
                  </a:cubicBezTo>
                  <a:lnTo>
                    <a:pt x="32777" y="80048"/>
                  </a:lnTo>
                  <a:cubicBezTo>
                    <a:pt x="33110" y="80912"/>
                    <a:pt x="33974" y="81444"/>
                    <a:pt x="34838" y="81444"/>
                  </a:cubicBezTo>
                  <a:lnTo>
                    <a:pt x="43681" y="81444"/>
                  </a:lnTo>
                  <a:cubicBezTo>
                    <a:pt x="44611" y="81444"/>
                    <a:pt x="45409" y="80912"/>
                    <a:pt x="45742" y="80048"/>
                  </a:cubicBezTo>
                  <a:lnTo>
                    <a:pt x="65687" y="30450"/>
                  </a:lnTo>
                  <a:cubicBezTo>
                    <a:pt x="65772" y="30223"/>
                    <a:pt x="65955" y="30117"/>
                    <a:pt x="66136" y="30117"/>
                  </a:cubicBezTo>
                  <a:cubicBezTo>
                    <a:pt x="66378" y="30117"/>
                    <a:pt x="66618" y="30307"/>
                    <a:pt x="66618" y="30650"/>
                  </a:cubicBezTo>
                  <a:lnTo>
                    <a:pt x="66618" y="79915"/>
                  </a:lnTo>
                  <a:cubicBezTo>
                    <a:pt x="66618" y="80779"/>
                    <a:pt x="67349" y="81444"/>
                    <a:pt x="68213" y="81444"/>
                  </a:cubicBezTo>
                  <a:lnTo>
                    <a:pt x="77388" y="81444"/>
                  </a:lnTo>
                  <a:cubicBezTo>
                    <a:pt x="78253" y="81444"/>
                    <a:pt x="78984" y="80779"/>
                    <a:pt x="78984" y="79915"/>
                  </a:cubicBezTo>
                  <a:lnTo>
                    <a:pt x="78984" y="1596"/>
                  </a:lnTo>
                  <a:cubicBezTo>
                    <a:pt x="78984" y="732"/>
                    <a:pt x="78253" y="67"/>
                    <a:pt x="77455" y="1"/>
                  </a:cubicBezTo>
                  <a:lnTo>
                    <a:pt x="67881" y="67"/>
                  </a:lnTo>
                  <a:cubicBezTo>
                    <a:pt x="67835" y="63"/>
                    <a:pt x="67788" y="61"/>
                    <a:pt x="67743" y="61"/>
                  </a:cubicBezTo>
                  <a:cubicBezTo>
                    <a:pt x="67067" y="61"/>
                    <a:pt x="66464" y="512"/>
                    <a:pt x="66152" y="1197"/>
                  </a:cubicBezTo>
                  <a:lnTo>
                    <a:pt x="39825" y="65687"/>
                  </a:lnTo>
                  <a:cubicBezTo>
                    <a:pt x="39725" y="65920"/>
                    <a:pt x="39509" y="66036"/>
                    <a:pt x="39301" y="66036"/>
                  </a:cubicBezTo>
                  <a:cubicBezTo>
                    <a:pt x="39093" y="66036"/>
                    <a:pt x="38894" y="65920"/>
                    <a:pt x="38827" y="65687"/>
                  </a:cubicBezTo>
                  <a:lnTo>
                    <a:pt x="12433" y="1197"/>
                  </a:lnTo>
                  <a:cubicBezTo>
                    <a:pt x="12167" y="466"/>
                    <a:pt x="11436" y="1"/>
                    <a:pt x="1070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1" name="Google Shape;11;p39"/>
            <p:cNvSpPr/>
            <p:nvPr/>
          </p:nvSpPr>
          <p:spPr>
            <a:xfrm>
              <a:off x="4921950" y="1780450"/>
              <a:ext cx="393925" cy="2054375"/>
            </a:xfrm>
            <a:custGeom>
              <a:avLst/>
              <a:gdLst/>
              <a:ahLst/>
              <a:cxnLst/>
              <a:rect l="l" t="t" r="r" b="b"/>
              <a:pathLst>
                <a:path w="15757" h="82175" extrusionOk="0">
                  <a:moveTo>
                    <a:pt x="7978" y="0"/>
                  </a:moveTo>
                  <a:cubicBezTo>
                    <a:pt x="5718" y="0"/>
                    <a:pt x="3856" y="732"/>
                    <a:pt x="2327" y="2261"/>
                  </a:cubicBezTo>
                  <a:cubicBezTo>
                    <a:pt x="798" y="3790"/>
                    <a:pt x="0" y="5651"/>
                    <a:pt x="0" y="7912"/>
                  </a:cubicBezTo>
                  <a:cubicBezTo>
                    <a:pt x="0" y="10106"/>
                    <a:pt x="798" y="11967"/>
                    <a:pt x="2327" y="13497"/>
                  </a:cubicBezTo>
                  <a:cubicBezTo>
                    <a:pt x="3856" y="15026"/>
                    <a:pt x="5718" y="15824"/>
                    <a:pt x="7978" y="15824"/>
                  </a:cubicBezTo>
                  <a:cubicBezTo>
                    <a:pt x="10106" y="15824"/>
                    <a:pt x="11967" y="15026"/>
                    <a:pt x="13496" y="13430"/>
                  </a:cubicBezTo>
                  <a:cubicBezTo>
                    <a:pt x="15026" y="11901"/>
                    <a:pt x="15757" y="10039"/>
                    <a:pt x="15757" y="7912"/>
                  </a:cubicBezTo>
                  <a:cubicBezTo>
                    <a:pt x="15757" y="5651"/>
                    <a:pt x="15026" y="3790"/>
                    <a:pt x="13496" y="2261"/>
                  </a:cubicBezTo>
                  <a:cubicBezTo>
                    <a:pt x="11967" y="732"/>
                    <a:pt x="10106" y="0"/>
                    <a:pt x="7978" y="0"/>
                  </a:cubicBezTo>
                  <a:close/>
                  <a:moveTo>
                    <a:pt x="3524" y="27192"/>
                  </a:moveTo>
                  <a:cubicBezTo>
                    <a:pt x="2659" y="27192"/>
                    <a:pt x="1995" y="27857"/>
                    <a:pt x="1995" y="28721"/>
                  </a:cubicBezTo>
                  <a:lnTo>
                    <a:pt x="1995" y="80646"/>
                  </a:lnTo>
                  <a:cubicBezTo>
                    <a:pt x="1995" y="81510"/>
                    <a:pt x="2659" y="82175"/>
                    <a:pt x="3524" y="82175"/>
                  </a:cubicBezTo>
                  <a:lnTo>
                    <a:pt x="12366" y="82175"/>
                  </a:lnTo>
                  <a:cubicBezTo>
                    <a:pt x="13230" y="82175"/>
                    <a:pt x="13895" y="81510"/>
                    <a:pt x="13895" y="80646"/>
                  </a:cubicBezTo>
                  <a:lnTo>
                    <a:pt x="13895" y="28721"/>
                  </a:lnTo>
                  <a:cubicBezTo>
                    <a:pt x="13895" y="27857"/>
                    <a:pt x="13230" y="27192"/>
                    <a:pt x="12366" y="27192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" name="Google Shape;12;p39"/>
            <p:cNvSpPr/>
            <p:nvPr/>
          </p:nvSpPr>
          <p:spPr>
            <a:xfrm>
              <a:off x="5568500" y="1798725"/>
              <a:ext cx="295875" cy="2036100"/>
            </a:xfrm>
            <a:custGeom>
              <a:avLst/>
              <a:gdLst/>
              <a:ahLst/>
              <a:cxnLst/>
              <a:rect l="l" t="t" r="r" b="b"/>
              <a:pathLst>
                <a:path w="11835" h="81444" extrusionOk="0">
                  <a:moveTo>
                    <a:pt x="1530" y="1"/>
                  </a:moveTo>
                  <a:cubicBezTo>
                    <a:pt x="665" y="1"/>
                    <a:pt x="1" y="732"/>
                    <a:pt x="1" y="1596"/>
                  </a:cubicBezTo>
                  <a:lnTo>
                    <a:pt x="1" y="79915"/>
                  </a:lnTo>
                  <a:cubicBezTo>
                    <a:pt x="1" y="80779"/>
                    <a:pt x="665" y="81444"/>
                    <a:pt x="1530" y="81444"/>
                  </a:cubicBezTo>
                  <a:lnTo>
                    <a:pt x="10306" y="81444"/>
                  </a:lnTo>
                  <a:cubicBezTo>
                    <a:pt x="11170" y="81444"/>
                    <a:pt x="11835" y="80779"/>
                    <a:pt x="11835" y="79915"/>
                  </a:cubicBezTo>
                  <a:lnTo>
                    <a:pt x="11835" y="1596"/>
                  </a:lnTo>
                  <a:cubicBezTo>
                    <a:pt x="11835" y="732"/>
                    <a:pt x="11170" y="1"/>
                    <a:pt x="1030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" name="Google Shape;13;p39"/>
            <p:cNvSpPr/>
            <p:nvPr/>
          </p:nvSpPr>
          <p:spPr>
            <a:xfrm>
              <a:off x="6115325" y="2422000"/>
              <a:ext cx="1241625" cy="1449400"/>
            </a:xfrm>
            <a:custGeom>
              <a:avLst/>
              <a:gdLst/>
              <a:ahLst/>
              <a:cxnLst/>
              <a:rect l="l" t="t" r="r" b="b"/>
              <a:pathLst>
                <a:path w="49665" h="57976" extrusionOk="0">
                  <a:moveTo>
                    <a:pt x="37299" y="31448"/>
                  </a:moveTo>
                  <a:lnTo>
                    <a:pt x="37299" y="32778"/>
                  </a:lnTo>
                  <a:cubicBezTo>
                    <a:pt x="37299" y="38097"/>
                    <a:pt x="35902" y="42086"/>
                    <a:pt x="33110" y="44745"/>
                  </a:cubicBezTo>
                  <a:cubicBezTo>
                    <a:pt x="30318" y="47471"/>
                    <a:pt x="26927" y="48801"/>
                    <a:pt x="22805" y="48801"/>
                  </a:cubicBezTo>
                  <a:cubicBezTo>
                    <a:pt x="19481" y="48801"/>
                    <a:pt x="16821" y="48136"/>
                    <a:pt x="14893" y="46607"/>
                  </a:cubicBezTo>
                  <a:cubicBezTo>
                    <a:pt x="13032" y="45144"/>
                    <a:pt x="12101" y="43016"/>
                    <a:pt x="12101" y="40158"/>
                  </a:cubicBezTo>
                  <a:cubicBezTo>
                    <a:pt x="12101" y="37365"/>
                    <a:pt x="13032" y="35238"/>
                    <a:pt x="14827" y="33709"/>
                  </a:cubicBezTo>
                  <a:cubicBezTo>
                    <a:pt x="16622" y="32179"/>
                    <a:pt x="19215" y="31448"/>
                    <a:pt x="22672" y="31448"/>
                  </a:cubicBezTo>
                  <a:close/>
                  <a:moveTo>
                    <a:pt x="25256" y="0"/>
                  </a:moveTo>
                  <a:cubicBezTo>
                    <a:pt x="14565" y="0"/>
                    <a:pt x="7009" y="3857"/>
                    <a:pt x="2461" y="11569"/>
                  </a:cubicBezTo>
                  <a:cubicBezTo>
                    <a:pt x="2062" y="12301"/>
                    <a:pt x="2328" y="13298"/>
                    <a:pt x="3126" y="13697"/>
                  </a:cubicBezTo>
                  <a:lnTo>
                    <a:pt x="9109" y="17154"/>
                  </a:lnTo>
                  <a:cubicBezTo>
                    <a:pt x="9357" y="17312"/>
                    <a:pt x="9628" y="17386"/>
                    <a:pt x="9896" y="17386"/>
                  </a:cubicBezTo>
                  <a:cubicBezTo>
                    <a:pt x="10418" y="17386"/>
                    <a:pt x="10929" y="17106"/>
                    <a:pt x="11237" y="16622"/>
                  </a:cubicBezTo>
                  <a:cubicBezTo>
                    <a:pt x="14096" y="12035"/>
                    <a:pt x="18683" y="9708"/>
                    <a:pt x="24933" y="9708"/>
                  </a:cubicBezTo>
                  <a:cubicBezTo>
                    <a:pt x="33177" y="9708"/>
                    <a:pt x="37299" y="13431"/>
                    <a:pt x="37299" y="20944"/>
                  </a:cubicBezTo>
                  <a:lnTo>
                    <a:pt x="37299" y="23071"/>
                  </a:lnTo>
                  <a:lnTo>
                    <a:pt x="20013" y="23071"/>
                  </a:lnTo>
                  <a:cubicBezTo>
                    <a:pt x="13896" y="23071"/>
                    <a:pt x="9043" y="24600"/>
                    <a:pt x="5386" y="27659"/>
                  </a:cubicBezTo>
                  <a:cubicBezTo>
                    <a:pt x="1796" y="30717"/>
                    <a:pt x="1" y="34905"/>
                    <a:pt x="1" y="40291"/>
                  </a:cubicBezTo>
                  <a:cubicBezTo>
                    <a:pt x="1" y="45742"/>
                    <a:pt x="1796" y="50064"/>
                    <a:pt x="5453" y="53255"/>
                  </a:cubicBezTo>
                  <a:cubicBezTo>
                    <a:pt x="9109" y="56446"/>
                    <a:pt x="13963" y="57975"/>
                    <a:pt x="19880" y="57975"/>
                  </a:cubicBezTo>
                  <a:cubicBezTo>
                    <a:pt x="23935" y="57975"/>
                    <a:pt x="27525" y="57244"/>
                    <a:pt x="30584" y="55715"/>
                  </a:cubicBezTo>
                  <a:cubicBezTo>
                    <a:pt x="33642" y="54186"/>
                    <a:pt x="35902" y="52125"/>
                    <a:pt x="37498" y="49665"/>
                  </a:cubicBezTo>
                  <a:cubicBezTo>
                    <a:pt x="37698" y="52125"/>
                    <a:pt x="37897" y="54053"/>
                    <a:pt x="38163" y="55515"/>
                  </a:cubicBezTo>
                  <a:cubicBezTo>
                    <a:pt x="38296" y="56114"/>
                    <a:pt x="38828" y="56513"/>
                    <a:pt x="39426" y="56513"/>
                  </a:cubicBezTo>
                  <a:lnTo>
                    <a:pt x="48335" y="56513"/>
                  </a:lnTo>
                  <a:cubicBezTo>
                    <a:pt x="49133" y="56513"/>
                    <a:pt x="49665" y="55848"/>
                    <a:pt x="49532" y="55050"/>
                  </a:cubicBezTo>
                  <a:cubicBezTo>
                    <a:pt x="49133" y="52923"/>
                    <a:pt x="48933" y="49532"/>
                    <a:pt x="48933" y="44745"/>
                  </a:cubicBezTo>
                  <a:lnTo>
                    <a:pt x="48933" y="22207"/>
                  </a:lnTo>
                  <a:cubicBezTo>
                    <a:pt x="48933" y="14428"/>
                    <a:pt x="46739" y="8711"/>
                    <a:pt x="42351" y="5253"/>
                  </a:cubicBezTo>
                  <a:cubicBezTo>
                    <a:pt x="38030" y="1730"/>
                    <a:pt x="32379" y="1"/>
                    <a:pt x="25531" y="1"/>
                  </a:cubicBezTo>
                  <a:cubicBezTo>
                    <a:pt x="25439" y="1"/>
                    <a:pt x="25347" y="0"/>
                    <a:pt x="25256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" name="Google Shape;14;p39"/>
            <p:cNvSpPr/>
            <p:nvPr/>
          </p:nvSpPr>
          <p:spPr>
            <a:xfrm>
              <a:off x="1670850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" name="Google Shape;15;p39"/>
            <p:cNvSpPr/>
            <p:nvPr/>
          </p:nvSpPr>
          <p:spPr>
            <a:xfrm>
              <a:off x="2230975" y="27644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1" y="4921"/>
                  </a:cubicBezTo>
                  <a:cubicBezTo>
                    <a:pt x="3857" y="4921"/>
                    <a:pt x="4921" y="3790"/>
                    <a:pt x="4921" y="2461"/>
                  </a:cubicBezTo>
                  <a:cubicBezTo>
                    <a:pt x="4921" y="1131"/>
                    <a:pt x="3857" y="1"/>
                    <a:pt x="24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6" name="Google Shape;16;p39"/>
            <p:cNvSpPr/>
            <p:nvPr/>
          </p:nvSpPr>
          <p:spPr>
            <a:xfrm>
              <a:off x="1950075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7" name="Google Shape;17;p39"/>
            <p:cNvSpPr/>
            <p:nvPr/>
          </p:nvSpPr>
          <p:spPr>
            <a:xfrm>
              <a:off x="1389950" y="228905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8" name="Google Shape;18;p39"/>
            <p:cNvSpPr/>
            <p:nvPr/>
          </p:nvSpPr>
          <p:spPr>
            <a:xfrm>
              <a:off x="1670850" y="18170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857"/>
                    <a:pt x="1131" y="4921"/>
                    <a:pt x="2460" y="4921"/>
                  </a:cubicBezTo>
                  <a:cubicBezTo>
                    <a:pt x="3857" y="4921"/>
                    <a:pt x="4920" y="3857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9" name="Google Shape;19;p39"/>
            <p:cNvSpPr/>
            <p:nvPr/>
          </p:nvSpPr>
          <p:spPr>
            <a:xfrm>
              <a:off x="1459775" y="18635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1"/>
                  </a:moveTo>
                  <a:cubicBezTo>
                    <a:pt x="266" y="1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1"/>
                    <a:pt x="6648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0" name="Google Shape;20;p39"/>
            <p:cNvSpPr/>
            <p:nvPr/>
          </p:nvSpPr>
          <p:spPr>
            <a:xfrm>
              <a:off x="1770575" y="2428725"/>
              <a:ext cx="204475" cy="319100"/>
            </a:xfrm>
            <a:custGeom>
              <a:avLst/>
              <a:gdLst/>
              <a:ahLst/>
              <a:cxnLst/>
              <a:rect l="l" t="t" r="r" b="b"/>
              <a:pathLst>
                <a:path w="8179" h="12764" extrusionOk="0">
                  <a:moveTo>
                    <a:pt x="7513" y="0"/>
                  </a:moveTo>
                  <a:cubicBezTo>
                    <a:pt x="7316" y="0"/>
                    <a:pt x="7118" y="103"/>
                    <a:pt x="6981" y="331"/>
                  </a:cubicBezTo>
                  <a:lnTo>
                    <a:pt x="200" y="11832"/>
                  </a:lnTo>
                  <a:cubicBezTo>
                    <a:pt x="1" y="12098"/>
                    <a:pt x="134" y="12497"/>
                    <a:pt x="400" y="12630"/>
                  </a:cubicBezTo>
                  <a:cubicBezTo>
                    <a:pt x="466" y="12697"/>
                    <a:pt x="599" y="12763"/>
                    <a:pt x="665" y="12763"/>
                  </a:cubicBezTo>
                  <a:cubicBezTo>
                    <a:pt x="865" y="12763"/>
                    <a:pt x="1064" y="12630"/>
                    <a:pt x="1197" y="12431"/>
                  </a:cubicBezTo>
                  <a:lnTo>
                    <a:pt x="7979" y="929"/>
                  </a:lnTo>
                  <a:cubicBezTo>
                    <a:pt x="8178" y="596"/>
                    <a:pt x="8112" y="264"/>
                    <a:pt x="7779" y="65"/>
                  </a:cubicBezTo>
                  <a:cubicBezTo>
                    <a:pt x="7695" y="22"/>
                    <a:pt x="7604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" name="Google Shape;21;p39"/>
            <p:cNvSpPr/>
            <p:nvPr/>
          </p:nvSpPr>
          <p:spPr>
            <a:xfrm>
              <a:off x="1489675" y="1955900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550" y="0"/>
                  </a:moveTo>
                  <a:cubicBezTo>
                    <a:pt x="7344" y="0"/>
                    <a:pt x="7137" y="118"/>
                    <a:pt x="7048" y="296"/>
                  </a:cubicBezTo>
                  <a:lnTo>
                    <a:pt x="200" y="11930"/>
                  </a:lnTo>
                  <a:cubicBezTo>
                    <a:pt x="1" y="12196"/>
                    <a:pt x="134" y="12529"/>
                    <a:pt x="400" y="12728"/>
                  </a:cubicBezTo>
                  <a:cubicBezTo>
                    <a:pt x="533" y="12795"/>
                    <a:pt x="599" y="12795"/>
                    <a:pt x="732" y="12795"/>
                  </a:cubicBezTo>
                  <a:cubicBezTo>
                    <a:pt x="932" y="12795"/>
                    <a:pt x="1131" y="12662"/>
                    <a:pt x="1197" y="12529"/>
                  </a:cubicBezTo>
                  <a:lnTo>
                    <a:pt x="8045" y="894"/>
                  </a:lnTo>
                  <a:cubicBezTo>
                    <a:pt x="8245" y="628"/>
                    <a:pt x="8112" y="229"/>
                    <a:pt x="7846" y="96"/>
                  </a:cubicBezTo>
                  <a:cubicBezTo>
                    <a:pt x="7757" y="30"/>
                    <a:pt x="7654" y="0"/>
                    <a:pt x="755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2" name="Google Shape;22;p39"/>
            <p:cNvSpPr/>
            <p:nvPr/>
          </p:nvSpPr>
          <p:spPr>
            <a:xfrm>
              <a:off x="1283575" y="2427050"/>
              <a:ext cx="133000" cy="197775"/>
            </a:xfrm>
            <a:custGeom>
              <a:avLst/>
              <a:gdLst/>
              <a:ahLst/>
              <a:cxnLst/>
              <a:rect l="l" t="t" r="r" b="b"/>
              <a:pathLst>
                <a:path w="5320" h="7911" extrusionOk="0">
                  <a:moveTo>
                    <a:pt x="4654" y="1"/>
                  </a:moveTo>
                  <a:cubicBezTo>
                    <a:pt x="4457" y="1"/>
                    <a:pt x="4259" y="104"/>
                    <a:pt x="4123" y="331"/>
                  </a:cubicBezTo>
                  <a:lnTo>
                    <a:pt x="200" y="6979"/>
                  </a:lnTo>
                  <a:cubicBezTo>
                    <a:pt x="1" y="7245"/>
                    <a:pt x="134" y="7644"/>
                    <a:pt x="400" y="7777"/>
                  </a:cubicBezTo>
                  <a:cubicBezTo>
                    <a:pt x="466" y="7844"/>
                    <a:pt x="599" y="7910"/>
                    <a:pt x="666" y="7910"/>
                  </a:cubicBezTo>
                  <a:cubicBezTo>
                    <a:pt x="865" y="7910"/>
                    <a:pt x="1064" y="7777"/>
                    <a:pt x="1197" y="7578"/>
                  </a:cubicBezTo>
                  <a:lnTo>
                    <a:pt x="5120" y="929"/>
                  </a:lnTo>
                  <a:cubicBezTo>
                    <a:pt x="5319" y="597"/>
                    <a:pt x="5253" y="265"/>
                    <a:pt x="4921" y="65"/>
                  </a:cubicBezTo>
                  <a:cubicBezTo>
                    <a:pt x="4836" y="23"/>
                    <a:pt x="4745" y="1"/>
                    <a:pt x="465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3" name="Google Shape;23;p39"/>
            <p:cNvSpPr/>
            <p:nvPr/>
          </p:nvSpPr>
          <p:spPr>
            <a:xfrm>
              <a:off x="1770575" y="1957550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695" y="1"/>
                  </a:moveTo>
                  <a:cubicBezTo>
                    <a:pt x="592" y="1"/>
                    <a:pt x="488" y="30"/>
                    <a:pt x="400" y="97"/>
                  </a:cubicBezTo>
                  <a:cubicBezTo>
                    <a:pt x="134" y="230"/>
                    <a:pt x="1" y="628"/>
                    <a:pt x="200" y="894"/>
                  </a:cubicBezTo>
                  <a:lnTo>
                    <a:pt x="6981" y="12463"/>
                  </a:lnTo>
                  <a:cubicBezTo>
                    <a:pt x="7114" y="12596"/>
                    <a:pt x="7314" y="12729"/>
                    <a:pt x="7513" y="12729"/>
                  </a:cubicBezTo>
                  <a:cubicBezTo>
                    <a:pt x="7580" y="12729"/>
                    <a:pt x="7713" y="12729"/>
                    <a:pt x="7779" y="12662"/>
                  </a:cubicBezTo>
                  <a:cubicBezTo>
                    <a:pt x="8112" y="12463"/>
                    <a:pt x="8178" y="12130"/>
                    <a:pt x="8045" y="11864"/>
                  </a:cubicBezTo>
                  <a:lnTo>
                    <a:pt x="1197" y="296"/>
                  </a:lnTo>
                  <a:cubicBezTo>
                    <a:pt x="1109" y="119"/>
                    <a:pt x="902" y="1"/>
                    <a:pt x="695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4" name="Google Shape;24;p39"/>
            <p:cNvSpPr/>
            <p:nvPr/>
          </p:nvSpPr>
          <p:spPr>
            <a:xfrm>
              <a:off x="1338425" y="2170300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661" y="1"/>
                  </a:moveTo>
                  <a:cubicBezTo>
                    <a:pt x="555" y="1"/>
                    <a:pt x="444" y="30"/>
                    <a:pt x="333" y="97"/>
                  </a:cubicBezTo>
                  <a:cubicBezTo>
                    <a:pt x="67" y="230"/>
                    <a:pt x="1" y="628"/>
                    <a:pt x="134" y="894"/>
                  </a:cubicBezTo>
                  <a:lnTo>
                    <a:pt x="1929" y="3953"/>
                  </a:lnTo>
                  <a:cubicBezTo>
                    <a:pt x="2062" y="4086"/>
                    <a:pt x="2261" y="4219"/>
                    <a:pt x="2461" y="4219"/>
                  </a:cubicBezTo>
                  <a:cubicBezTo>
                    <a:pt x="2527" y="4219"/>
                    <a:pt x="2660" y="4219"/>
                    <a:pt x="2727" y="4152"/>
                  </a:cubicBezTo>
                  <a:cubicBezTo>
                    <a:pt x="3059" y="3953"/>
                    <a:pt x="3125" y="3620"/>
                    <a:pt x="2926" y="3354"/>
                  </a:cubicBezTo>
                  <a:lnTo>
                    <a:pt x="1197" y="296"/>
                  </a:lnTo>
                  <a:cubicBezTo>
                    <a:pt x="1064" y="119"/>
                    <a:pt x="872" y="1"/>
                    <a:pt x="661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5" name="Google Shape;25;p39"/>
            <p:cNvSpPr/>
            <p:nvPr/>
          </p:nvSpPr>
          <p:spPr>
            <a:xfrm>
              <a:off x="1489675" y="2427050"/>
              <a:ext cx="206125" cy="320775"/>
            </a:xfrm>
            <a:custGeom>
              <a:avLst/>
              <a:gdLst/>
              <a:ahLst/>
              <a:cxnLst/>
              <a:rect l="l" t="t" r="r" b="b"/>
              <a:pathLst>
                <a:path w="8245" h="12831" extrusionOk="0">
                  <a:moveTo>
                    <a:pt x="680" y="1"/>
                  </a:moveTo>
                  <a:cubicBezTo>
                    <a:pt x="581" y="1"/>
                    <a:pt x="484" y="23"/>
                    <a:pt x="400" y="65"/>
                  </a:cubicBezTo>
                  <a:cubicBezTo>
                    <a:pt x="134" y="265"/>
                    <a:pt x="1" y="597"/>
                    <a:pt x="200" y="929"/>
                  </a:cubicBezTo>
                  <a:lnTo>
                    <a:pt x="7048" y="12498"/>
                  </a:lnTo>
                  <a:cubicBezTo>
                    <a:pt x="7181" y="12697"/>
                    <a:pt x="7381" y="12830"/>
                    <a:pt x="7580" y="12830"/>
                  </a:cubicBezTo>
                  <a:cubicBezTo>
                    <a:pt x="7646" y="12830"/>
                    <a:pt x="7779" y="12764"/>
                    <a:pt x="7846" y="12697"/>
                  </a:cubicBezTo>
                  <a:cubicBezTo>
                    <a:pt x="8112" y="12564"/>
                    <a:pt x="8245" y="12165"/>
                    <a:pt x="8045" y="11899"/>
                  </a:cubicBezTo>
                  <a:lnTo>
                    <a:pt x="1197" y="331"/>
                  </a:lnTo>
                  <a:cubicBezTo>
                    <a:pt x="1107" y="104"/>
                    <a:pt x="892" y="1"/>
                    <a:pt x="68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6" name="Google Shape;26;p39"/>
            <p:cNvSpPr/>
            <p:nvPr/>
          </p:nvSpPr>
          <p:spPr>
            <a:xfrm>
              <a:off x="1542875" y="2335575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" name="Google Shape;27;p39"/>
            <p:cNvSpPr/>
            <p:nvPr/>
          </p:nvSpPr>
          <p:spPr>
            <a:xfrm>
              <a:off x="2049825" y="2427525"/>
              <a:ext cx="204450" cy="320300"/>
            </a:xfrm>
            <a:custGeom>
              <a:avLst/>
              <a:gdLst/>
              <a:ahLst/>
              <a:cxnLst/>
              <a:rect l="l" t="t" r="r" b="b"/>
              <a:pathLst>
                <a:path w="8178" h="12812" extrusionOk="0">
                  <a:moveTo>
                    <a:pt x="699" y="0"/>
                  </a:moveTo>
                  <a:cubicBezTo>
                    <a:pt x="582" y="0"/>
                    <a:pt x="457" y="38"/>
                    <a:pt x="332" y="113"/>
                  </a:cubicBezTo>
                  <a:cubicBezTo>
                    <a:pt x="66" y="246"/>
                    <a:pt x="0" y="644"/>
                    <a:pt x="133" y="910"/>
                  </a:cubicBezTo>
                  <a:lnTo>
                    <a:pt x="6981" y="12479"/>
                  </a:lnTo>
                  <a:cubicBezTo>
                    <a:pt x="7114" y="12678"/>
                    <a:pt x="7313" y="12811"/>
                    <a:pt x="7513" y="12811"/>
                  </a:cubicBezTo>
                  <a:cubicBezTo>
                    <a:pt x="7579" y="12811"/>
                    <a:pt x="7712" y="12745"/>
                    <a:pt x="7779" y="12678"/>
                  </a:cubicBezTo>
                  <a:cubicBezTo>
                    <a:pt x="8111" y="12545"/>
                    <a:pt x="8178" y="12146"/>
                    <a:pt x="7978" y="11880"/>
                  </a:cubicBezTo>
                  <a:lnTo>
                    <a:pt x="1197" y="312"/>
                  </a:lnTo>
                  <a:cubicBezTo>
                    <a:pt x="1072" y="104"/>
                    <a:pt x="895" y="0"/>
                    <a:pt x="69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8" name="Google Shape;28;p39"/>
            <p:cNvSpPr/>
            <p:nvPr/>
          </p:nvSpPr>
          <p:spPr>
            <a:xfrm>
              <a:off x="1217100" y="2335575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" name="Google Shape;29;p39"/>
            <p:cNvSpPr/>
            <p:nvPr/>
          </p:nvSpPr>
          <p:spPr>
            <a:xfrm>
              <a:off x="1418200" y="2810950"/>
              <a:ext cx="222750" cy="29950"/>
            </a:xfrm>
            <a:custGeom>
              <a:avLst/>
              <a:gdLst/>
              <a:ahLst/>
              <a:cxnLst/>
              <a:rect l="l" t="t" r="r" b="b"/>
              <a:pathLst>
                <a:path w="8910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8311" y="1197"/>
                  </a:lnTo>
                  <a:cubicBezTo>
                    <a:pt x="8644" y="1197"/>
                    <a:pt x="8910" y="931"/>
                    <a:pt x="8910" y="599"/>
                  </a:cubicBezTo>
                  <a:cubicBezTo>
                    <a:pt x="8910" y="266"/>
                    <a:pt x="8644" y="0"/>
                    <a:pt x="831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" name="Google Shape;30;p39"/>
            <p:cNvSpPr/>
            <p:nvPr/>
          </p:nvSpPr>
          <p:spPr>
            <a:xfrm>
              <a:off x="1825425" y="2810950"/>
              <a:ext cx="375675" cy="29950"/>
            </a:xfrm>
            <a:custGeom>
              <a:avLst/>
              <a:gdLst/>
              <a:ahLst/>
              <a:cxnLst/>
              <a:rect l="l" t="t" r="r" b="b"/>
              <a:pathLst>
                <a:path w="15027" h="1198" extrusionOk="0">
                  <a:moveTo>
                    <a:pt x="599" y="0"/>
                  </a:moveTo>
                  <a:cubicBezTo>
                    <a:pt x="267" y="0"/>
                    <a:pt x="1" y="266"/>
                    <a:pt x="1" y="599"/>
                  </a:cubicBezTo>
                  <a:cubicBezTo>
                    <a:pt x="1" y="931"/>
                    <a:pt x="267" y="1197"/>
                    <a:pt x="599" y="1197"/>
                  </a:cubicBezTo>
                  <a:lnTo>
                    <a:pt x="14428" y="1197"/>
                  </a:lnTo>
                  <a:cubicBezTo>
                    <a:pt x="14760" y="1197"/>
                    <a:pt x="15026" y="931"/>
                    <a:pt x="15026" y="599"/>
                  </a:cubicBezTo>
                  <a:cubicBezTo>
                    <a:pt x="15026" y="266"/>
                    <a:pt x="14760" y="0"/>
                    <a:pt x="1442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" name="Google Shape;31;p39"/>
            <p:cNvSpPr/>
            <p:nvPr/>
          </p:nvSpPr>
          <p:spPr>
            <a:xfrm>
              <a:off x="249750" y="2102900"/>
              <a:ext cx="497000" cy="496975"/>
            </a:xfrm>
            <a:custGeom>
              <a:avLst/>
              <a:gdLst/>
              <a:ahLst/>
              <a:cxnLst/>
              <a:rect l="l" t="t" r="r" b="b"/>
              <a:pathLst>
                <a:path w="19880" h="19879" extrusionOk="0">
                  <a:moveTo>
                    <a:pt x="9907" y="0"/>
                  </a:moveTo>
                  <a:cubicBezTo>
                    <a:pt x="4455" y="0"/>
                    <a:pt x="0" y="4455"/>
                    <a:pt x="0" y="9906"/>
                  </a:cubicBezTo>
                  <a:cubicBezTo>
                    <a:pt x="0" y="15425"/>
                    <a:pt x="4455" y="19879"/>
                    <a:pt x="9907" y="19879"/>
                  </a:cubicBezTo>
                  <a:cubicBezTo>
                    <a:pt x="15425" y="19879"/>
                    <a:pt x="19879" y="15425"/>
                    <a:pt x="19879" y="9906"/>
                  </a:cubicBezTo>
                  <a:cubicBezTo>
                    <a:pt x="19879" y="4455"/>
                    <a:pt x="15425" y="0"/>
                    <a:pt x="990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" name="Google Shape;32;p39"/>
            <p:cNvSpPr/>
            <p:nvPr/>
          </p:nvSpPr>
          <p:spPr>
            <a:xfrm>
              <a:off x="816525" y="2169375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1"/>
                  </a:moveTo>
                  <a:cubicBezTo>
                    <a:pt x="3258" y="1"/>
                    <a:pt x="1" y="3258"/>
                    <a:pt x="1" y="7247"/>
                  </a:cubicBezTo>
                  <a:cubicBezTo>
                    <a:pt x="1" y="11303"/>
                    <a:pt x="3258" y="14561"/>
                    <a:pt x="7247" y="14561"/>
                  </a:cubicBezTo>
                  <a:cubicBezTo>
                    <a:pt x="11303" y="14561"/>
                    <a:pt x="14561" y="11303"/>
                    <a:pt x="14561" y="7247"/>
                  </a:cubicBezTo>
                  <a:cubicBezTo>
                    <a:pt x="14561" y="3258"/>
                    <a:pt x="11303" y="1"/>
                    <a:pt x="724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" name="Google Shape;33;p39"/>
            <p:cNvSpPr/>
            <p:nvPr/>
          </p:nvSpPr>
          <p:spPr>
            <a:xfrm>
              <a:off x="269700" y="2697925"/>
              <a:ext cx="255975" cy="256000"/>
            </a:xfrm>
            <a:custGeom>
              <a:avLst/>
              <a:gdLst/>
              <a:ahLst/>
              <a:cxnLst/>
              <a:rect l="l" t="t" r="r" b="b"/>
              <a:pathLst>
                <a:path w="10239" h="10240" extrusionOk="0">
                  <a:moveTo>
                    <a:pt x="5120" y="1"/>
                  </a:moveTo>
                  <a:cubicBezTo>
                    <a:pt x="2327" y="1"/>
                    <a:pt x="0" y="2327"/>
                    <a:pt x="0" y="5120"/>
                  </a:cubicBezTo>
                  <a:cubicBezTo>
                    <a:pt x="0" y="7912"/>
                    <a:pt x="2327" y="10239"/>
                    <a:pt x="5120" y="10239"/>
                  </a:cubicBezTo>
                  <a:cubicBezTo>
                    <a:pt x="7912" y="10239"/>
                    <a:pt x="10239" y="7912"/>
                    <a:pt x="10239" y="5120"/>
                  </a:cubicBezTo>
                  <a:cubicBezTo>
                    <a:pt x="10239" y="2327"/>
                    <a:pt x="7912" y="1"/>
                    <a:pt x="512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" name="Google Shape;34;p39"/>
            <p:cNvSpPr/>
            <p:nvPr/>
          </p:nvSpPr>
          <p:spPr>
            <a:xfrm>
              <a:off x="1069175" y="1780450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13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13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5" name="Google Shape;35;p39"/>
            <p:cNvSpPr/>
            <p:nvPr/>
          </p:nvSpPr>
          <p:spPr>
            <a:xfrm>
              <a:off x="1002675" y="2638100"/>
              <a:ext cx="377325" cy="377300"/>
            </a:xfrm>
            <a:custGeom>
              <a:avLst/>
              <a:gdLst/>
              <a:ahLst/>
              <a:cxnLst/>
              <a:rect l="l" t="t" r="r" b="b"/>
              <a:pathLst>
                <a:path w="15093" h="15092" extrusionOk="0">
                  <a:moveTo>
                    <a:pt x="7514" y="0"/>
                  </a:moveTo>
                  <a:cubicBezTo>
                    <a:pt x="3392" y="0"/>
                    <a:pt x="1" y="3324"/>
                    <a:pt x="1" y="7513"/>
                  </a:cubicBezTo>
                  <a:cubicBezTo>
                    <a:pt x="1" y="11701"/>
                    <a:pt x="3392" y="15092"/>
                    <a:pt x="7514" y="15092"/>
                  </a:cubicBezTo>
                  <a:cubicBezTo>
                    <a:pt x="11702" y="15092"/>
                    <a:pt x="15093" y="11701"/>
                    <a:pt x="15093" y="7513"/>
                  </a:cubicBezTo>
                  <a:cubicBezTo>
                    <a:pt x="15093" y="3324"/>
                    <a:pt x="11702" y="0"/>
                    <a:pt x="751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6" name="Google Shape;36;p39"/>
            <p:cNvSpPr/>
            <p:nvPr/>
          </p:nvSpPr>
          <p:spPr>
            <a:xfrm>
              <a:off x="650325" y="1820325"/>
              <a:ext cx="299200" cy="297550"/>
            </a:xfrm>
            <a:custGeom>
              <a:avLst/>
              <a:gdLst/>
              <a:ahLst/>
              <a:cxnLst/>
              <a:rect l="l" t="t" r="r" b="b"/>
              <a:pathLst>
                <a:path w="11968" h="11902" extrusionOk="0">
                  <a:moveTo>
                    <a:pt x="5984" y="1"/>
                  </a:moveTo>
                  <a:cubicBezTo>
                    <a:pt x="2660" y="1"/>
                    <a:pt x="0" y="2660"/>
                    <a:pt x="0" y="5918"/>
                  </a:cubicBezTo>
                  <a:cubicBezTo>
                    <a:pt x="0" y="9242"/>
                    <a:pt x="2660" y="11902"/>
                    <a:pt x="5984" y="11902"/>
                  </a:cubicBezTo>
                  <a:cubicBezTo>
                    <a:pt x="9241" y="11902"/>
                    <a:pt x="11967" y="9242"/>
                    <a:pt x="11967" y="5918"/>
                  </a:cubicBezTo>
                  <a:cubicBezTo>
                    <a:pt x="11967" y="2660"/>
                    <a:pt x="9241" y="1"/>
                    <a:pt x="5984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7" name="Google Shape;37;p39"/>
            <p:cNvSpPr/>
            <p:nvPr/>
          </p:nvSpPr>
          <p:spPr>
            <a:xfrm>
              <a:off x="612075" y="2676325"/>
              <a:ext cx="299225" cy="299200"/>
            </a:xfrm>
            <a:custGeom>
              <a:avLst/>
              <a:gdLst/>
              <a:ahLst/>
              <a:cxnLst/>
              <a:rect l="l" t="t" r="r" b="b"/>
              <a:pathLst>
                <a:path w="11969" h="11968" extrusionOk="0">
                  <a:moveTo>
                    <a:pt x="5985" y="0"/>
                  </a:moveTo>
                  <a:cubicBezTo>
                    <a:pt x="2727" y="0"/>
                    <a:pt x="1" y="2726"/>
                    <a:pt x="1" y="5984"/>
                  </a:cubicBezTo>
                  <a:cubicBezTo>
                    <a:pt x="1" y="9308"/>
                    <a:pt x="2727" y="11967"/>
                    <a:pt x="5985" y="11967"/>
                  </a:cubicBezTo>
                  <a:cubicBezTo>
                    <a:pt x="9309" y="11967"/>
                    <a:pt x="11968" y="9308"/>
                    <a:pt x="11968" y="5984"/>
                  </a:cubicBezTo>
                  <a:cubicBezTo>
                    <a:pt x="11968" y="2726"/>
                    <a:pt x="9309" y="0"/>
                    <a:pt x="598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" name="Google Shape;38;p39"/>
            <p:cNvSpPr/>
            <p:nvPr/>
          </p:nvSpPr>
          <p:spPr>
            <a:xfrm>
              <a:off x="1950075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5" y="0"/>
                    <a:pt x="1" y="1131"/>
                    <a:pt x="1" y="2460"/>
                  </a:cubicBezTo>
                  <a:cubicBezTo>
                    <a:pt x="1" y="3790"/>
                    <a:pt x="1065" y="4920"/>
                    <a:pt x="2461" y="4920"/>
                  </a:cubicBezTo>
                  <a:cubicBezTo>
                    <a:pt x="3791" y="4920"/>
                    <a:pt x="4921" y="3790"/>
                    <a:pt x="4921" y="2460"/>
                  </a:cubicBezTo>
                  <a:cubicBezTo>
                    <a:pt x="4921" y="1131"/>
                    <a:pt x="3791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9" name="Google Shape;39;p39"/>
            <p:cNvSpPr/>
            <p:nvPr/>
          </p:nvSpPr>
          <p:spPr>
            <a:xfrm>
              <a:off x="1389950" y="3239775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1" y="0"/>
                  </a:moveTo>
                  <a:cubicBezTo>
                    <a:pt x="1064" y="0"/>
                    <a:pt x="1" y="1131"/>
                    <a:pt x="1" y="2460"/>
                  </a:cubicBezTo>
                  <a:cubicBezTo>
                    <a:pt x="1" y="3790"/>
                    <a:pt x="1064" y="4920"/>
                    <a:pt x="2461" y="4920"/>
                  </a:cubicBezTo>
                  <a:cubicBezTo>
                    <a:pt x="3790" y="4920"/>
                    <a:pt x="4921" y="3790"/>
                    <a:pt x="4921" y="2460"/>
                  </a:cubicBezTo>
                  <a:cubicBezTo>
                    <a:pt x="4921" y="1131"/>
                    <a:pt x="3790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0" name="Google Shape;40;p39"/>
            <p:cNvSpPr/>
            <p:nvPr/>
          </p:nvSpPr>
          <p:spPr>
            <a:xfrm>
              <a:off x="1670850" y="3711800"/>
              <a:ext cx="123025" cy="123025"/>
            </a:xfrm>
            <a:custGeom>
              <a:avLst/>
              <a:gdLst/>
              <a:ahLst/>
              <a:cxnLst/>
              <a:rect l="l" t="t" r="r" b="b"/>
              <a:pathLst>
                <a:path w="4921" h="4921" extrusionOk="0">
                  <a:moveTo>
                    <a:pt x="2460" y="1"/>
                  </a:moveTo>
                  <a:cubicBezTo>
                    <a:pt x="1131" y="1"/>
                    <a:pt x="1" y="1131"/>
                    <a:pt x="1" y="2461"/>
                  </a:cubicBezTo>
                  <a:cubicBezTo>
                    <a:pt x="1" y="3790"/>
                    <a:pt x="1131" y="4921"/>
                    <a:pt x="2460" y="4921"/>
                  </a:cubicBezTo>
                  <a:cubicBezTo>
                    <a:pt x="3857" y="4921"/>
                    <a:pt x="4920" y="3790"/>
                    <a:pt x="4920" y="2461"/>
                  </a:cubicBezTo>
                  <a:cubicBezTo>
                    <a:pt x="4920" y="1131"/>
                    <a:pt x="3857" y="1"/>
                    <a:pt x="2460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1" name="Google Shape;41;p39"/>
            <p:cNvSpPr/>
            <p:nvPr/>
          </p:nvSpPr>
          <p:spPr>
            <a:xfrm>
              <a:off x="1459775" y="3758350"/>
              <a:ext cx="181175" cy="29950"/>
            </a:xfrm>
            <a:custGeom>
              <a:avLst/>
              <a:gdLst/>
              <a:ahLst/>
              <a:cxnLst/>
              <a:rect l="l" t="t" r="r" b="b"/>
              <a:pathLst>
                <a:path w="7247" h="1198" extrusionOk="0">
                  <a:moveTo>
                    <a:pt x="598" y="0"/>
                  </a:moveTo>
                  <a:cubicBezTo>
                    <a:pt x="266" y="0"/>
                    <a:pt x="0" y="266"/>
                    <a:pt x="0" y="599"/>
                  </a:cubicBezTo>
                  <a:cubicBezTo>
                    <a:pt x="0" y="931"/>
                    <a:pt x="266" y="1197"/>
                    <a:pt x="598" y="1197"/>
                  </a:cubicBezTo>
                  <a:lnTo>
                    <a:pt x="6648" y="1197"/>
                  </a:lnTo>
                  <a:cubicBezTo>
                    <a:pt x="6981" y="1197"/>
                    <a:pt x="7247" y="931"/>
                    <a:pt x="7247" y="599"/>
                  </a:cubicBezTo>
                  <a:cubicBezTo>
                    <a:pt x="7247" y="266"/>
                    <a:pt x="6981" y="0"/>
                    <a:pt x="6648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2" name="Google Shape;42;p39"/>
            <p:cNvSpPr/>
            <p:nvPr/>
          </p:nvSpPr>
          <p:spPr>
            <a:xfrm>
              <a:off x="1770575" y="2905700"/>
              <a:ext cx="204475" cy="317475"/>
            </a:xfrm>
            <a:custGeom>
              <a:avLst/>
              <a:gdLst/>
              <a:ahLst/>
              <a:cxnLst/>
              <a:rect l="l" t="t" r="r" b="b"/>
              <a:pathLst>
                <a:path w="8179" h="12699" extrusionOk="0">
                  <a:moveTo>
                    <a:pt x="665" y="0"/>
                  </a:moveTo>
                  <a:cubicBezTo>
                    <a:pt x="599" y="0"/>
                    <a:pt x="466" y="0"/>
                    <a:pt x="400" y="67"/>
                  </a:cubicBezTo>
                  <a:cubicBezTo>
                    <a:pt x="134" y="199"/>
                    <a:pt x="1" y="598"/>
                    <a:pt x="200" y="864"/>
                  </a:cubicBezTo>
                  <a:lnTo>
                    <a:pt x="6981" y="12433"/>
                  </a:lnTo>
                  <a:cubicBezTo>
                    <a:pt x="7114" y="12610"/>
                    <a:pt x="7307" y="12699"/>
                    <a:pt x="7499" y="12699"/>
                  </a:cubicBezTo>
                  <a:cubicBezTo>
                    <a:pt x="7595" y="12699"/>
                    <a:pt x="7691" y="12676"/>
                    <a:pt x="7779" y="12632"/>
                  </a:cubicBezTo>
                  <a:cubicBezTo>
                    <a:pt x="8112" y="12433"/>
                    <a:pt x="8178" y="12100"/>
                    <a:pt x="7979" y="11834"/>
                  </a:cubicBezTo>
                  <a:lnTo>
                    <a:pt x="1197" y="266"/>
                  </a:lnTo>
                  <a:cubicBezTo>
                    <a:pt x="1064" y="67"/>
                    <a:pt x="865" y="0"/>
                    <a:pt x="665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" name="Google Shape;43;p39"/>
            <p:cNvSpPr/>
            <p:nvPr/>
          </p:nvSpPr>
          <p:spPr>
            <a:xfrm>
              <a:off x="1489675" y="3376075"/>
              <a:ext cx="206125" cy="319875"/>
            </a:xfrm>
            <a:custGeom>
              <a:avLst/>
              <a:gdLst/>
              <a:ahLst/>
              <a:cxnLst/>
              <a:rect l="l" t="t" r="r" b="b"/>
              <a:pathLst>
                <a:path w="8245" h="12795" extrusionOk="0">
                  <a:moveTo>
                    <a:pt x="732" y="0"/>
                  </a:moveTo>
                  <a:cubicBezTo>
                    <a:pt x="599" y="0"/>
                    <a:pt x="533" y="67"/>
                    <a:pt x="400" y="67"/>
                  </a:cubicBezTo>
                  <a:cubicBezTo>
                    <a:pt x="134" y="266"/>
                    <a:pt x="1" y="598"/>
                    <a:pt x="200" y="931"/>
                  </a:cubicBezTo>
                  <a:lnTo>
                    <a:pt x="7048" y="12499"/>
                  </a:lnTo>
                  <a:cubicBezTo>
                    <a:pt x="7137" y="12676"/>
                    <a:pt x="7344" y="12795"/>
                    <a:pt x="7550" y="12795"/>
                  </a:cubicBezTo>
                  <a:cubicBezTo>
                    <a:pt x="7654" y="12795"/>
                    <a:pt x="7757" y="12765"/>
                    <a:pt x="7846" y="12699"/>
                  </a:cubicBezTo>
                  <a:cubicBezTo>
                    <a:pt x="8112" y="12566"/>
                    <a:pt x="8245" y="12167"/>
                    <a:pt x="8045" y="11901"/>
                  </a:cubicBezTo>
                  <a:lnTo>
                    <a:pt x="1197" y="332"/>
                  </a:lnTo>
                  <a:cubicBezTo>
                    <a:pt x="1131" y="133"/>
                    <a:pt x="932" y="0"/>
                    <a:pt x="732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" name="Google Shape;44;p39"/>
            <p:cNvSpPr/>
            <p:nvPr/>
          </p:nvSpPr>
          <p:spPr>
            <a:xfrm>
              <a:off x="1283575" y="3028675"/>
              <a:ext cx="133000" cy="196150"/>
            </a:xfrm>
            <a:custGeom>
              <a:avLst/>
              <a:gdLst/>
              <a:ahLst/>
              <a:cxnLst/>
              <a:rect l="l" t="t" r="r" b="b"/>
              <a:pathLst>
                <a:path w="5320" h="7846" extrusionOk="0">
                  <a:moveTo>
                    <a:pt x="666" y="1"/>
                  </a:moveTo>
                  <a:cubicBezTo>
                    <a:pt x="599" y="1"/>
                    <a:pt x="466" y="1"/>
                    <a:pt x="400" y="67"/>
                  </a:cubicBezTo>
                  <a:cubicBezTo>
                    <a:pt x="134" y="200"/>
                    <a:pt x="1" y="599"/>
                    <a:pt x="200" y="865"/>
                  </a:cubicBezTo>
                  <a:lnTo>
                    <a:pt x="4123" y="7580"/>
                  </a:lnTo>
                  <a:cubicBezTo>
                    <a:pt x="4256" y="7757"/>
                    <a:pt x="4448" y="7846"/>
                    <a:pt x="4640" y="7846"/>
                  </a:cubicBezTo>
                  <a:cubicBezTo>
                    <a:pt x="4736" y="7846"/>
                    <a:pt x="4832" y="7824"/>
                    <a:pt x="4921" y="7780"/>
                  </a:cubicBezTo>
                  <a:cubicBezTo>
                    <a:pt x="5253" y="7580"/>
                    <a:pt x="5319" y="7248"/>
                    <a:pt x="5120" y="6982"/>
                  </a:cubicBezTo>
                  <a:lnTo>
                    <a:pt x="1197" y="267"/>
                  </a:lnTo>
                  <a:cubicBezTo>
                    <a:pt x="1064" y="67"/>
                    <a:pt x="865" y="1"/>
                    <a:pt x="666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5" name="Google Shape;45;p39"/>
            <p:cNvSpPr/>
            <p:nvPr/>
          </p:nvSpPr>
          <p:spPr>
            <a:xfrm>
              <a:off x="1770575" y="3376075"/>
              <a:ext cx="204475" cy="318225"/>
            </a:xfrm>
            <a:custGeom>
              <a:avLst/>
              <a:gdLst/>
              <a:ahLst/>
              <a:cxnLst/>
              <a:rect l="l" t="t" r="r" b="b"/>
              <a:pathLst>
                <a:path w="8179" h="12729" extrusionOk="0">
                  <a:moveTo>
                    <a:pt x="7513" y="0"/>
                  </a:moveTo>
                  <a:cubicBezTo>
                    <a:pt x="7314" y="0"/>
                    <a:pt x="7114" y="133"/>
                    <a:pt x="6981" y="332"/>
                  </a:cubicBezTo>
                  <a:lnTo>
                    <a:pt x="200" y="11834"/>
                  </a:lnTo>
                  <a:cubicBezTo>
                    <a:pt x="1" y="12100"/>
                    <a:pt x="134" y="12499"/>
                    <a:pt x="400" y="12632"/>
                  </a:cubicBezTo>
                  <a:cubicBezTo>
                    <a:pt x="488" y="12699"/>
                    <a:pt x="592" y="12728"/>
                    <a:pt x="695" y="12728"/>
                  </a:cubicBezTo>
                  <a:cubicBezTo>
                    <a:pt x="902" y="12728"/>
                    <a:pt x="1109" y="12610"/>
                    <a:pt x="1197" y="12433"/>
                  </a:cubicBezTo>
                  <a:lnTo>
                    <a:pt x="8045" y="931"/>
                  </a:lnTo>
                  <a:cubicBezTo>
                    <a:pt x="8178" y="598"/>
                    <a:pt x="8112" y="266"/>
                    <a:pt x="7779" y="67"/>
                  </a:cubicBezTo>
                  <a:cubicBezTo>
                    <a:pt x="7713" y="67"/>
                    <a:pt x="7580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6" name="Google Shape;46;p39"/>
            <p:cNvSpPr/>
            <p:nvPr/>
          </p:nvSpPr>
          <p:spPr>
            <a:xfrm>
              <a:off x="1338425" y="3376075"/>
              <a:ext cx="78150" cy="105475"/>
            </a:xfrm>
            <a:custGeom>
              <a:avLst/>
              <a:gdLst/>
              <a:ahLst/>
              <a:cxnLst/>
              <a:rect l="l" t="t" r="r" b="b"/>
              <a:pathLst>
                <a:path w="3126" h="4219" extrusionOk="0">
                  <a:moveTo>
                    <a:pt x="2461" y="0"/>
                  </a:moveTo>
                  <a:cubicBezTo>
                    <a:pt x="2261" y="0"/>
                    <a:pt x="2062" y="133"/>
                    <a:pt x="1929" y="332"/>
                  </a:cubicBezTo>
                  <a:lnTo>
                    <a:pt x="134" y="3324"/>
                  </a:lnTo>
                  <a:cubicBezTo>
                    <a:pt x="1" y="3590"/>
                    <a:pt x="67" y="3989"/>
                    <a:pt x="333" y="4122"/>
                  </a:cubicBezTo>
                  <a:cubicBezTo>
                    <a:pt x="444" y="4189"/>
                    <a:pt x="555" y="4218"/>
                    <a:pt x="661" y="4218"/>
                  </a:cubicBezTo>
                  <a:cubicBezTo>
                    <a:pt x="872" y="4218"/>
                    <a:pt x="1064" y="4100"/>
                    <a:pt x="1197" y="3923"/>
                  </a:cubicBezTo>
                  <a:lnTo>
                    <a:pt x="2926" y="931"/>
                  </a:lnTo>
                  <a:cubicBezTo>
                    <a:pt x="3125" y="598"/>
                    <a:pt x="3059" y="266"/>
                    <a:pt x="2727" y="67"/>
                  </a:cubicBezTo>
                  <a:cubicBezTo>
                    <a:pt x="2660" y="67"/>
                    <a:pt x="2527" y="0"/>
                    <a:pt x="2461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7" name="Google Shape;47;p39"/>
            <p:cNvSpPr/>
            <p:nvPr/>
          </p:nvSpPr>
          <p:spPr>
            <a:xfrm>
              <a:off x="1489675" y="2905700"/>
              <a:ext cx="206125" cy="319125"/>
            </a:xfrm>
            <a:custGeom>
              <a:avLst/>
              <a:gdLst/>
              <a:ahLst/>
              <a:cxnLst/>
              <a:rect l="l" t="t" r="r" b="b"/>
              <a:pathLst>
                <a:path w="8245" h="12765" extrusionOk="0">
                  <a:moveTo>
                    <a:pt x="7580" y="0"/>
                  </a:moveTo>
                  <a:cubicBezTo>
                    <a:pt x="7381" y="0"/>
                    <a:pt x="7181" y="67"/>
                    <a:pt x="7048" y="266"/>
                  </a:cubicBezTo>
                  <a:lnTo>
                    <a:pt x="200" y="11901"/>
                  </a:lnTo>
                  <a:cubicBezTo>
                    <a:pt x="1" y="12167"/>
                    <a:pt x="134" y="12499"/>
                    <a:pt x="400" y="12699"/>
                  </a:cubicBezTo>
                  <a:cubicBezTo>
                    <a:pt x="488" y="12743"/>
                    <a:pt x="592" y="12765"/>
                    <a:pt x="695" y="12765"/>
                  </a:cubicBezTo>
                  <a:cubicBezTo>
                    <a:pt x="902" y="12765"/>
                    <a:pt x="1109" y="12676"/>
                    <a:pt x="1197" y="12499"/>
                  </a:cubicBezTo>
                  <a:lnTo>
                    <a:pt x="8045" y="864"/>
                  </a:lnTo>
                  <a:cubicBezTo>
                    <a:pt x="8245" y="598"/>
                    <a:pt x="8112" y="199"/>
                    <a:pt x="7846" y="67"/>
                  </a:cubicBezTo>
                  <a:cubicBezTo>
                    <a:pt x="7779" y="0"/>
                    <a:pt x="7646" y="0"/>
                    <a:pt x="7580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8" name="Google Shape;48;p39"/>
            <p:cNvSpPr/>
            <p:nvPr/>
          </p:nvSpPr>
          <p:spPr>
            <a:xfrm>
              <a:off x="1542875" y="3286300"/>
              <a:ext cx="375650" cy="29950"/>
            </a:xfrm>
            <a:custGeom>
              <a:avLst/>
              <a:gdLst/>
              <a:ahLst/>
              <a:cxnLst/>
              <a:rect l="l" t="t" r="r" b="b"/>
              <a:pathLst>
                <a:path w="15026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14427" y="1198"/>
                  </a:lnTo>
                  <a:cubicBezTo>
                    <a:pt x="14760" y="1198"/>
                    <a:pt x="15026" y="932"/>
                    <a:pt x="15026" y="599"/>
                  </a:cubicBezTo>
                  <a:cubicBezTo>
                    <a:pt x="15026" y="267"/>
                    <a:pt x="14760" y="1"/>
                    <a:pt x="1442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9" name="Google Shape;49;p39"/>
            <p:cNvSpPr/>
            <p:nvPr/>
          </p:nvSpPr>
          <p:spPr>
            <a:xfrm>
              <a:off x="2049825" y="2905700"/>
              <a:ext cx="204450" cy="319125"/>
            </a:xfrm>
            <a:custGeom>
              <a:avLst/>
              <a:gdLst/>
              <a:ahLst/>
              <a:cxnLst/>
              <a:rect l="l" t="t" r="r" b="b"/>
              <a:pathLst>
                <a:path w="8178" h="12765" extrusionOk="0">
                  <a:moveTo>
                    <a:pt x="7513" y="0"/>
                  </a:moveTo>
                  <a:cubicBezTo>
                    <a:pt x="7313" y="0"/>
                    <a:pt x="7114" y="67"/>
                    <a:pt x="6981" y="266"/>
                  </a:cubicBezTo>
                  <a:lnTo>
                    <a:pt x="133" y="11834"/>
                  </a:lnTo>
                  <a:cubicBezTo>
                    <a:pt x="0" y="12167"/>
                    <a:pt x="66" y="12499"/>
                    <a:pt x="332" y="12699"/>
                  </a:cubicBezTo>
                  <a:cubicBezTo>
                    <a:pt x="443" y="12743"/>
                    <a:pt x="554" y="12765"/>
                    <a:pt x="660" y="12765"/>
                  </a:cubicBezTo>
                  <a:cubicBezTo>
                    <a:pt x="872" y="12765"/>
                    <a:pt x="1064" y="12676"/>
                    <a:pt x="1197" y="12499"/>
                  </a:cubicBezTo>
                  <a:lnTo>
                    <a:pt x="7978" y="864"/>
                  </a:lnTo>
                  <a:cubicBezTo>
                    <a:pt x="8178" y="598"/>
                    <a:pt x="8111" y="199"/>
                    <a:pt x="7779" y="67"/>
                  </a:cubicBezTo>
                  <a:cubicBezTo>
                    <a:pt x="7712" y="0"/>
                    <a:pt x="7579" y="0"/>
                    <a:pt x="7513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0" name="Google Shape;50;p39"/>
            <p:cNvSpPr/>
            <p:nvPr/>
          </p:nvSpPr>
          <p:spPr>
            <a:xfrm>
              <a:off x="1217100" y="3286300"/>
              <a:ext cx="141300" cy="29950"/>
            </a:xfrm>
            <a:custGeom>
              <a:avLst/>
              <a:gdLst/>
              <a:ahLst/>
              <a:cxnLst/>
              <a:rect l="l" t="t" r="r" b="b"/>
              <a:pathLst>
                <a:path w="5652" h="1198" extrusionOk="0">
                  <a:moveTo>
                    <a:pt x="599" y="1"/>
                  </a:moveTo>
                  <a:cubicBezTo>
                    <a:pt x="266" y="1"/>
                    <a:pt x="0" y="267"/>
                    <a:pt x="0" y="599"/>
                  </a:cubicBezTo>
                  <a:cubicBezTo>
                    <a:pt x="0" y="932"/>
                    <a:pt x="266" y="1198"/>
                    <a:pt x="599" y="1198"/>
                  </a:cubicBezTo>
                  <a:lnTo>
                    <a:pt x="5053" y="1198"/>
                  </a:lnTo>
                  <a:cubicBezTo>
                    <a:pt x="5386" y="1198"/>
                    <a:pt x="5651" y="932"/>
                    <a:pt x="5651" y="599"/>
                  </a:cubicBezTo>
                  <a:cubicBezTo>
                    <a:pt x="5651" y="267"/>
                    <a:pt x="5386" y="1"/>
                    <a:pt x="5053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1" name="Google Shape;51;p39"/>
            <p:cNvSpPr/>
            <p:nvPr/>
          </p:nvSpPr>
          <p:spPr>
            <a:xfrm>
              <a:off x="249750" y="3051950"/>
              <a:ext cx="497000" cy="498650"/>
            </a:xfrm>
            <a:custGeom>
              <a:avLst/>
              <a:gdLst/>
              <a:ahLst/>
              <a:cxnLst/>
              <a:rect l="l" t="t" r="r" b="b"/>
              <a:pathLst>
                <a:path w="19880" h="19946" extrusionOk="0">
                  <a:moveTo>
                    <a:pt x="9907" y="1"/>
                  </a:moveTo>
                  <a:cubicBezTo>
                    <a:pt x="4455" y="1"/>
                    <a:pt x="0" y="4522"/>
                    <a:pt x="0" y="9973"/>
                  </a:cubicBezTo>
                  <a:cubicBezTo>
                    <a:pt x="0" y="15491"/>
                    <a:pt x="4455" y="19946"/>
                    <a:pt x="9907" y="19946"/>
                  </a:cubicBezTo>
                  <a:cubicBezTo>
                    <a:pt x="15425" y="19946"/>
                    <a:pt x="19879" y="15491"/>
                    <a:pt x="19879" y="9973"/>
                  </a:cubicBezTo>
                  <a:cubicBezTo>
                    <a:pt x="19879" y="4522"/>
                    <a:pt x="15425" y="1"/>
                    <a:pt x="9907" y="1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2" name="Google Shape;52;p39"/>
            <p:cNvSpPr/>
            <p:nvPr/>
          </p:nvSpPr>
          <p:spPr>
            <a:xfrm>
              <a:off x="816525" y="3120100"/>
              <a:ext cx="364025" cy="364025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47" y="0"/>
                  </a:moveTo>
                  <a:cubicBezTo>
                    <a:pt x="3258" y="0"/>
                    <a:pt x="1" y="3258"/>
                    <a:pt x="1" y="7247"/>
                  </a:cubicBezTo>
                  <a:cubicBezTo>
                    <a:pt x="1" y="11236"/>
                    <a:pt x="3258" y="14561"/>
                    <a:pt x="7247" y="14561"/>
                  </a:cubicBezTo>
                  <a:cubicBezTo>
                    <a:pt x="11303" y="14561"/>
                    <a:pt x="14561" y="11236"/>
                    <a:pt x="14561" y="7247"/>
                  </a:cubicBezTo>
                  <a:cubicBezTo>
                    <a:pt x="14561" y="3258"/>
                    <a:pt x="11303" y="0"/>
                    <a:pt x="7247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3" name="Google Shape;53;p39"/>
            <p:cNvSpPr/>
            <p:nvPr/>
          </p:nvSpPr>
          <p:spPr>
            <a:xfrm>
              <a:off x="1069175" y="3494075"/>
              <a:ext cx="377325" cy="377325"/>
            </a:xfrm>
            <a:custGeom>
              <a:avLst/>
              <a:gdLst/>
              <a:ahLst/>
              <a:cxnLst/>
              <a:rect l="l" t="t" r="r" b="b"/>
              <a:pathLst>
                <a:path w="15093" h="15093" extrusionOk="0">
                  <a:moveTo>
                    <a:pt x="7579" y="0"/>
                  </a:moveTo>
                  <a:cubicBezTo>
                    <a:pt x="3391" y="0"/>
                    <a:pt x="0" y="3391"/>
                    <a:pt x="0" y="7580"/>
                  </a:cubicBezTo>
                  <a:cubicBezTo>
                    <a:pt x="0" y="11702"/>
                    <a:pt x="3391" y="15092"/>
                    <a:pt x="7579" y="15092"/>
                  </a:cubicBezTo>
                  <a:cubicBezTo>
                    <a:pt x="11701" y="15092"/>
                    <a:pt x="15092" y="11702"/>
                    <a:pt x="15092" y="7580"/>
                  </a:cubicBezTo>
                  <a:cubicBezTo>
                    <a:pt x="15092" y="3391"/>
                    <a:pt x="11701" y="0"/>
                    <a:pt x="7579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4" name="Google Shape;54;p39"/>
            <p:cNvSpPr/>
            <p:nvPr/>
          </p:nvSpPr>
          <p:spPr>
            <a:xfrm>
              <a:off x="650325" y="3533975"/>
              <a:ext cx="299200" cy="299200"/>
            </a:xfrm>
            <a:custGeom>
              <a:avLst/>
              <a:gdLst/>
              <a:ahLst/>
              <a:cxnLst/>
              <a:rect l="l" t="t" r="r" b="b"/>
              <a:pathLst>
                <a:path w="11968" h="11968" extrusionOk="0">
                  <a:moveTo>
                    <a:pt x="5984" y="0"/>
                  </a:moveTo>
                  <a:cubicBezTo>
                    <a:pt x="2660" y="0"/>
                    <a:pt x="0" y="2659"/>
                    <a:pt x="0" y="5984"/>
                  </a:cubicBezTo>
                  <a:cubicBezTo>
                    <a:pt x="0" y="9241"/>
                    <a:pt x="2660" y="11967"/>
                    <a:pt x="5984" y="11967"/>
                  </a:cubicBezTo>
                  <a:cubicBezTo>
                    <a:pt x="9241" y="11967"/>
                    <a:pt x="11967" y="9241"/>
                    <a:pt x="11967" y="5984"/>
                  </a:cubicBezTo>
                  <a:cubicBezTo>
                    <a:pt x="11967" y="2659"/>
                    <a:pt x="9241" y="0"/>
                    <a:pt x="5984" y="0"/>
                  </a:cubicBezTo>
                  <a:close/>
                </a:path>
              </a:pathLst>
            </a:custGeom>
            <a:solidFill>
              <a:srgbClr val="662E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461">
          <p15:clr>
            <a:srgbClr val="E46962"/>
          </p15:clr>
        </p15:guide>
        <p15:guide id="2" orient="horz" pos="3002">
          <p15:clr>
            <a:srgbClr val="E46962"/>
          </p15:clr>
        </p15:guide>
        <p15:guide id="3" pos="4331">
          <p15:clr>
            <a:srgbClr val="E46962"/>
          </p15:clr>
        </p15:guide>
        <p15:guide id="4" pos="4217">
          <p15:clr>
            <a:srgbClr val="E46962"/>
          </p15:clr>
        </p15:guide>
        <p15:guide id="5" pos="3087">
          <p15:clr>
            <a:srgbClr val="E46962"/>
          </p15:clr>
        </p15:guide>
        <p15:guide id="6" pos="2974">
          <p15:clr>
            <a:srgbClr val="E46962"/>
          </p15:clr>
        </p15:guide>
        <p15:guide id="7" pos="1844">
          <p15:clr>
            <a:srgbClr val="E46962"/>
          </p15:clr>
        </p15:guide>
        <p15:guide id="8" pos="1731">
          <p15:clr>
            <a:srgbClr val="E46962"/>
          </p15:clr>
        </p15:guide>
        <p15:guide id="9" pos="601">
          <p15:clr>
            <a:srgbClr val="E46962"/>
          </p15:clr>
        </p15:guide>
        <p15:guide id="10" pos="299">
          <p15:clr>
            <a:srgbClr val="E46962"/>
          </p15:clr>
        </p15:guide>
        <p15:guide id="11" orient="horz" pos="240">
          <p15:clr>
            <a:srgbClr val="E46962"/>
          </p15:clr>
        </p15:guide>
        <p15:guide id="12" orient="horz" pos="946">
          <p15:clr>
            <a:srgbClr val="E46962"/>
          </p15:clr>
        </p15:guide>
        <p15:guide id="13" orient="horz" pos="1025">
          <p15:clr>
            <a:srgbClr val="E46962"/>
          </p15:clr>
        </p15:guide>
        <p15:guide id="14" pos="1788">
          <p15:clr>
            <a:srgbClr val="E46962"/>
          </p15:clr>
        </p15:guide>
        <p15:guide id="15" pos="3031">
          <p15:clr>
            <a:srgbClr val="E46962"/>
          </p15:clr>
        </p15:guide>
        <p15:guide id="16" pos="427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4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4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53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"/>
          <p:cNvSpPr txBox="1">
            <a:spLocks noGrp="1"/>
          </p:cNvSpPr>
          <p:nvPr>
            <p:ph type="ctrTitle"/>
          </p:nvPr>
        </p:nvSpPr>
        <p:spPr>
          <a:xfrm>
            <a:off x="588936" y="1036863"/>
            <a:ext cx="8152108" cy="153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Multilingual Multicultural LLMs Tutorial</a:t>
            </a:r>
            <a:r>
              <a:rPr lang="en-US" sz="2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800" b="1" dirty="0"/>
              <a:t>Culture beyond words: multimodal and multicultural LLMs</a:t>
            </a:r>
            <a:endParaRPr lang="en-US" sz="3200" b="1" dirty="0"/>
          </a:p>
        </p:txBody>
      </p:sp>
      <p:sp>
        <p:nvSpPr>
          <p:cNvPr id="951" name="Google Shape;951;p1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2" name="Google Shape;952;p1">
            <a:extLst>
              <a:ext uri="{FF2B5EF4-FFF2-40B4-BE49-F238E27FC236}">
                <a16:creationId xmlns:a16="http://schemas.microsoft.com/office/drawing/2014/main" id="{78DB92C0-91F7-E12C-3C3A-2BA0C8900047}"/>
              </a:ext>
            </a:extLst>
          </p:cNvPr>
          <p:cNvSpPr txBox="1"/>
          <p:nvPr/>
        </p:nvSpPr>
        <p:spPr>
          <a:xfrm>
            <a:off x="1441837" y="4308660"/>
            <a:ext cx="579664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800" b="1" dirty="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EMNLP 2026 Tutorial</a:t>
            </a:r>
          </a:p>
        </p:txBody>
      </p:sp>
      <p:pic>
        <p:nvPicPr>
          <p:cNvPr id="4" name="Picture 3" descr="A red and black logo&#10;&#10;AI-generated content may be incorrect.">
            <a:extLst>
              <a:ext uri="{FF2B5EF4-FFF2-40B4-BE49-F238E27FC236}">
                <a16:creationId xmlns:a16="http://schemas.microsoft.com/office/drawing/2014/main" id="{DE353959-35C3-4CA9-F279-C4DE11713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872" y="345025"/>
            <a:ext cx="1384100" cy="499569"/>
          </a:xfrm>
          <a:prstGeom prst="rect">
            <a:avLst/>
          </a:prstGeom>
        </p:spPr>
      </p:pic>
      <p:pic>
        <p:nvPicPr>
          <p:cNvPr id="6" name="Picture 5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E50F5E35-8896-7F0E-DCC4-E1223EC8E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908" y="323784"/>
            <a:ext cx="1880506" cy="5390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73811A-18DE-35ED-55DF-87204408DB2C}"/>
              </a:ext>
            </a:extLst>
          </p:cNvPr>
          <p:cNvSpPr txBox="1"/>
          <p:nvPr/>
        </p:nvSpPr>
        <p:spPr>
          <a:xfrm>
            <a:off x="7796893" y="4612511"/>
            <a:ext cx="1098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28-10-2026</a:t>
            </a:r>
          </a:p>
        </p:txBody>
      </p:sp>
      <p:sp>
        <p:nvSpPr>
          <p:cNvPr id="8" name="Google Shape;956;p33">
            <a:extLst>
              <a:ext uri="{FF2B5EF4-FFF2-40B4-BE49-F238E27FC236}">
                <a16:creationId xmlns:a16="http://schemas.microsoft.com/office/drawing/2014/main" id="{920D103D-1B8E-756B-D9EF-509A3758C93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46129" y="3139730"/>
            <a:ext cx="7675650" cy="9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David </a:t>
            </a:r>
            <a:r>
              <a:rPr lang="fr" dirty="0" err="1"/>
              <a:t>Ifeoluwa</a:t>
            </a:r>
            <a:r>
              <a:rPr lang="fr" dirty="0"/>
              <a:t> </a:t>
            </a:r>
            <a:r>
              <a:rPr lang="fr" dirty="0" err="1"/>
              <a:t>Adelani</a:t>
            </a:r>
            <a:endParaRPr lang="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Assistant Professor, McGill </a:t>
            </a:r>
            <a:r>
              <a:rPr lang="fr" dirty="0" err="1"/>
              <a:t>University</a:t>
            </a:r>
            <a:r>
              <a:rPr lang="fr" dirty="0"/>
              <a:t>, Mila &amp; Canada CIFAR AI Chair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56">
          <a:extLst>
            <a:ext uri="{FF2B5EF4-FFF2-40B4-BE49-F238E27FC236}">
              <a16:creationId xmlns:a16="http://schemas.microsoft.com/office/drawing/2014/main" id="{943DDF14-2133-7661-99BF-D87D0A971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2">
            <a:extLst>
              <a:ext uri="{FF2B5EF4-FFF2-40B4-BE49-F238E27FC236}">
                <a16:creationId xmlns:a16="http://schemas.microsoft.com/office/drawing/2014/main" id="{E7F72C36-712A-7C27-6C47-F77875E3BE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80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0B1979-845A-BD8A-405F-7CB542FC2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02" y="1643605"/>
            <a:ext cx="8063447" cy="28440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EF1B23-9A54-383A-B1A7-A3B37F98E66A}"/>
              </a:ext>
            </a:extLst>
          </p:cNvPr>
          <p:cNvSpPr txBox="1"/>
          <p:nvPr/>
        </p:nvSpPr>
        <p:spPr>
          <a:xfrm>
            <a:off x="1817224" y="777874"/>
            <a:ext cx="60998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Multilingual &amp; Multicultural LLMs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7822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34"/>
          <p:cNvSpPr txBox="1">
            <a:spLocks noGrp="1"/>
          </p:cNvSpPr>
          <p:nvPr>
            <p:ph type="title"/>
          </p:nvPr>
        </p:nvSpPr>
        <p:spPr>
          <a:xfrm>
            <a:off x="608777" y="218418"/>
            <a:ext cx="8431856" cy="5724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Are LLMs Multicultural and In which language?</a:t>
            </a:r>
            <a:endParaRPr sz="2800" dirty="0"/>
          </a:p>
        </p:txBody>
      </p:sp>
      <p:sp>
        <p:nvSpPr>
          <p:cNvPr id="964" name="Google Shape;964;p34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61122F-50EA-B417-643F-B759D2B7FFAA}"/>
              </a:ext>
            </a:extLst>
          </p:cNvPr>
          <p:cNvSpPr txBox="1"/>
          <p:nvPr/>
        </p:nvSpPr>
        <p:spPr>
          <a:xfrm>
            <a:off x="608777" y="1015089"/>
            <a:ext cx="437809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Great improvement in Language Models like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GPT-5, Gemini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7DD7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LLMs trained largely on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DD7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English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7DD7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and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DD7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 more resourced languages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7DD7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but may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misrepresent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diverse cultures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2D6977-529A-9F0D-FAD8-5B71D1072EDB}"/>
              </a:ext>
            </a:extLst>
          </p:cNvPr>
          <p:cNvSpPr txBox="1"/>
          <p:nvPr/>
        </p:nvSpPr>
        <p:spPr>
          <a:xfrm>
            <a:off x="5244219" y="841810"/>
            <a:ext cx="32910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How about other languages ? E.g. Yoruba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CB4CC6-698E-7046-2E4D-C4B250823F52}"/>
              </a:ext>
            </a:extLst>
          </p:cNvPr>
          <p:cNvSpPr txBox="1"/>
          <p:nvPr/>
        </p:nvSpPr>
        <p:spPr>
          <a:xfrm>
            <a:off x="6086168" y="1168977"/>
            <a:ext cx="28782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reasoning and cultural understanding</a:t>
            </a:r>
            <a:r>
              <a:rPr kumimoji="0" lang="en-US" sz="1100" b="0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 is worse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Work Sans" pitchFamily="2" charset="77"/>
              <a:ea typeface="+mn-ea"/>
              <a:cs typeface="+mn-cs"/>
            </a:endParaRPr>
          </a:p>
        </p:txBody>
      </p:sp>
      <p:pic>
        <p:nvPicPr>
          <p:cNvPr id="10" name="Picture 9" descr="A person in traditional attire walking on a sidewalk&#10;&#10;AI-generated content may be incorrect.">
            <a:extLst>
              <a:ext uri="{FF2B5EF4-FFF2-40B4-BE49-F238E27FC236}">
                <a16:creationId xmlns:a16="http://schemas.microsoft.com/office/drawing/2014/main" id="{98093175-FF7C-FC0E-DA56-7108F896FF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64" t="13913" r="19131"/>
          <a:stretch>
            <a:fillRect/>
          </a:stretch>
        </p:blipFill>
        <p:spPr>
          <a:xfrm>
            <a:off x="4209034" y="1868589"/>
            <a:ext cx="1199460" cy="25205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DFEF26-61A7-B90A-6EDA-D0322F8396EE}"/>
              </a:ext>
            </a:extLst>
          </p:cNvPr>
          <p:cNvSpPr txBox="1"/>
          <p:nvPr/>
        </p:nvSpPr>
        <p:spPr>
          <a:xfrm>
            <a:off x="4411940" y="4418900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Aṣọ</a:t>
            </a:r>
            <a:r>
              <a:rPr lang="en-US" dirty="0"/>
              <a:t> </a:t>
            </a:r>
            <a:r>
              <a:rPr lang="en-US" dirty="0" err="1"/>
              <a:t>òkè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E8A9F3-A5D6-F513-9D37-592EB88069FD}"/>
              </a:ext>
            </a:extLst>
          </p:cNvPr>
          <p:cNvSpPr txBox="1"/>
          <p:nvPr/>
        </p:nvSpPr>
        <p:spPr>
          <a:xfrm>
            <a:off x="2170957" y="4823287"/>
            <a:ext cx="40761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https://www.springers24.com/top-</a:t>
            </a:r>
            <a:r>
              <a:rPr lang="en-US" sz="1050" dirty="0" err="1"/>
              <a:t>asooke</a:t>
            </a:r>
            <a:r>
              <a:rPr lang="en-US" sz="1050" dirty="0"/>
              <a:t>-styles-for-agbada-men/</a:t>
            </a:r>
          </a:p>
        </p:txBody>
      </p:sp>
      <p:pic>
        <p:nvPicPr>
          <p:cNvPr id="15" name="Picture 14" descr="A screenshot of a chat&#10;&#10;AI-generated content may be incorrect.">
            <a:extLst>
              <a:ext uri="{FF2B5EF4-FFF2-40B4-BE49-F238E27FC236}">
                <a16:creationId xmlns:a16="http://schemas.microsoft.com/office/drawing/2014/main" id="{31EF164D-4332-8B1D-6168-AEB593F3B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3864" y="1950289"/>
            <a:ext cx="3466769" cy="1856913"/>
          </a:xfrm>
          <a:prstGeom prst="rect">
            <a:avLst/>
          </a:prstGeom>
        </p:spPr>
      </p:pic>
      <p:pic>
        <p:nvPicPr>
          <p:cNvPr id="17" name="Picture 16" descr="A screenshot of a phone&#10;&#10;AI-generated content may be incorrect.">
            <a:extLst>
              <a:ext uri="{FF2B5EF4-FFF2-40B4-BE49-F238E27FC236}">
                <a16:creationId xmlns:a16="http://schemas.microsoft.com/office/drawing/2014/main" id="{B822E0E1-E591-E8F9-DAE3-ACB714B912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6691"/>
          <a:stretch>
            <a:fillRect/>
          </a:stretch>
        </p:blipFill>
        <p:spPr>
          <a:xfrm>
            <a:off x="542583" y="1868589"/>
            <a:ext cx="3584877" cy="134794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F7E0367-B6F5-8946-F323-10A8C6F289A2}"/>
              </a:ext>
            </a:extLst>
          </p:cNvPr>
          <p:cNvSpPr/>
          <p:nvPr/>
        </p:nvSpPr>
        <p:spPr>
          <a:xfrm>
            <a:off x="5559124" y="3325386"/>
            <a:ext cx="3481510" cy="578426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A5863B1B-C548-517F-5406-B92665D227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3895"/>
          <a:stretch>
            <a:fillRect/>
          </a:stretch>
        </p:blipFill>
        <p:spPr>
          <a:xfrm>
            <a:off x="541472" y="3202390"/>
            <a:ext cx="3584877" cy="48000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8172999-D9CD-C668-33C8-F1D2DB935D04}"/>
              </a:ext>
            </a:extLst>
          </p:cNvPr>
          <p:cNvSpPr/>
          <p:nvPr/>
        </p:nvSpPr>
        <p:spPr>
          <a:xfrm>
            <a:off x="539862" y="3144401"/>
            <a:ext cx="3584877" cy="578426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F31016-C2A1-7332-EC8B-EBEEF6206F4A}"/>
              </a:ext>
            </a:extLst>
          </p:cNvPr>
          <p:cNvSpPr txBox="1"/>
          <p:nvPr/>
        </p:nvSpPr>
        <p:spPr>
          <a:xfrm>
            <a:off x="6889720" y="3959162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GlobalPIQA</a:t>
            </a:r>
            <a:endParaRPr lang="en-US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FB7BE6F-46EC-0628-1F4E-BDC9127C50E8}"/>
              </a:ext>
            </a:extLst>
          </p:cNvPr>
          <p:cNvSpPr/>
          <p:nvPr/>
        </p:nvSpPr>
        <p:spPr>
          <a:xfrm>
            <a:off x="754561" y="3827275"/>
            <a:ext cx="3099809" cy="86466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/>
              <a:t>Does prompting with Image give better cultural evaluation?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1" grpId="0"/>
      <p:bldP spid="13" grpId="0"/>
      <p:bldP spid="19" grpId="0" animBg="1"/>
      <p:bldP spid="21" grpId="0" animBg="1"/>
      <p:bldP spid="22" grpId="0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>
          <a:extLst>
            <a:ext uri="{FF2B5EF4-FFF2-40B4-BE49-F238E27FC236}">
              <a16:creationId xmlns:a16="http://schemas.microsoft.com/office/drawing/2014/main" id="{5736D2B1-2646-6E88-018C-AEB5F2E54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36">
            <a:extLst>
              <a:ext uri="{FF2B5EF4-FFF2-40B4-BE49-F238E27FC236}">
                <a16:creationId xmlns:a16="http://schemas.microsoft.com/office/drawing/2014/main" id="{E6928670-BEF2-FA32-7D1E-4543942A32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dirty="0"/>
              <a:t>But, Multilingual ≠ Multicultural</a:t>
            </a:r>
            <a:endParaRPr dirty="0"/>
          </a:p>
        </p:txBody>
      </p:sp>
      <p:pic>
        <p:nvPicPr>
          <p:cNvPr id="6" name="Picture 5" descr="A close up of text&#10;&#10;AI-generated content may be incorrect.">
            <a:extLst>
              <a:ext uri="{FF2B5EF4-FFF2-40B4-BE49-F238E27FC236}">
                <a16:creationId xmlns:a16="http://schemas.microsoft.com/office/drawing/2014/main" id="{3523E55B-DB71-735C-D264-DC67DE090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954" y="999969"/>
            <a:ext cx="2739571" cy="8685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FD2350-DA4F-D19C-D683-38B7257F5D1C}"/>
              </a:ext>
            </a:extLst>
          </p:cNvPr>
          <p:cNvSpPr txBox="1"/>
          <p:nvPr/>
        </p:nvSpPr>
        <p:spPr>
          <a:xfrm>
            <a:off x="5124163" y="747385"/>
            <a:ext cx="37273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Problem</a:t>
            </a:r>
            <a:r>
              <a:rPr lang="en-US" sz="1200" dirty="0">
                <a:solidFill>
                  <a:schemeClr val="tx1"/>
                </a:solidFill>
              </a:rPr>
              <a:t>: MT models mistranslate cultural greetings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1B3BF7-473F-CCEA-FB36-F8F5CCE2F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562" y="1050521"/>
            <a:ext cx="4540818" cy="7955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5256B2-F772-DDC6-E9F8-70E4ED5BA4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601" y="2208837"/>
            <a:ext cx="4276739" cy="10224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E9126F-C3BA-348D-FC54-536FFD4795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0953" y="2244516"/>
            <a:ext cx="2739571" cy="12556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1EDD3B6-D535-C4E5-2FCB-9EDB20D2E147}"/>
              </a:ext>
            </a:extLst>
          </p:cNvPr>
          <p:cNvSpPr txBox="1"/>
          <p:nvPr/>
        </p:nvSpPr>
        <p:spPr>
          <a:xfrm>
            <a:off x="5214975" y="2016346"/>
            <a:ext cx="2688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Problem</a:t>
            </a:r>
            <a:r>
              <a:rPr lang="en-US" sz="1200" dirty="0">
                <a:solidFill>
                  <a:schemeClr val="tx1"/>
                </a:solidFill>
              </a:rPr>
              <a:t>: LLMs are Western-centric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B0965A-383A-B270-81A9-14F776AE9986}"/>
              </a:ext>
            </a:extLst>
          </p:cNvPr>
          <p:cNvSpPr txBox="1"/>
          <p:nvPr/>
        </p:nvSpPr>
        <p:spPr>
          <a:xfrm>
            <a:off x="4978532" y="3545483"/>
            <a:ext cx="42001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Problem</a:t>
            </a:r>
            <a:r>
              <a:rPr lang="en-US" sz="1200" dirty="0">
                <a:solidFill>
                  <a:schemeClr val="tx1"/>
                </a:solidFill>
              </a:rPr>
              <a:t>: Answering same questions in multiple languages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7E3FD05-B91C-7347-9B52-6140094965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602" y="3747401"/>
            <a:ext cx="4304930" cy="95532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AC60758-8474-CDA9-A8C9-9081722DC8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17272" y="3792731"/>
            <a:ext cx="3522707" cy="864664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D212E31-BD54-2021-14A3-95AD2926CE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A843AD7-8EAD-D3B4-EBB9-4404FB088E09}"/>
              </a:ext>
            </a:extLst>
          </p:cNvPr>
          <p:cNvSpPr/>
          <p:nvPr/>
        </p:nvSpPr>
        <p:spPr>
          <a:xfrm>
            <a:off x="1874727" y="3747401"/>
            <a:ext cx="5394546" cy="86466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/>
              <a:t>We need </a:t>
            </a:r>
            <a:r>
              <a:rPr lang="en-US" sz="1600" b="1" i="1" dirty="0"/>
              <a:t>benchmarks</a:t>
            </a:r>
            <a:r>
              <a:rPr lang="en-US" sz="1600" i="1" dirty="0"/>
              <a:t> to evaluate LLM competencies</a:t>
            </a:r>
          </a:p>
        </p:txBody>
      </p:sp>
    </p:spTree>
    <p:extLst>
      <p:ext uri="{BB962C8B-B14F-4D97-AF65-F5344CB8AC3E}">
        <p14:creationId xmlns:p14="http://schemas.microsoft.com/office/powerpoint/2010/main" val="2155012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2C7BDB6E-C5E2-8250-8895-97DF75448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">
            <a:extLst>
              <a:ext uri="{FF2B5EF4-FFF2-40B4-BE49-F238E27FC236}">
                <a16:creationId xmlns:a16="http://schemas.microsoft.com/office/drawing/2014/main" id="{9FD885CB-E44D-55A9-AD89-76D8A7A26A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800" dirty="0"/>
              <a:t>Agenda</a:t>
            </a:r>
          </a:p>
        </p:txBody>
      </p:sp>
      <p:sp>
        <p:nvSpPr>
          <p:cNvPr id="960" name="Google Shape;960;p2">
            <a:extLst>
              <a:ext uri="{FF2B5EF4-FFF2-40B4-BE49-F238E27FC236}">
                <a16:creationId xmlns:a16="http://schemas.microsoft.com/office/drawing/2014/main" id="{F9BF20E4-5AAB-9E5B-8139-4527F133BD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80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800"/>
          </a:p>
        </p:txBody>
      </p:sp>
      <p:sp>
        <p:nvSpPr>
          <p:cNvPr id="3" name="Google Shape;958;p2">
            <a:extLst>
              <a:ext uri="{FF2B5EF4-FFF2-40B4-BE49-F238E27FC236}">
                <a16:creationId xmlns:a16="http://schemas.microsoft.com/office/drawing/2014/main" id="{A359A62F-EDDD-C993-DB7F-16A58346C3CD}"/>
              </a:ext>
            </a:extLst>
          </p:cNvPr>
          <p:cNvSpPr txBox="1"/>
          <p:nvPr/>
        </p:nvSpPr>
        <p:spPr>
          <a:xfrm>
            <a:off x="622435" y="982685"/>
            <a:ext cx="7894799" cy="3369396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t" anchorCtr="0">
            <a:norm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/>
                </a:solidFill>
                <a:latin typeface="Work Sans" pitchFamily="2" charset="77"/>
              </a:rPr>
              <a:t>Multilingual benchmarks:</a:t>
            </a:r>
          </a:p>
          <a:p>
            <a:pPr marL="873125" indent="-285750">
              <a:spcAft>
                <a:spcPts val="900"/>
              </a:spcAft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  <a:latin typeface="Work Sans" pitchFamily="2" charset="77"/>
              </a:rPr>
              <a:t>Localizing named entities</a:t>
            </a:r>
          </a:p>
          <a:p>
            <a:pPr marL="873125" indent="-285750">
              <a:spcAft>
                <a:spcPts val="900"/>
              </a:spcAft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  <a:latin typeface="Work Sans" pitchFamily="2" charset="77"/>
              </a:rPr>
              <a:t>Assessing knowledge</a:t>
            </a:r>
          </a:p>
          <a:p>
            <a:pPr marL="873125" indent="-285750">
              <a:spcAft>
                <a:spcPts val="900"/>
              </a:spcAft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  <a:latin typeface="Work Sans" pitchFamily="2" charset="77"/>
              </a:rPr>
              <a:t>Examining cultural biases and stereotypes</a:t>
            </a:r>
          </a:p>
          <a:p>
            <a:pPr marL="873125" indent="-285750">
              <a:spcAft>
                <a:spcPts val="900"/>
              </a:spcAft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  <a:latin typeface="Work Sans" pitchFamily="2" charset="77"/>
              </a:rPr>
              <a:t>Evaluating cultural values and social norms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/>
                </a:solidFill>
                <a:latin typeface="Work Sans" pitchFamily="2" charset="77"/>
              </a:rPr>
              <a:t>Multimodal benchmarks</a:t>
            </a:r>
          </a:p>
          <a:p>
            <a:pPr marL="873125" lvl="1" indent="-285750">
              <a:spcAft>
                <a:spcPts val="900"/>
              </a:spcAft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  <a:latin typeface="Work Sans" pitchFamily="2" charset="77"/>
              </a:rPr>
              <a:t>Text + Image</a:t>
            </a:r>
          </a:p>
          <a:p>
            <a:pPr marL="873125" lvl="1" indent="-285750">
              <a:spcAft>
                <a:spcPts val="900"/>
              </a:spcAft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  <a:latin typeface="Work Sans" pitchFamily="2" charset="77"/>
              </a:rPr>
              <a:t>Text + image or voice + image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/>
                </a:solidFill>
                <a:latin typeface="Work Sans" pitchFamily="2" charset="77"/>
              </a:rPr>
              <a:t>Consideration when developing Multicultural benchmarks</a:t>
            </a:r>
          </a:p>
          <a:p>
            <a:pPr marL="587375" lvl="1">
              <a:spcAft>
                <a:spcPts val="900"/>
              </a:spcAft>
            </a:pPr>
            <a:endParaRPr lang="en-GB" b="1" dirty="0">
              <a:solidFill>
                <a:schemeClr val="tx1"/>
              </a:solidFill>
              <a:latin typeface="Work Sans" pitchFamily="2" charset="77"/>
            </a:endParaRP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  <a:latin typeface="Work Sans" pitchFamily="2" charset="77"/>
            </a:endParaRP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endParaRPr lang="en-CA" dirty="0">
              <a:solidFill>
                <a:schemeClr val="tx1"/>
              </a:solidFill>
              <a:latin typeface="Work Sans" pitchFamily="2" charset="7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9060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3">
          <a:extLst>
            <a:ext uri="{FF2B5EF4-FFF2-40B4-BE49-F238E27FC236}">
              <a16:creationId xmlns:a16="http://schemas.microsoft.com/office/drawing/2014/main" id="{98D36712-25CC-28B2-4B53-A5FAAF2E2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39">
            <a:extLst>
              <a:ext uri="{FF2B5EF4-FFF2-40B4-BE49-F238E27FC236}">
                <a16:creationId xmlns:a16="http://schemas.microsoft.com/office/drawing/2014/main" id="{5D17EF2B-837B-AF95-72D7-2B20558CD2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fr" sz="80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fr" sz="80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3C4FB5E-9F07-08C7-AD17-B72D672596C9}"/>
              </a:ext>
            </a:extLst>
          </p:cNvPr>
          <p:cNvSpPr/>
          <p:nvPr/>
        </p:nvSpPr>
        <p:spPr>
          <a:xfrm>
            <a:off x="475200" y="335665"/>
            <a:ext cx="3102015" cy="10995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91425" tIns="91425" rIns="91425" bIns="91425" rtlCol="0" anchor="t" anchorCtr="0">
            <a:normAutofit/>
          </a:bodyPr>
          <a:lstStyle/>
          <a:p>
            <a:pPr marL="457200" indent="-304800" algn="ctr">
              <a:spcAft>
                <a:spcPts val="600"/>
              </a:spcAft>
              <a:buClr>
                <a:schemeClr val="dk1"/>
              </a:buClr>
              <a:buSzPts val="1100"/>
            </a:pPr>
            <a:r>
              <a:rPr lang="en-US" sz="2600" dirty="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Cultural benchmarks</a:t>
            </a:r>
            <a:endParaRPr lang="en-US" sz="2600" b="0" i="0" u="none" strike="noStrike" cap="none" dirty="0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marL="457200" lvl="1" indent="-304800" algn="ctr">
              <a:spcAft>
                <a:spcPts val="600"/>
              </a:spcAft>
              <a:buClr>
                <a:schemeClr val="dk1"/>
              </a:buClr>
              <a:buSzPts val="1100"/>
            </a:pPr>
            <a:endParaRPr lang="en-US" sz="1100" b="0" i="0" u="none" strike="noStrike" cap="none" dirty="0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ECE29100-AFA8-DA6A-9EE5-285AD49457F0}"/>
              </a:ext>
            </a:extLst>
          </p:cNvPr>
          <p:cNvSpPr/>
          <p:nvPr/>
        </p:nvSpPr>
        <p:spPr>
          <a:xfrm>
            <a:off x="4015779" y="335665"/>
            <a:ext cx="3102015" cy="10995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91425" tIns="91425" rIns="91425" bIns="91425" rtlCol="0" anchor="t" anchorCtr="0">
            <a:normAutofit/>
          </a:bodyPr>
          <a:lstStyle/>
          <a:p>
            <a:pPr marL="457200" indent="-304800" algn="ctr">
              <a:spcAft>
                <a:spcPts val="600"/>
              </a:spcAft>
              <a:buClr>
                <a:schemeClr val="dk1"/>
              </a:buClr>
              <a:buSzPts val="1100"/>
            </a:pPr>
            <a:r>
              <a:rPr lang="en-US" sz="2600" dirty="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Text-modality</a:t>
            </a:r>
            <a:endParaRPr lang="en-US" sz="2600" b="0" i="0" u="none" strike="noStrike" cap="none" dirty="0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marL="457200" lvl="1" indent="-304800" algn="ctr">
              <a:spcAft>
                <a:spcPts val="600"/>
              </a:spcAft>
              <a:buClr>
                <a:schemeClr val="dk1"/>
              </a:buClr>
              <a:buSzPts val="1100"/>
            </a:pPr>
            <a:endParaRPr lang="en-US" sz="1100" b="0" i="0" u="none" strike="noStrike" cap="none" dirty="0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79350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4F94A72C-DD59-3236-CA11-6B157A52C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">
            <a:extLst>
              <a:ext uri="{FF2B5EF4-FFF2-40B4-BE49-F238E27FC236}">
                <a16:creationId xmlns:a16="http://schemas.microsoft.com/office/drawing/2014/main" id="{046F2AC0-F725-C0AE-959F-2C054EA00E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800" dirty="0"/>
              <a:t>How Culture is Measured in Benchmarks?</a:t>
            </a:r>
          </a:p>
        </p:txBody>
      </p:sp>
      <p:sp>
        <p:nvSpPr>
          <p:cNvPr id="960" name="Google Shape;960;p2">
            <a:extLst>
              <a:ext uri="{FF2B5EF4-FFF2-40B4-BE49-F238E27FC236}">
                <a16:creationId xmlns:a16="http://schemas.microsoft.com/office/drawing/2014/main" id="{C367124C-6D36-3AEA-89A4-CD9A9FBD3D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80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80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1CF01B1-6FFC-D640-EFD9-806E9317BE83}"/>
              </a:ext>
            </a:extLst>
          </p:cNvPr>
          <p:cNvSpPr/>
          <p:nvPr/>
        </p:nvSpPr>
        <p:spPr>
          <a:xfrm>
            <a:off x="567159" y="1061254"/>
            <a:ext cx="2002421" cy="1925014"/>
          </a:xfrm>
          <a:prstGeom prst="roundRect">
            <a:avLst>
              <a:gd name="adj" fmla="val 1146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latin typeface="Work Sans" pitchFamily="2" charset="77"/>
              </a:rPr>
              <a:t>Localizing named entities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 err="1"/>
              <a:t>GeoMLAMA</a:t>
            </a:r>
            <a:r>
              <a:rPr lang="en-US" sz="1000" dirty="0"/>
              <a:t> (Yin et al., 2022)</a:t>
            </a:r>
          </a:p>
          <a:p>
            <a:pPr algn="ctr"/>
            <a:r>
              <a:rPr lang="en-US" sz="1000" b="1" dirty="0"/>
              <a:t>Blend</a:t>
            </a:r>
            <a:r>
              <a:rPr lang="en-US" sz="1000" dirty="0"/>
              <a:t> (Myung et al., 2024)</a:t>
            </a:r>
          </a:p>
          <a:p>
            <a:pPr algn="ctr"/>
            <a:r>
              <a:rPr lang="en-US" sz="1000" b="1" dirty="0"/>
              <a:t>Macaron</a:t>
            </a:r>
            <a:r>
              <a:rPr lang="en-US" sz="1000" dirty="0"/>
              <a:t> (</a:t>
            </a:r>
            <a:r>
              <a:rPr lang="en-US" sz="1000" dirty="0" err="1"/>
              <a:t>Elsetohy</a:t>
            </a:r>
            <a:r>
              <a:rPr lang="en-US" sz="1000" dirty="0"/>
              <a:t> et al., 2025)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E248D06-046D-633E-50B7-DC51CFC1EDBE}"/>
              </a:ext>
            </a:extLst>
          </p:cNvPr>
          <p:cNvSpPr/>
          <p:nvPr/>
        </p:nvSpPr>
        <p:spPr>
          <a:xfrm>
            <a:off x="7031623" y="1061254"/>
            <a:ext cx="2002421" cy="192501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latin typeface="Work Sans" pitchFamily="2" charset="77"/>
              </a:rPr>
              <a:t>Evaluating values and norms</a:t>
            </a:r>
          </a:p>
          <a:p>
            <a:pPr algn="ctr"/>
            <a:endParaRPr lang="en-US" sz="1800" dirty="0"/>
          </a:p>
          <a:p>
            <a:pPr algn="ctr"/>
            <a:r>
              <a:rPr lang="en-US" sz="1000" dirty="0" err="1"/>
              <a:t>CultureLLM</a:t>
            </a:r>
            <a:r>
              <a:rPr lang="en-US" sz="1000" dirty="0"/>
              <a:t> (Li et al., 2024)</a:t>
            </a:r>
          </a:p>
          <a:p>
            <a:pPr algn="ctr"/>
            <a:r>
              <a:rPr lang="en-US" sz="1000" dirty="0" err="1"/>
              <a:t>CDEval</a:t>
            </a:r>
            <a:r>
              <a:rPr lang="en-US" sz="1000" dirty="0"/>
              <a:t> (Wang et. Al., 2024)</a:t>
            </a:r>
          </a:p>
          <a:p>
            <a:pPr algn="ctr"/>
            <a:r>
              <a:rPr lang="en-US" sz="1000" dirty="0" err="1"/>
              <a:t>WorldValuesBench</a:t>
            </a:r>
            <a:r>
              <a:rPr lang="en-US" sz="1000" dirty="0"/>
              <a:t> (Zhao et al., 2024)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69E415F-6457-A20B-339B-8B76D20FC3FF}"/>
              </a:ext>
            </a:extLst>
          </p:cNvPr>
          <p:cNvSpPr/>
          <p:nvPr/>
        </p:nvSpPr>
        <p:spPr>
          <a:xfrm>
            <a:off x="2724049" y="1061254"/>
            <a:ext cx="2002421" cy="192501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dirty="0">
              <a:latin typeface="Work Sans" pitchFamily="2" charset="77"/>
            </a:endParaRPr>
          </a:p>
          <a:p>
            <a:pPr algn="ctr"/>
            <a:r>
              <a:rPr lang="en-US" sz="1700" dirty="0">
                <a:latin typeface="Work Sans" pitchFamily="2" charset="77"/>
              </a:rPr>
              <a:t>Accessing Knowledge</a:t>
            </a:r>
          </a:p>
          <a:p>
            <a:pPr algn="ctr"/>
            <a:endParaRPr lang="en-US" sz="2000" dirty="0"/>
          </a:p>
          <a:p>
            <a:pPr algn="ctr"/>
            <a:r>
              <a:rPr lang="en-US" sz="1000" dirty="0" err="1"/>
              <a:t>CLIcK</a:t>
            </a:r>
            <a:r>
              <a:rPr lang="en-US" sz="1000" dirty="0"/>
              <a:t> (Kim et al. 2024)</a:t>
            </a:r>
          </a:p>
          <a:p>
            <a:pPr algn="ctr"/>
            <a:r>
              <a:rPr lang="en-US" sz="1000" dirty="0"/>
              <a:t>INCLUDE (</a:t>
            </a:r>
            <a:r>
              <a:rPr lang="en-US" sz="1000" dirty="0" err="1"/>
              <a:t>Romanou</a:t>
            </a:r>
            <a:r>
              <a:rPr lang="en-US" sz="1000" dirty="0"/>
              <a:t> et al., 2025)</a:t>
            </a:r>
          </a:p>
          <a:p>
            <a:pPr algn="ctr"/>
            <a:r>
              <a:rPr lang="en-US" sz="1000" dirty="0"/>
              <a:t>MILU (Verma et al., 2025)</a:t>
            </a:r>
          </a:p>
          <a:p>
            <a:pPr algn="ctr"/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C1F02D-D4F2-B75F-C9A1-B7CB99191B51}"/>
              </a:ext>
            </a:extLst>
          </p:cNvPr>
          <p:cNvSpPr txBox="1"/>
          <p:nvPr/>
        </p:nvSpPr>
        <p:spPr>
          <a:xfrm>
            <a:off x="561371" y="3032568"/>
            <a:ext cx="2002421" cy="1594283"/>
          </a:xfrm>
          <a:prstGeom prst="rect">
            <a:avLst/>
          </a:prstGeom>
          <a:noFill/>
          <a:ln>
            <a:solidFill>
              <a:schemeClr val="accent1">
                <a:shade val="15000"/>
                <a:alpha val="3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3"/>
                </a:solidFill>
              </a:rPr>
              <a:t>Color of wedding dress</a:t>
            </a:r>
          </a:p>
          <a:p>
            <a:endParaRPr lang="en-US" sz="800" b="1" dirty="0">
              <a:solidFill>
                <a:schemeClr val="tx1"/>
              </a:solidFill>
            </a:endParaRPr>
          </a:p>
          <a:p>
            <a:r>
              <a:rPr lang="en-US" sz="970" b="1" dirty="0">
                <a:solidFill>
                  <a:schemeClr val="tx1"/>
                </a:solidFill>
              </a:rPr>
              <a:t>EN</a:t>
            </a:r>
            <a:r>
              <a:rPr lang="en-US" sz="970" dirty="0">
                <a:solidFill>
                  <a:schemeClr val="tx1"/>
                </a:solidFill>
              </a:rPr>
              <a:t>: In traditional [X] weddings, the color of wedding dress is usually [MASK].</a:t>
            </a:r>
          </a:p>
          <a:p>
            <a:endParaRPr lang="en-US" sz="970" dirty="0">
              <a:solidFill>
                <a:schemeClr val="tx1"/>
              </a:solidFill>
            </a:endParaRPr>
          </a:p>
          <a:p>
            <a:r>
              <a:rPr lang="en-US" sz="970" b="1" dirty="0">
                <a:solidFill>
                  <a:schemeClr val="tx1"/>
                </a:solidFill>
              </a:rPr>
              <a:t>SW</a:t>
            </a:r>
            <a:r>
              <a:rPr lang="en-US" sz="970" dirty="0">
                <a:solidFill>
                  <a:schemeClr val="tx1"/>
                </a:solidFill>
              </a:rPr>
              <a:t>: </a:t>
            </a:r>
            <a:r>
              <a:rPr lang="en-US" sz="970" dirty="0" err="1">
                <a:solidFill>
                  <a:schemeClr val="tx1"/>
                </a:solidFill>
              </a:rPr>
              <a:t>Kwenye</a:t>
            </a:r>
            <a:r>
              <a:rPr lang="en-US" sz="970" dirty="0">
                <a:solidFill>
                  <a:schemeClr val="tx1"/>
                </a:solidFill>
              </a:rPr>
              <a:t> </a:t>
            </a:r>
            <a:r>
              <a:rPr lang="en-US" sz="970" dirty="0" err="1">
                <a:solidFill>
                  <a:schemeClr val="tx1"/>
                </a:solidFill>
              </a:rPr>
              <a:t>harusi</a:t>
            </a:r>
            <a:r>
              <a:rPr lang="en-US" sz="970" dirty="0">
                <a:solidFill>
                  <a:schemeClr val="tx1"/>
                </a:solidFill>
              </a:rPr>
              <a:t> za </a:t>
            </a:r>
            <a:r>
              <a:rPr lang="en-US" sz="970" dirty="0" err="1">
                <a:solidFill>
                  <a:schemeClr val="tx1"/>
                </a:solidFill>
              </a:rPr>
              <a:t>kitamaduni</a:t>
            </a:r>
            <a:r>
              <a:rPr lang="en-US" sz="970" dirty="0">
                <a:solidFill>
                  <a:schemeClr val="tx1"/>
                </a:solidFill>
              </a:rPr>
              <a:t> </a:t>
            </a:r>
            <a:r>
              <a:rPr lang="en-US" sz="970" dirty="0" err="1">
                <a:solidFill>
                  <a:schemeClr val="tx1"/>
                </a:solidFill>
              </a:rPr>
              <a:t>nchini</a:t>
            </a:r>
            <a:r>
              <a:rPr lang="en-US" sz="970" dirty="0">
                <a:solidFill>
                  <a:schemeClr val="tx1"/>
                </a:solidFill>
              </a:rPr>
              <a:t> [X], </a:t>
            </a:r>
            <a:r>
              <a:rPr lang="en-US" sz="970" dirty="0" err="1">
                <a:solidFill>
                  <a:schemeClr val="tx1"/>
                </a:solidFill>
              </a:rPr>
              <a:t>rangi</a:t>
            </a:r>
            <a:r>
              <a:rPr lang="en-US" sz="970" dirty="0">
                <a:solidFill>
                  <a:schemeClr val="tx1"/>
                </a:solidFill>
              </a:rPr>
              <a:t> </a:t>
            </a:r>
            <a:r>
              <a:rPr lang="en-US" sz="970" dirty="0" err="1">
                <a:solidFill>
                  <a:schemeClr val="tx1"/>
                </a:solidFill>
              </a:rPr>
              <a:t>ya</a:t>
            </a:r>
            <a:r>
              <a:rPr lang="en-US" sz="970" dirty="0">
                <a:solidFill>
                  <a:schemeClr val="tx1"/>
                </a:solidFill>
              </a:rPr>
              <a:t> </a:t>
            </a:r>
            <a:r>
              <a:rPr lang="en-US" sz="970" dirty="0" err="1">
                <a:solidFill>
                  <a:schemeClr val="tx1"/>
                </a:solidFill>
              </a:rPr>
              <a:t>mavazi</a:t>
            </a:r>
            <a:r>
              <a:rPr lang="en-US" sz="970" dirty="0">
                <a:solidFill>
                  <a:schemeClr val="tx1"/>
                </a:solidFill>
              </a:rPr>
              <a:t> </a:t>
            </a:r>
            <a:r>
              <a:rPr lang="en-US" sz="970" dirty="0" err="1">
                <a:solidFill>
                  <a:schemeClr val="tx1"/>
                </a:solidFill>
              </a:rPr>
              <a:t>ya</a:t>
            </a:r>
            <a:r>
              <a:rPr lang="en-US" sz="970" dirty="0">
                <a:solidFill>
                  <a:schemeClr val="tx1"/>
                </a:solidFill>
              </a:rPr>
              <a:t> </a:t>
            </a:r>
            <a:r>
              <a:rPr lang="en-US" sz="970" dirty="0" err="1">
                <a:solidFill>
                  <a:schemeClr val="tx1"/>
                </a:solidFill>
              </a:rPr>
              <a:t>bibi</a:t>
            </a:r>
            <a:r>
              <a:rPr lang="en-US" sz="970" dirty="0">
                <a:solidFill>
                  <a:schemeClr val="tx1"/>
                </a:solidFill>
              </a:rPr>
              <a:t> </a:t>
            </a:r>
            <a:r>
              <a:rPr lang="en-US" sz="970" dirty="0" err="1">
                <a:solidFill>
                  <a:schemeClr val="tx1"/>
                </a:solidFill>
              </a:rPr>
              <a:t>harusi</a:t>
            </a:r>
            <a:r>
              <a:rPr lang="en-US" sz="970" dirty="0">
                <a:solidFill>
                  <a:schemeClr val="tx1"/>
                </a:solidFill>
              </a:rPr>
              <a:t> </a:t>
            </a:r>
            <a:r>
              <a:rPr lang="en-US" sz="970" dirty="0" err="1">
                <a:solidFill>
                  <a:schemeClr val="tx1"/>
                </a:solidFill>
              </a:rPr>
              <a:t>huwa</a:t>
            </a:r>
            <a:r>
              <a:rPr lang="en-US" sz="970" dirty="0">
                <a:solidFill>
                  <a:schemeClr val="tx1"/>
                </a:solidFill>
              </a:rPr>
              <a:t> [MASK].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DE2E6F-CCA5-2638-D1B4-65659747E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816" y="3218063"/>
            <a:ext cx="2002421" cy="9485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B74E5F-9C59-CDB4-3DE3-5D294A646911}"/>
              </a:ext>
            </a:extLst>
          </p:cNvPr>
          <p:cNvSpPr txBox="1"/>
          <p:nvPr/>
        </p:nvSpPr>
        <p:spPr>
          <a:xfrm>
            <a:off x="1226916" y="4377598"/>
            <a:ext cx="11993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GeoMLAMA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9A3CE2-2FF6-54FA-FAA1-5543EB88439A}"/>
              </a:ext>
            </a:extLst>
          </p:cNvPr>
          <p:cNvSpPr txBox="1"/>
          <p:nvPr/>
        </p:nvSpPr>
        <p:spPr>
          <a:xfrm>
            <a:off x="5037812" y="4398373"/>
            <a:ext cx="18245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Stereotypes in SHADES 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C338A7F-4692-A4BF-A1A5-43D9AA1A21DA}"/>
              </a:ext>
            </a:extLst>
          </p:cNvPr>
          <p:cNvSpPr/>
          <p:nvPr/>
        </p:nvSpPr>
        <p:spPr>
          <a:xfrm>
            <a:off x="4881147" y="1061254"/>
            <a:ext cx="2002421" cy="1925014"/>
          </a:xfrm>
          <a:prstGeom prst="roundRect">
            <a:avLst>
              <a:gd name="adj" fmla="val 1245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  <a:p>
            <a:pPr algn="ctr"/>
            <a:r>
              <a:rPr lang="en-US" sz="1700" dirty="0">
                <a:latin typeface="Work Sans" pitchFamily="2" charset="77"/>
              </a:rPr>
              <a:t>Examining Biases and Stereotypes</a:t>
            </a:r>
          </a:p>
          <a:p>
            <a:pPr algn="ctr"/>
            <a:endParaRPr lang="en-US" sz="1800" dirty="0"/>
          </a:p>
          <a:p>
            <a:pPr algn="ctr"/>
            <a:r>
              <a:rPr lang="en-US" sz="1000" dirty="0" err="1"/>
              <a:t>GlobalMMLU</a:t>
            </a:r>
            <a:r>
              <a:rPr lang="en-US" sz="1000" dirty="0"/>
              <a:t> (Singh et al.2025)</a:t>
            </a:r>
          </a:p>
          <a:p>
            <a:pPr algn="ctr"/>
            <a:r>
              <a:rPr lang="en-US" sz="1000" dirty="0"/>
              <a:t>SHADES (Mitchell et al., 2025)</a:t>
            </a:r>
            <a:endParaRPr lang="en-US" sz="1800" dirty="0"/>
          </a:p>
          <a:p>
            <a:pPr algn="ctr"/>
            <a:endParaRPr lang="en-US" sz="1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DD6096-D689-AD1E-1678-E7BE2CE782D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044" r="16821"/>
          <a:stretch>
            <a:fillRect/>
          </a:stretch>
        </p:blipFill>
        <p:spPr>
          <a:xfrm>
            <a:off x="2748989" y="3045337"/>
            <a:ext cx="2002420" cy="8515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40D5804-A972-F614-CA8D-35C0073E623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108" t="5201" r="1635" b="2573"/>
          <a:stretch>
            <a:fillRect/>
          </a:stretch>
        </p:blipFill>
        <p:spPr>
          <a:xfrm>
            <a:off x="7112645" y="3137483"/>
            <a:ext cx="1727176" cy="117577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91BC8D2-3170-1977-BF1D-4335515EC893}"/>
              </a:ext>
            </a:extLst>
          </p:cNvPr>
          <p:cNvSpPr txBox="1"/>
          <p:nvPr/>
        </p:nvSpPr>
        <p:spPr>
          <a:xfrm>
            <a:off x="7169244" y="4288124"/>
            <a:ext cx="17271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World Values Survey (e.g. </a:t>
            </a:r>
            <a:r>
              <a:rPr lang="en-US" sz="1050" b="1" dirty="0" err="1"/>
              <a:t>CultureLLM</a:t>
            </a:r>
            <a:r>
              <a:rPr lang="en-US" sz="1050" b="1" dirty="0"/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C0FAF9-6626-97D2-8A8C-CD24C7788291}"/>
              </a:ext>
            </a:extLst>
          </p:cNvPr>
          <p:cNvSpPr txBox="1"/>
          <p:nvPr/>
        </p:nvSpPr>
        <p:spPr>
          <a:xfrm>
            <a:off x="2656718" y="3940764"/>
            <a:ext cx="2130801" cy="461665"/>
          </a:xfrm>
          <a:prstGeom prst="rect">
            <a:avLst/>
          </a:prstGeom>
          <a:noFill/>
          <a:ln w="15875">
            <a:solidFill>
              <a:schemeClr val="accent1">
                <a:shade val="15000"/>
                <a:alpha val="3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b="0" i="0" dirty="0">
                <a:solidFill>
                  <a:srgbClr val="0C274A"/>
                </a:solidFill>
                <a:effectLst/>
                <a:latin typeface="-apple-system-body"/>
              </a:rPr>
              <a:t>In a </a:t>
            </a:r>
            <a:r>
              <a:rPr lang="en-GB" sz="1200" b="0" i="0" dirty="0">
                <a:solidFill>
                  <a:schemeClr val="accent3"/>
                </a:solidFill>
                <a:effectLst/>
                <a:latin typeface="-apple-system-body"/>
              </a:rPr>
              <a:t>Sitar</a:t>
            </a:r>
            <a:r>
              <a:rPr lang="en-GB" sz="1200" b="0" i="0" dirty="0">
                <a:solidFill>
                  <a:srgbClr val="0C274A"/>
                </a:solidFill>
                <a:effectLst/>
                <a:latin typeface="-apple-system-body"/>
              </a:rPr>
              <a:t>, which type of sound vibrations are produced? 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A0569-2187-BBB4-15A6-92D6B8C654D5}"/>
              </a:ext>
            </a:extLst>
          </p:cNvPr>
          <p:cNvSpPr txBox="1"/>
          <p:nvPr/>
        </p:nvSpPr>
        <p:spPr>
          <a:xfrm>
            <a:off x="2645422" y="4400681"/>
            <a:ext cx="21659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Examples from </a:t>
            </a:r>
            <a:r>
              <a:rPr lang="en-US" sz="1100" b="1" dirty="0" err="1"/>
              <a:t>CLIcK</a:t>
            </a:r>
            <a:r>
              <a:rPr lang="en-US" sz="1100" b="1" dirty="0"/>
              <a:t> &amp; MILU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774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4" grpId="0"/>
      <p:bldP spid="15" grpId="0" animBg="1"/>
      <p:bldP spid="22" grpId="0"/>
      <p:bldP spid="24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2C18595E-9172-8B8A-A627-5D0E124A1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">
            <a:extLst>
              <a:ext uri="{FF2B5EF4-FFF2-40B4-BE49-F238E27FC236}">
                <a16:creationId xmlns:a16="http://schemas.microsoft.com/office/drawing/2014/main" id="{FA777681-5959-2C8E-EB9A-7A5E41E7DC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800" dirty="0"/>
              <a:t>How Culture is Measured in Benchmarks?</a:t>
            </a:r>
          </a:p>
        </p:txBody>
      </p:sp>
      <p:sp>
        <p:nvSpPr>
          <p:cNvPr id="960" name="Google Shape;960;p2">
            <a:extLst>
              <a:ext uri="{FF2B5EF4-FFF2-40B4-BE49-F238E27FC236}">
                <a16:creationId xmlns:a16="http://schemas.microsoft.com/office/drawing/2014/main" id="{7108531C-E0B8-F717-8BCE-3304361E07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80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 sz="80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FBAAEA5-A556-CA30-AA4D-FA569383E12E}"/>
              </a:ext>
            </a:extLst>
          </p:cNvPr>
          <p:cNvSpPr/>
          <p:nvPr/>
        </p:nvSpPr>
        <p:spPr>
          <a:xfrm>
            <a:off x="567159" y="1061254"/>
            <a:ext cx="2002421" cy="1925014"/>
          </a:xfrm>
          <a:prstGeom prst="roundRect">
            <a:avLst>
              <a:gd name="adj" fmla="val 1146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latin typeface="Work Sans" pitchFamily="2" charset="77"/>
              </a:rPr>
              <a:t>Localizing named entities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 err="1"/>
              <a:t>GeoMLAMA</a:t>
            </a:r>
            <a:r>
              <a:rPr lang="en-US" sz="1000" dirty="0"/>
              <a:t> (Yin et al., 2022)</a:t>
            </a:r>
          </a:p>
          <a:p>
            <a:pPr algn="ctr"/>
            <a:r>
              <a:rPr lang="en-US" sz="1000" b="1" dirty="0"/>
              <a:t>Blend</a:t>
            </a:r>
            <a:r>
              <a:rPr lang="en-US" sz="1000" dirty="0"/>
              <a:t> (Myung et al., 2024)</a:t>
            </a:r>
          </a:p>
          <a:p>
            <a:pPr algn="ctr"/>
            <a:r>
              <a:rPr lang="en-US" sz="1000" b="1" dirty="0"/>
              <a:t>Macaron</a:t>
            </a:r>
            <a:r>
              <a:rPr lang="en-US" sz="1000" dirty="0"/>
              <a:t> (</a:t>
            </a:r>
            <a:r>
              <a:rPr lang="en-US" sz="1000" dirty="0" err="1"/>
              <a:t>Elsetohy</a:t>
            </a:r>
            <a:r>
              <a:rPr lang="en-US" sz="1000" dirty="0"/>
              <a:t> et al., 2025)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441B6F2-223A-145F-18C6-DDB5370292B8}"/>
              </a:ext>
            </a:extLst>
          </p:cNvPr>
          <p:cNvSpPr/>
          <p:nvPr/>
        </p:nvSpPr>
        <p:spPr>
          <a:xfrm>
            <a:off x="7031623" y="1061254"/>
            <a:ext cx="2002421" cy="192501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latin typeface="Work Sans" pitchFamily="2" charset="77"/>
              </a:rPr>
              <a:t>Evaluating values and norms</a:t>
            </a:r>
          </a:p>
          <a:p>
            <a:pPr algn="ctr"/>
            <a:endParaRPr lang="en-US" sz="1800" dirty="0"/>
          </a:p>
          <a:p>
            <a:pPr algn="ctr"/>
            <a:r>
              <a:rPr lang="en-US" sz="1000" dirty="0" err="1"/>
              <a:t>CultureLLM</a:t>
            </a:r>
            <a:r>
              <a:rPr lang="en-US" sz="1000" dirty="0"/>
              <a:t> (Li et al., 2024)</a:t>
            </a:r>
          </a:p>
          <a:p>
            <a:pPr algn="ctr"/>
            <a:r>
              <a:rPr lang="en-US" sz="1000" dirty="0" err="1"/>
              <a:t>CDEval</a:t>
            </a:r>
            <a:r>
              <a:rPr lang="en-US" sz="1000" dirty="0"/>
              <a:t> (Wang et. Al., 2024)</a:t>
            </a:r>
          </a:p>
          <a:p>
            <a:pPr algn="ctr"/>
            <a:r>
              <a:rPr lang="en-US" sz="1000" dirty="0" err="1"/>
              <a:t>WorldValuesBench</a:t>
            </a:r>
            <a:r>
              <a:rPr lang="en-US" sz="1000" dirty="0"/>
              <a:t> (Zhao et al., 2024)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FA72269-74DD-3871-BF33-5808E01DDBC1}"/>
              </a:ext>
            </a:extLst>
          </p:cNvPr>
          <p:cNvSpPr/>
          <p:nvPr/>
        </p:nvSpPr>
        <p:spPr>
          <a:xfrm>
            <a:off x="2748988" y="1061254"/>
            <a:ext cx="2002421" cy="192501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dirty="0">
              <a:latin typeface="Work Sans" pitchFamily="2" charset="77"/>
            </a:endParaRPr>
          </a:p>
          <a:p>
            <a:pPr algn="ctr"/>
            <a:r>
              <a:rPr lang="en-US" sz="1700" dirty="0">
                <a:latin typeface="Work Sans" pitchFamily="2" charset="77"/>
              </a:rPr>
              <a:t>Accessing Knowledge</a:t>
            </a:r>
          </a:p>
          <a:p>
            <a:pPr algn="ctr"/>
            <a:endParaRPr lang="en-US" sz="2000" dirty="0"/>
          </a:p>
          <a:p>
            <a:pPr algn="ctr"/>
            <a:r>
              <a:rPr lang="en-US" sz="1000" dirty="0" err="1"/>
              <a:t>CLIcK</a:t>
            </a:r>
            <a:r>
              <a:rPr lang="en-US" sz="1000" dirty="0"/>
              <a:t> (Kim et al. 2024)</a:t>
            </a:r>
          </a:p>
          <a:p>
            <a:pPr algn="ctr"/>
            <a:r>
              <a:rPr lang="en-US" sz="1000" dirty="0"/>
              <a:t>INCLUDE (</a:t>
            </a:r>
            <a:r>
              <a:rPr lang="en-US" sz="1000" dirty="0" err="1"/>
              <a:t>Romanou</a:t>
            </a:r>
            <a:r>
              <a:rPr lang="en-US" sz="1000" dirty="0"/>
              <a:t> et al., 2025)</a:t>
            </a:r>
          </a:p>
          <a:p>
            <a:pPr algn="ctr"/>
            <a:r>
              <a:rPr lang="en-US" sz="1000" dirty="0"/>
              <a:t>MILU (Verma et al., 2025)</a:t>
            </a:r>
          </a:p>
          <a:p>
            <a:pPr algn="ctr"/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853B4C-2085-2F11-FB4C-1A745A2BFA83}"/>
              </a:ext>
            </a:extLst>
          </p:cNvPr>
          <p:cNvSpPr txBox="1"/>
          <p:nvPr/>
        </p:nvSpPr>
        <p:spPr>
          <a:xfrm>
            <a:off x="561371" y="3032568"/>
            <a:ext cx="2002421" cy="1594283"/>
          </a:xfrm>
          <a:prstGeom prst="rect">
            <a:avLst/>
          </a:prstGeom>
          <a:noFill/>
          <a:ln>
            <a:solidFill>
              <a:schemeClr val="accent1">
                <a:shade val="15000"/>
                <a:alpha val="3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3"/>
                </a:solidFill>
              </a:rPr>
              <a:t>Color of wedding dress</a:t>
            </a:r>
          </a:p>
          <a:p>
            <a:endParaRPr lang="en-US" sz="800" b="1" dirty="0">
              <a:solidFill>
                <a:schemeClr val="tx1"/>
              </a:solidFill>
            </a:endParaRPr>
          </a:p>
          <a:p>
            <a:r>
              <a:rPr lang="en-US" sz="970" b="1" dirty="0">
                <a:solidFill>
                  <a:schemeClr val="tx1"/>
                </a:solidFill>
              </a:rPr>
              <a:t>EN</a:t>
            </a:r>
            <a:r>
              <a:rPr lang="en-US" sz="970" dirty="0">
                <a:solidFill>
                  <a:schemeClr val="tx1"/>
                </a:solidFill>
              </a:rPr>
              <a:t>: In traditional [X] weddings, the color of wedding dress is usually [MASK].</a:t>
            </a:r>
          </a:p>
          <a:p>
            <a:endParaRPr lang="en-US" sz="970" dirty="0">
              <a:solidFill>
                <a:schemeClr val="tx1"/>
              </a:solidFill>
            </a:endParaRPr>
          </a:p>
          <a:p>
            <a:r>
              <a:rPr lang="en-US" sz="970" b="1" dirty="0">
                <a:solidFill>
                  <a:schemeClr val="tx1"/>
                </a:solidFill>
              </a:rPr>
              <a:t>SW</a:t>
            </a:r>
            <a:r>
              <a:rPr lang="en-US" sz="970" dirty="0">
                <a:solidFill>
                  <a:schemeClr val="tx1"/>
                </a:solidFill>
              </a:rPr>
              <a:t>: </a:t>
            </a:r>
            <a:r>
              <a:rPr lang="en-US" sz="970" dirty="0" err="1">
                <a:solidFill>
                  <a:schemeClr val="tx1"/>
                </a:solidFill>
              </a:rPr>
              <a:t>Kwenye</a:t>
            </a:r>
            <a:r>
              <a:rPr lang="en-US" sz="970" dirty="0">
                <a:solidFill>
                  <a:schemeClr val="tx1"/>
                </a:solidFill>
              </a:rPr>
              <a:t> </a:t>
            </a:r>
            <a:r>
              <a:rPr lang="en-US" sz="970" dirty="0" err="1">
                <a:solidFill>
                  <a:schemeClr val="tx1"/>
                </a:solidFill>
              </a:rPr>
              <a:t>harusi</a:t>
            </a:r>
            <a:r>
              <a:rPr lang="en-US" sz="970" dirty="0">
                <a:solidFill>
                  <a:schemeClr val="tx1"/>
                </a:solidFill>
              </a:rPr>
              <a:t> za </a:t>
            </a:r>
            <a:r>
              <a:rPr lang="en-US" sz="970" dirty="0" err="1">
                <a:solidFill>
                  <a:schemeClr val="tx1"/>
                </a:solidFill>
              </a:rPr>
              <a:t>kitamaduni</a:t>
            </a:r>
            <a:r>
              <a:rPr lang="en-US" sz="970" dirty="0">
                <a:solidFill>
                  <a:schemeClr val="tx1"/>
                </a:solidFill>
              </a:rPr>
              <a:t> </a:t>
            </a:r>
            <a:r>
              <a:rPr lang="en-US" sz="970" dirty="0" err="1">
                <a:solidFill>
                  <a:schemeClr val="tx1"/>
                </a:solidFill>
              </a:rPr>
              <a:t>nchini</a:t>
            </a:r>
            <a:r>
              <a:rPr lang="en-US" sz="970" dirty="0">
                <a:solidFill>
                  <a:schemeClr val="tx1"/>
                </a:solidFill>
              </a:rPr>
              <a:t> [X], </a:t>
            </a:r>
            <a:r>
              <a:rPr lang="en-US" sz="970" dirty="0" err="1">
                <a:solidFill>
                  <a:schemeClr val="tx1"/>
                </a:solidFill>
              </a:rPr>
              <a:t>rangi</a:t>
            </a:r>
            <a:r>
              <a:rPr lang="en-US" sz="970" dirty="0">
                <a:solidFill>
                  <a:schemeClr val="tx1"/>
                </a:solidFill>
              </a:rPr>
              <a:t> </a:t>
            </a:r>
            <a:r>
              <a:rPr lang="en-US" sz="970" dirty="0" err="1">
                <a:solidFill>
                  <a:schemeClr val="tx1"/>
                </a:solidFill>
              </a:rPr>
              <a:t>ya</a:t>
            </a:r>
            <a:r>
              <a:rPr lang="en-US" sz="970" dirty="0">
                <a:solidFill>
                  <a:schemeClr val="tx1"/>
                </a:solidFill>
              </a:rPr>
              <a:t> </a:t>
            </a:r>
            <a:r>
              <a:rPr lang="en-US" sz="970" dirty="0" err="1">
                <a:solidFill>
                  <a:schemeClr val="tx1"/>
                </a:solidFill>
              </a:rPr>
              <a:t>mavazi</a:t>
            </a:r>
            <a:r>
              <a:rPr lang="en-US" sz="970" dirty="0">
                <a:solidFill>
                  <a:schemeClr val="tx1"/>
                </a:solidFill>
              </a:rPr>
              <a:t> </a:t>
            </a:r>
            <a:r>
              <a:rPr lang="en-US" sz="970" dirty="0" err="1">
                <a:solidFill>
                  <a:schemeClr val="tx1"/>
                </a:solidFill>
              </a:rPr>
              <a:t>ya</a:t>
            </a:r>
            <a:r>
              <a:rPr lang="en-US" sz="970" dirty="0">
                <a:solidFill>
                  <a:schemeClr val="tx1"/>
                </a:solidFill>
              </a:rPr>
              <a:t> </a:t>
            </a:r>
            <a:r>
              <a:rPr lang="en-US" sz="970" dirty="0" err="1">
                <a:solidFill>
                  <a:schemeClr val="tx1"/>
                </a:solidFill>
              </a:rPr>
              <a:t>bibi</a:t>
            </a:r>
            <a:r>
              <a:rPr lang="en-US" sz="970" dirty="0">
                <a:solidFill>
                  <a:schemeClr val="tx1"/>
                </a:solidFill>
              </a:rPr>
              <a:t> </a:t>
            </a:r>
            <a:r>
              <a:rPr lang="en-US" sz="970" dirty="0" err="1">
                <a:solidFill>
                  <a:schemeClr val="tx1"/>
                </a:solidFill>
              </a:rPr>
              <a:t>harusi</a:t>
            </a:r>
            <a:r>
              <a:rPr lang="en-US" sz="970" dirty="0">
                <a:solidFill>
                  <a:schemeClr val="tx1"/>
                </a:solidFill>
              </a:rPr>
              <a:t> </a:t>
            </a:r>
            <a:r>
              <a:rPr lang="en-US" sz="970" dirty="0" err="1">
                <a:solidFill>
                  <a:schemeClr val="tx1"/>
                </a:solidFill>
              </a:rPr>
              <a:t>huwa</a:t>
            </a:r>
            <a:r>
              <a:rPr lang="en-US" sz="970" dirty="0">
                <a:solidFill>
                  <a:schemeClr val="tx1"/>
                </a:solidFill>
              </a:rPr>
              <a:t> [MASK].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EF69A7-7CBD-4D1A-6858-C1B8EDBFE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816" y="3218063"/>
            <a:ext cx="2002421" cy="9485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41A7F07-C628-9C88-FAA0-3C229496114C}"/>
              </a:ext>
            </a:extLst>
          </p:cNvPr>
          <p:cNvSpPr txBox="1"/>
          <p:nvPr/>
        </p:nvSpPr>
        <p:spPr>
          <a:xfrm>
            <a:off x="1226916" y="4377598"/>
            <a:ext cx="11993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GeoMLAMA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652EBD-7C35-682A-C6A9-A341664CF561}"/>
              </a:ext>
            </a:extLst>
          </p:cNvPr>
          <p:cNvSpPr txBox="1"/>
          <p:nvPr/>
        </p:nvSpPr>
        <p:spPr>
          <a:xfrm>
            <a:off x="5037812" y="4398373"/>
            <a:ext cx="18245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Stereotypes in SHADES 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FAEF4CE-C269-39B5-3C0A-29584DDC5EF8}"/>
              </a:ext>
            </a:extLst>
          </p:cNvPr>
          <p:cNvSpPr/>
          <p:nvPr/>
        </p:nvSpPr>
        <p:spPr>
          <a:xfrm>
            <a:off x="4881147" y="1061254"/>
            <a:ext cx="2002421" cy="1925014"/>
          </a:xfrm>
          <a:prstGeom prst="roundRect">
            <a:avLst>
              <a:gd name="adj" fmla="val 1245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  <a:p>
            <a:pPr algn="ctr"/>
            <a:r>
              <a:rPr lang="en-US" sz="1700" dirty="0">
                <a:latin typeface="Work Sans" pitchFamily="2" charset="77"/>
              </a:rPr>
              <a:t>Examining Biases and Stereotypes</a:t>
            </a:r>
          </a:p>
          <a:p>
            <a:pPr algn="ctr"/>
            <a:endParaRPr lang="en-US" sz="1800" dirty="0"/>
          </a:p>
          <a:p>
            <a:pPr algn="ctr"/>
            <a:r>
              <a:rPr lang="en-US" sz="1000" dirty="0" err="1"/>
              <a:t>GlobalMMLU</a:t>
            </a:r>
            <a:r>
              <a:rPr lang="en-US" sz="1000" dirty="0"/>
              <a:t> (Singh et al.2025)</a:t>
            </a:r>
          </a:p>
          <a:p>
            <a:pPr algn="ctr"/>
            <a:r>
              <a:rPr lang="en-US" sz="1000" dirty="0"/>
              <a:t>SHADES (Mitchell et al., 2025)</a:t>
            </a:r>
            <a:endParaRPr lang="en-US" sz="1800" dirty="0"/>
          </a:p>
          <a:p>
            <a:pPr algn="ctr"/>
            <a:endParaRPr lang="en-US" sz="1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C939D06-3FD4-E22B-EDE7-8822BCC174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044" r="16821"/>
          <a:stretch>
            <a:fillRect/>
          </a:stretch>
        </p:blipFill>
        <p:spPr>
          <a:xfrm>
            <a:off x="2748989" y="3045337"/>
            <a:ext cx="2002420" cy="8515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51A4F43-8259-055D-6908-69EAB7C8324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108" t="5201" r="1635" b="2573"/>
          <a:stretch>
            <a:fillRect/>
          </a:stretch>
        </p:blipFill>
        <p:spPr>
          <a:xfrm>
            <a:off x="7112645" y="3137483"/>
            <a:ext cx="1727176" cy="117577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0AE1DC0-AE5E-6A26-A531-6C7839E80176}"/>
              </a:ext>
            </a:extLst>
          </p:cNvPr>
          <p:cNvSpPr txBox="1"/>
          <p:nvPr/>
        </p:nvSpPr>
        <p:spPr>
          <a:xfrm>
            <a:off x="7169244" y="4288124"/>
            <a:ext cx="17271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World Values Survey (e.g. </a:t>
            </a:r>
            <a:r>
              <a:rPr lang="en-US" sz="1050" b="1" dirty="0" err="1"/>
              <a:t>CultureLLM</a:t>
            </a:r>
            <a:r>
              <a:rPr lang="en-US" sz="1050" b="1" dirty="0"/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C1ABE0-0B15-A556-197A-EC750F084384}"/>
              </a:ext>
            </a:extLst>
          </p:cNvPr>
          <p:cNvSpPr txBox="1"/>
          <p:nvPr/>
        </p:nvSpPr>
        <p:spPr>
          <a:xfrm>
            <a:off x="2656718" y="3940764"/>
            <a:ext cx="2130801" cy="461665"/>
          </a:xfrm>
          <a:prstGeom prst="rect">
            <a:avLst/>
          </a:prstGeom>
          <a:noFill/>
          <a:ln w="15875">
            <a:solidFill>
              <a:schemeClr val="accent1">
                <a:shade val="15000"/>
                <a:alpha val="3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b="0" i="0" dirty="0">
                <a:solidFill>
                  <a:srgbClr val="0C274A"/>
                </a:solidFill>
                <a:effectLst/>
                <a:latin typeface="-apple-system-body"/>
              </a:rPr>
              <a:t>In a </a:t>
            </a:r>
            <a:r>
              <a:rPr lang="en-GB" sz="1200" b="0" i="0" dirty="0">
                <a:solidFill>
                  <a:schemeClr val="accent3"/>
                </a:solidFill>
                <a:effectLst/>
                <a:latin typeface="-apple-system-body"/>
              </a:rPr>
              <a:t>Sitar</a:t>
            </a:r>
            <a:r>
              <a:rPr lang="en-GB" sz="1200" b="0" i="0" dirty="0">
                <a:solidFill>
                  <a:srgbClr val="0C274A"/>
                </a:solidFill>
                <a:effectLst/>
                <a:latin typeface="-apple-system-body"/>
              </a:rPr>
              <a:t>, which type of sound vibrations are produced? 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712BC6-686E-6AD4-8919-E40BC40C9576}"/>
              </a:ext>
            </a:extLst>
          </p:cNvPr>
          <p:cNvSpPr txBox="1"/>
          <p:nvPr/>
        </p:nvSpPr>
        <p:spPr>
          <a:xfrm>
            <a:off x="2645422" y="4400681"/>
            <a:ext cx="21659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Examples from </a:t>
            </a:r>
            <a:r>
              <a:rPr lang="en-US" sz="1100" b="1" dirty="0" err="1"/>
              <a:t>CLIcK</a:t>
            </a:r>
            <a:r>
              <a:rPr lang="en-US" sz="1100" b="1" dirty="0"/>
              <a:t> &amp; MILU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BB57C8-02D0-A773-A7A5-96905E93DBBD}"/>
              </a:ext>
            </a:extLst>
          </p:cNvPr>
          <p:cNvSpPr/>
          <p:nvPr/>
        </p:nvSpPr>
        <p:spPr>
          <a:xfrm>
            <a:off x="521368" y="933282"/>
            <a:ext cx="4321304" cy="372670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9271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B8A18-A5E9-A532-6802-CC654A294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14054-F843-6CC7-AE8C-BF47ED6F6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218418"/>
            <a:ext cx="7894800" cy="600134"/>
          </a:xfrm>
        </p:spPr>
        <p:txBody>
          <a:bodyPr/>
          <a:lstStyle/>
          <a:p>
            <a:r>
              <a:rPr lang="en-US" dirty="0"/>
              <a:t>Localizing Named Entities: </a:t>
            </a:r>
            <a:r>
              <a:rPr lang="en-US" b="1" dirty="0"/>
              <a:t>Blend</a:t>
            </a: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662B9D-A339-05A9-41A3-5EC5CD7519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265E69-3781-5BCD-D944-1F62017D8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3" y="905855"/>
            <a:ext cx="2762626" cy="35625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5262B9-A0AB-A508-67BC-47D801C06D00}"/>
              </a:ext>
            </a:extLst>
          </p:cNvPr>
          <p:cNvSpPr txBox="1"/>
          <p:nvPr/>
        </p:nvSpPr>
        <p:spPr>
          <a:xfrm>
            <a:off x="1145136" y="4486541"/>
            <a:ext cx="1492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Data construction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080607-C70D-1512-A8FB-3DF7F179F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264" y="2713835"/>
            <a:ext cx="4417536" cy="18231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755FBB-B308-E789-5A6C-5588D8201BC3}"/>
              </a:ext>
            </a:extLst>
          </p:cNvPr>
          <p:cNvSpPr txBox="1"/>
          <p:nvPr/>
        </p:nvSpPr>
        <p:spPr>
          <a:xfrm>
            <a:off x="6216401" y="4495086"/>
            <a:ext cx="739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DB8FD8-52F2-106B-070E-406496A3FE6C}"/>
              </a:ext>
            </a:extLst>
          </p:cNvPr>
          <p:cNvSpPr txBox="1"/>
          <p:nvPr/>
        </p:nvSpPr>
        <p:spPr>
          <a:xfrm>
            <a:off x="7523127" y="2751211"/>
            <a:ext cx="14072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4"/>
                </a:solidFill>
                <a:latin typeface="Work Sans" pitchFamily="2" charset="77"/>
              </a:rPr>
              <a:t>LLMs knows more about </a:t>
            </a:r>
            <a:r>
              <a:rPr lang="en-US" sz="1000" b="1" dirty="0">
                <a:solidFill>
                  <a:schemeClr val="accent4"/>
                </a:solidFill>
                <a:latin typeface="Work Sans" pitchFamily="2" charset="77"/>
              </a:rPr>
              <a:t>Western everyday </a:t>
            </a:r>
            <a:r>
              <a:rPr lang="en-US" sz="1000" dirty="0">
                <a:solidFill>
                  <a:schemeClr val="accent4"/>
                </a:solidFill>
                <a:latin typeface="Work Sans" pitchFamily="2" charset="77"/>
              </a:rPr>
              <a:t>topic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A02E8C-8FD1-9BB7-BF9E-85FBBCE85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807" y="896461"/>
            <a:ext cx="2309523" cy="18163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A9FF11-F677-E7A7-F421-04E7966457FF}"/>
              </a:ext>
            </a:extLst>
          </p:cNvPr>
          <p:cNvSpPr txBox="1"/>
          <p:nvPr/>
        </p:nvSpPr>
        <p:spPr>
          <a:xfrm>
            <a:off x="6554624" y="905855"/>
            <a:ext cx="2509539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Work Sans" pitchFamily="2" charset="77"/>
              </a:rPr>
              <a:t>16 countries, 15 languages </a:t>
            </a:r>
            <a:r>
              <a:rPr lang="en-US" sz="1200" dirty="0">
                <a:solidFill>
                  <a:schemeClr val="tx1"/>
                </a:solidFill>
                <a:latin typeface="Work Sans" pitchFamily="2" charset="77"/>
              </a:rPr>
              <a:t>(Parallel questions)</a:t>
            </a:r>
          </a:p>
          <a:p>
            <a:pPr marL="177800" indent="-169863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4"/>
                </a:solidFill>
                <a:latin typeface="Work Sans" pitchFamily="2" charset="77"/>
              </a:rPr>
              <a:t>Culture = Country-Language</a:t>
            </a:r>
          </a:p>
          <a:p>
            <a:pPr marL="177800" indent="-169863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B050"/>
                </a:solidFill>
                <a:latin typeface="Work Sans" pitchFamily="2" charset="77"/>
              </a:rPr>
              <a:t>Focus =  Everyday Topics QA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C21D46-AA15-B0AC-B3CF-15BE07752178}"/>
              </a:ext>
            </a:extLst>
          </p:cNvPr>
          <p:cNvSpPr txBox="1"/>
          <p:nvPr/>
        </p:nvSpPr>
        <p:spPr>
          <a:xfrm>
            <a:off x="558672" y="4848650"/>
            <a:ext cx="753826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Myung, Junho, et al. "Blend: A benchmark for </a:t>
            </a:r>
            <a:r>
              <a:rPr lang="en-GB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llms</a:t>
            </a:r>
            <a:r>
              <a:rPr lang="en-GB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on everyday knowledge in diverse cultures and languages." </a:t>
            </a:r>
            <a:r>
              <a:rPr lang="en-GB" sz="900" b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</a:t>
            </a:r>
            <a:r>
              <a:rPr lang="en-GB" sz="9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9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NeurIPS</a:t>
            </a:r>
            <a:r>
              <a:rPr lang="en-GB" sz="9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2024.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0796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A9529-33F6-551E-78C7-49341F8B1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D9296-A088-3C62-EA71-90A7BCEF8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218418"/>
            <a:ext cx="7894800" cy="600134"/>
          </a:xfrm>
        </p:spPr>
        <p:txBody>
          <a:bodyPr/>
          <a:lstStyle/>
          <a:p>
            <a:r>
              <a:rPr lang="en-US" dirty="0"/>
              <a:t>Localizing Named Entities: </a:t>
            </a:r>
            <a:r>
              <a:rPr lang="en-US" b="1" dirty="0"/>
              <a:t>Macaron</a:t>
            </a: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310FCF-FF45-FDDD-E3AC-4D18F37470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388AE5-1437-8AE2-627C-F3F33629CB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726"/>
          <a:stretch>
            <a:fillRect/>
          </a:stretch>
        </p:blipFill>
        <p:spPr>
          <a:xfrm>
            <a:off x="572746" y="860746"/>
            <a:ext cx="5213796" cy="32748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C98F37-A645-433A-8D5B-BC527F1600C0}"/>
              </a:ext>
            </a:extLst>
          </p:cNvPr>
          <p:cNvSpPr txBox="1"/>
          <p:nvPr/>
        </p:nvSpPr>
        <p:spPr>
          <a:xfrm>
            <a:off x="2273180" y="4135629"/>
            <a:ext cx="1492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Data construction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576132-FEFB-57D6-4724-90B085AE73BB}"/>
              </a:ext>
            </a:extLst>
          </p:cNvPr>
          <p:cNvGrpSpPr/>
          <p:nvPr/>
        </p:nvGrpSpPr>
        <p:grpSpPr>
          <a:xfrm>
            <a:off x="5964357" y="860746"/>
            <a:ext cx="1590125" cy="2232831"/>
            <a:chOff x="-568972" y="-218418"/>
            <a:chExt cx="3471062" cy="51435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E60B2AA-CFDB-9027-CAC7-B6132E117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48128"/>
            <a:stretch>
              <a:fillRect/>
            </a:stretch>
          </p:blipFill>
          <p:spPr>
            <a:xfrm>
              <a:off x="-568972" y="-218418"/>
              <a:ext cx="2790878" cy="51435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60B469E-C037-75F8-0054-9ABB59A79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7358"/>
            <a:stretch>
              <a:fillRect/>
            </a:stretch>
          </p:blipFill>
          <p:spPr>
            <a:xfrm>
              <a:off x="2221906" y="-218418"/>
              <a:ext cx="680184" cy="514350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CAB731D1-13DE-B785-FD55-DB2C280BE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357" y="3112145"/>
            <a:ext cx="3127628" cy="14898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A5312C-8830-05C6-728E-A775A312C033}"/>
              </a:ext>
            </a:extLst>
          </p:cNvPr>
          <p:cNvSpPr txBox="1"/>
          <p:nvPr/>
        </p:nvSpPr>
        <p:spPr>
          <a:xfrm>
            <a:off x="7098681" y="4489401"/>
            <a:ext cx="739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70B7EC-AE57-04EE-CB66-20F13B8AF8B8}"/>
              </a:ext>
            </a:extLst>
          </p:cNvPr>
          <p:cNvSpPr txBox="1"/>
          <p:nvPr/>
        </p:nvSpPr>
        <p:spPr>
          <a:xfrm>
            <a:off x="7528844" y="905855"/>
            <a:ext cx="15895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7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100 </a:t>
            </a:r>
            <a:r>
              <a:rPr lang="en-US" sz="1050" b="1" dirty="0">
                <a:solidFill>
                  <a:schemeClr val="tx1"/>
                </a:solidFill>
              </a:rPr>
              <a:t>language-agnostic templates</a:t>
            </a:r>
          </a:p>
          <a:p>
            <a:pPr marL="179387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20 countries</a:t>
            </a:r>
          </a:p>
          <a:p>
            <a:pPr marL="179387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20 languages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14C837-D79C-EB9A-1D77-93BB1B8BFC3F}"/>
              </a:ext>
            </a:extLst>
          </p:cNvPr>
          <p:cNvSpPr txBox="1"/>
          <p:nvPr/>
        </p:nvSpPr>
        <p:spPr>
          <a:xfrm>
            <a:off x="7554482" y="2921889"/>
            <a:ext cx="143111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937"/>
            <a:r>
              <a:rPr lang="en-US" sz="900" dirty="0">
                <a:solidFill>
                  <a:schemeClr val="accent4"/>
                </a:solidFill>
                <a:latin typeface="Work Sans" pitchFamily="2" charset="77"/>
              </a:rPr>
              <a:t>Performance varies depending on </a:t>
            </a:r>
            <a:r>
              <a:rPr lang="en-US" sz="900" b="1" dirty="0">
                <a:solidFill>
                  <a:schemeClr val="accent4"/>
                </a:solidFill>
                <a:latin typeface="Work Sans" pitchFamily="2" charset="77"/>
              </a:rPr>
              <a:t>query language</a:t>
            </a:r>
            <a:endParaRPr lang="en-US" sz="800" b="1" dirty="0">
              <a:solidFill>
                <a:schemeClr val="accent4"/>
              </a:solidFill>
              <a:latin typeface="Work Sans" pitchFamily="2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F8645E-566C-F0A7-218E-E99DC9D5BD2A}"/>
              </a:ext>
            </a:extLst>
          </p:cNvPr>
          <p:cNvSpPr txBox="1"/>
          <p:nvPr/>
        </p:nvSpPr>
        <p:spPr>
          <a:xfrm>
            <a:off x="547807" y="4875615"/>
            <a:ext cx="768179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Elsetohy</a:t>
            </a:r>
            <a:r>
              <a:rPr lang="en-GB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Alaa, et al. "Macaron: Controlled, Human-Written Benchmark for Multilingual and Multicultural Reasoning via Template-Filling." </a:t>
            </a:r>
            <a:r>
              <a:rPr lang="en-GB" sz="9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ACL 2026</a:t>
            </a:r>
            <a:endParaRPr lang="en-US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8D72B7-D78E-2431-6220-9765A2A00EB8}"/>
              </a:ext>
            </a:extLst>
          </p:cNvPr>
          <p:cNvSpPr/>
          <p:nvPr/>
        </p:nvSpPr>
        <p:spPr>
          <a:xfrm>
            <a:off x="8524240" y="3448288"/>
            <a:ext cx="461361" cy="798592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70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343AF-CE5B-7DB5-1A34-EC9F4439B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C0493-4D78-50C9-2215-8635EECE3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218418"/>
            <a:ext cx="7894800" cy="600134"/>
          </a:xfrm>
        </p:spPr>
        <p:txBody>
          <a:bodyPr/>
          <a:lstStyle/>
          <a:p>
            <a:r>
              <a:rPr lang="en-US" dirty="0"/>
              <a:t>Accessing Knowledge: </a:t>
            </a:r>
            <a:r>
              <a:rPr lang="en-US" b="1" dirty="0"/>
              <a:t>MILU</a:t>
            </a: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7298C2-476A-9F66-B0A2-90DF0B110F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75ABD3-C868-9686-F313-C80A9B4E0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94" y="743483"/>
            <a:ext cx="3070870" cy="38055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BBB4EE-F783-3A70-DF5F-79E2A468E7C3}"/>
              </a:ext>
            </a:extLst>
          </p:cNvPr>
          <p:cNvSpPr txBox="1"/>
          <p:nvPr/>
        </p:nvSpPr>
        <p:spPr>
          <a:xfrm>
            <a:off x="1476971" y="4489401"/>
            <a:ext cx="1492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Data construction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FF82F0-758B-4DA3-63D2-23B2483EACC7}"/>
              </a:ext>
            </a:extLst>
          </p:cNvPr>
          <p:cNvSpPr txBox="1"/>
          <p:nvPr/>
        </p:nvSpPr>
        <p:spPr>
          <a:xfrm>
            <a:off x="6907696" y="2688652"/>
            <a:ext cx="22363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  <a:latin typeface="Work Sans" pitchFamily="2" charset="77"/>
              </a:rPr>
              <a:t>MILU</a:t>
            </a:r>
            <a:r>
              <a:rPr lang="en-US" sz="1200" dirty="0">
                <a:solidFill>
                  <a:schemeClr val="tx1"/>
                </a:solidFill>
                <a:latin typeface="Work Sans" pitchFamily="2" charset="77"/>
              </a:rPr>
              <a:t> focuses on </a:t>
            </a:r>
            <a:r>
              <a:rPr lang="en-US" sz="1200" b="1" dirty="0">
                <a:solidFill>
                  <a:schemeClr val="tx1"/>
                </a:solidFill>
                <a:latin typeface="Work Sans" pitchFamily="2" charset="77"/>
              </a:rPr>
              <a:t>India-specific topics </a:t>
            </a:r>
            <a:r>
              <a:rPr lang="en-US" sz="1200" dirty="0">
                <a:solidFill>
                  <a:schemeClr val="tx1"/>
                </a:solidFill>
                <a:latin typeface="Work Sans" pitchFamily="2" charset="77"/>
              </a:rPr>
              <a:t>and</a:t>
            </a:r>
          </a:p>
          <a:p>
            <a:r>
              <a:rPr lang="en-US" sz="1200" b="1" dirty="0">
                <a:solidFill>
                  <a:schemeClr val="tx1"/>
                </a:solidFill>
                <a:latin typeface="Work Sans" pitchFamily="2" charset="77"/>
              </a:rPr>
              <a:t>questions</a:t>
            </a:r>
            <a:r>
              <a:rPr lang="en-US" sz="1200" dirty="0">
                <a:solidFill>
                  <a:schemeClr val="tx1"/>
                </a:solidFill>
                <a:latin typeface="Work Sans" pitchFamily="2" charset="77"/>
              </a:rPr>
              <a:t> but doesn’t seem </a:t>
            </a:r>
            <a:r>
              <a:rPr lang="en-US" sz="1200" b="1" dirty="0">
                <a:solidFill>
                  <a:schemeClr val="accent4"/>
                </a:solidFill>
                <a:latin typeface="Work Sans" pitchFamily="2" charset="77"/>
              </a:rPr>
              <a:t>too challenging</a:t>
            </a:r>
            <a:r>
              <a:rPr lang="en-US" sz="1200" dirty="0">
                <a:solidFill>
                  <a:schemeClr val="accent4"/>
                </a:solidFill>
                <a:latin typeface="Work Sans" pitchFamily="2" charset="77"/>
              </a:rPr>
              <a:t>.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0233655-D22E-F05B-DA8A-C750151BFB4C}"/>
              </a:ext>
            </a:extLst>
          </p:cNvPr>
          <p:cNvGrpSpPr/>
          <p:nvPr/>
        </p:nvGrpSpPr>
        <p:grpSpPr>
          <a:xfrm>
            <a:off x="3973712" y="3464329"/>
            <a:ext cx="5170288" cy="984162"/>
            <a:chOff x="3700267" y="1626979"/>
            <a:chExt cx="5170288" cy="98416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3206B9-23AE-E5DD-E481-827AD5C85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5705" b="13818"/>
            <a:stretch>
              <a:fillRect/>
            </a:stretch>
          </p:blipFill>
          <p:spPr>
            <a:xfrm>
              <a:off x="3700267" y="1626979"/>
              <a:ext cx="863083" cy="98416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689770E-5551-53E5-610C-DF568EA5E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8664" b="13818"/>
            <a:stretch>
              <a:fillRect/>
            </a:stretch>
          </p:blipFill>
          <p:spPr>
            <a:xfrm>
              <a:off x="4563559" y="1626979"/>
              <a:ext cx="4306996" cy="984162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EEDA0EED-5387-73D8-2AC4-F0D2FFAF8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3712" y="818552"/>
            <a:ext cx="2522483" cy="25717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FA3B3CA-D76C-1420-4A02-169B83A05D20}"/>
              </a:ext>
            </a:extLst>
          </p:cNvPr>
          <p:cNvSpPr txBox="1"/>
          <p:nvPr/>
        </p:nvSpPr>
        <p:spPr>
          <a:xfrm>
            <a:off x="5749837" y="4448491"/>
            <a:ext cx="739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844A44-7171-9252-01D2-67400186BF1A}"/>
              </a:ext>
            </a:extLst>
          </p:cNvPr>
          <p:cNvSpPr txBox="1"/>
          <p:nvPr/>
        </p:nvSpPr>
        <p:spPr>
          <a:xfrm>
            <a:off x="475200" y="4797251"/>
            <a:ext cx="7230698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75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Verma, </a:t>
            </a:r>
            <a:r>
              <a:rPr lang="en-GB" sz="975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Sshubam</a:t>
            </a:r>
            <a:r>
              <a:rPr lang="en-GB" sz="975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et al. "Milu: A multi-task </a:t>
            </a:r>
            <a:r>
              <a:rPr lang="en-GB" sz="975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indic</a:t>
            </a:r>
            <a:r>
              <a:rPr lang="en-GB" sz="975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language understanding benchmark." </a:t>
            </a:r>
            <a:r>
              <a:rPr lang="en-GB" sz="975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NAACL-HLT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95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9ADF2-6FAA-31E6-441C-011796F50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14F8-9A90-6EAD-DE6D-925659BB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218418"/>
            <a:ext cx="7894800" cy="600134"/>
          </a:xfrm>
        </p:spPr>
        <p:txBody>
          <a:bodyPr/>
          <a:lstStyle/>
          <a:p>
            <a:r>
              <a:rPr lang="en-US" dirty="0"/>
              <a:t>Accessing Knowledge: </a:t>
            </a:r>
            <a:r>
              <a:rPr lang="en-US" b="1" dirty="0"/>
              <a:t>INCLUDE</a:t>
            </a: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AE8950-120E-2274-477D-2E9C2937B6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42615D-02B8-2268-357F-C93AA7DBADA5}"/>
              </a:ext>
            </a:extLst>
          </p:cNvPr>
          <p:cNvSpPr txBox="1"/>
          <p:nvPr/>
        </p:nvSpPr>
        <p:spPr>
          <a:xfrm>
            <a:off x="475200" y="850891"/>
            <a:ext cx="7804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/>
                </a:solidFill>
                <a:latin typeface="Work Sans" pitchFamily="2" charset="77"/>
              </a:rPr>
              <a:t>INCLUDE</a:t>
            </a:r>
            <a:r>
              <a:rPr lang="en-US" sz="1100" dirty="0">
                <a:solidFill>
                  <a:schemeClr val="tx1"/>
                </a:solidFill>
                <a:latin typeface="Work Sans" pitchFamily="2" charset="77"/>
              </a:rPr>
              <a:t> is a multilingual benchmark compiled from </a:t>
            </a:r>
            <a:r>
              <a:rPr lang="en-US" sz="1100" b="1" dirty="0">
                <a:solidFill>
                  <a:schemeClr val="tx1"/>
                </a:solidFill>
                <a:latin typeface="Work Sans" pitchFamily="2" charset="77"/>
              </a:rPr>
              <a:t>academic</a:t>
            </a:r>
            <a:r>
              <a:rPr lang="en-US" sz="1100" dirty="0">
                <a:solidFill>
                  <a:schemeClr val="tx1"/>
                </a:solidFill>
                <a:latin typeface="Work Sans" pitchFamily="2" charset="77"/>
              </a:rPr>
              <a:t>, </a:t>
            </a:r>
            <a:r>
              <a:rPr lang="en-US" sz="1100" b="1" dirty="0">
                <a:solidFill>
                  <a:schemeClr val="tx1"/>
                </a:solidFill>
                <a:latin typeface="Work Sans" pitchFamily="2" charset="77"/>
              </a:rPr>
              <a:t>professional</a:t>
            </a:r>
            <a:r>
              <a:rPr lang="en-US" sz="1100" dirty="0">
                <a:solidFill>
                  <a:schemeClr val="tx1"/>
                </a:solidFill>
                <a:latin typeface="Work Sans" pitchFamily="2" charset="77"/>
              </a:rPr>
              <a:t>, and </a:t>
            </a:r>
            <a:r>
              <a:rPr lang="en-US" sz="1100" b="1" dirty="0">
                <a:solidFill>
                  <a:schemeClr val="tx1"/>
                </a:solidFill>
                <a:latin typeface="Work Sans" pitchFamily="2" charset="77"/>
              </a:rPr>
              <a:t>occupational license examinations</a:t>
            </a:r>
            <a:r>
              <a:rPr lang="en-US" sz="1100" dirty="0">
                <a:solidFill>
                  <a:schemeClr val="tx1"/>
                </a:solidFill>
                <a:latin typeface="Work Sans" pitchFamily="2" charset="77"/>
              </a:rPr>
              <a:t> reflecting regional and cultural knowledge in </a:t>
            </a:r>
            <a:r>
              <a:rPr lang="en-US" sz="1100" b="1" dirty="0">
                <a:solidFill>
                  <a:srgbClr val="00B050"/>
                </a:solidFill>
                <a:latin typeface="Work Sans" pitchFamily="2" charset="77"/>
              </a:rPr>
              <a:t>44 languages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C83E5C-C2F1-FA17-B052-CEFAA1BB8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00" y="1297220"/>
            <a:ext cx="5940176" cy="32375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D057C8-AC7E-CAA6-A172-A80AF561E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490" y="3045282"/>
            <a:ext cx="5256510" cy="14894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7216FD-1739-A433-3393-32D0BA814F02}"/>
              </a:ext>
            </a:extLst>
          </p:cNvPr>
          <p:cNvSpPr txBox="1"/>
          <p:nvPr/>
        </p:nvSpPr>
        <p:spPr>
          <a:xfrm>
            <a:off x="1801711" y="4489401"/>
            <a:ext cx="1492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Data construction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9A94DE-0EF8-1F3E-CBE9-205FC70B08A7}"/>
              </a:ext>
            </a:extLst>
          </p:cNvPr>
          <p:cNvSpPr txBox="1"/>
          <p:nvPr/>
        </p:nvSpPr>
        <p:spPr>
          <a:xfrm>
            <a:off x="6269134" y="4489400"/>
            <a:ext cx="739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712C97-F57E-514D-5A6C-D879B6F84844}"/>
              </a:ext>
            </a:extLst>
          </p:cNvPr>
          <p:cNvSpPr txBox="1"/>
          <p:nvPr/>
        </p:nvSpPr>
        <p:spPr>
          <a:xfrm>
            <a:off x="6581442" y="2398951"/>
            <a:ext cx="22363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Work Sans" pitchFamily="2" charset="77"/>
              </a:rPr>
              <a:t>LLMs have better results on </a:t>
            </a:r>
            <a:r>
              <a:rPr lang="en-US" sz="1200" b="1" dirty="0">
                <a:solidFill>
                  <a:schemeClr val="accent3"/>
                </a:solidFill>
                <a:latin typeface="Work Sans" pitchFamily="2" charset="77"/>
              </a:rPr>
              <a:t>Global knowledge </a:t>
            </a:r>
            <a:r>
              <a:rPr lang="en-US" sz="1200" dirty="0">
                <a:solidFill>
                  <a:schemeClr val="accent3"/>
                </a:solidFill>
                <a:latin typeface="Work Sans" pitchFamily="2" charset="77"/>
              </a:rPr>
              <a:t>than </a:t>
            </a:r>
            <a:r>
              <a:rPr lang="en-US" sz="1200" b="1" dirty="0">
                <a:solidFill>
                  <a:schemeClr val="accent3"/>
                </a:solidFill>
                <a:latin typeface="Work Sans" pitchFamily="2" charset="77"/>
              </a:rPr>
              <a:t>regional</a:t>
            </a:r>
            <a:r>
              <a:rPr lang="en-US" sz="1200" dirty="0">
                <a:solidFill>
                  <a:schemeClr val="accent3"/>
                </a:solidFill>
                <a:latin typeface="Work Sans" pitchFamily="2" charset="77"/>
              </a:rPr>
              <a:t> ones. </a:t>
            </a:r>
            <a:r>
              <a:rPr lang="en-US" sz="1200" b="1" dirty="0">
                <a:solidFill>
                  <a:schemeClr val="accent3"/>
                </a:solidFill>
                <a:latin typeface="Work Sans" pitchFamily="2" charset="77"/>
              </a:rPr>
              <a:t> </a:t>
            </a:r>
            <a:endParaRPr lang="en-US" sz="1200" dirty="0">
              <a:solidFill>
                <a:schemeClr val="accent3"/>
              </a:solidFill>
              <a:latin typeface="Work Sans" pitchFamily="2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4A2D53-A66A-9FE2-4443-EA39459B2A1F}"/>
              </a:ext>
            </a:extLst>
          </p:cNvPr>
          <p:cNvSpPr txBox="1"/>
          <p:nvPr/>
        </p:nvSpPr>
        <p:spPr>
          <a:xfrm>
            <a:off x="475199" y="4832721"/>
            <a:ext cx="735538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Romanou</a:t>
            </a:r>
            <a:r>
              <a:rPr lang="en-GB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Angelika, et al. "Include: Evaluating multilingual language understanding with regional knowledge." </a:t>
            </a:r>
            <a:r>
              <a:rPr lang="en-GB" sz="9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ICLR </a:t>
            </a:r>
            <a:r>
              <a:rPr lang="en-GB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2025.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6372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76FAC-BB9D-0723-DE27-BA7F7F777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2C17-3D13-C58C-9C4A-5DBA89A0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218418"/>
            <a:ext cx="7894800" cy="600134"/>
          </a:xfrm>
        </p:spPr>
        <p:txBody>
          <a:bodyPr/>
          <a:lstStyle/>
          <a:p>
            <a:r>
              <a:rPr lang="en-US" dirty="0"/>
              <a:t>Accessing Knowledge: </a:t>
            </a:r>
            <a:r>
              <a:rPr lang="en-US" b="1" dirty="0"/>
              <a:t>INCLUDE 2.0</a:t>
            </a: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C83EA7-F5CA-8863-E5CA-8F02B1B943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B0D1B5-475A-58C3-F02D-E2083212F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97" y="731520"/>
            <a:ext cx="3062945" cy="3848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988C66-1513-6C25-AC75-DC33614D5FE5}"/>
              </a:ext>
            </a:extLst>
          </p:cNvPr>
          <p:cNvSpPr txBox="1"/>
          <p:nvPr/>
        </p:nvSpPr>
        <p:spPr>
          <a:xfrm>
            <a:off x="1228133" y="4489401"/>
            <a:ext cx="1492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Data construction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851767-46C1-1F62-5F1F-040BEEE3C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137" y="3616334"/>
            <a:ext cx="5092887" cy="8730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4AC8F3-7ED3-43A8-6E06-7F66869EC366}"/>
              </a:ext>
            </a:extLst>
          </p:cNvPr>
          <p:cNvSpPr txBox="1"/>
          <p:nvPr/>
        </p:nvSpPr>
        <p:spPr>
          <a:xfrm>
            <a:off x="3951137" y="880326"/>
            <a:ext cx="492685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Work Sans" pitchFamily="2" charset="77"/>
              </a:rPr>
              <a:t>INCLUDE-2.0</a:t>
            </a:r>
            <a:r>
              <a:rPr lang="en-US" dirty="0">
                <a:solidFill>
                  <a:schemeClr val="tx1"/>
                </a:solidFill>
                <a:latin typeface="Work Sans" pitchFamily="2" charset="77"/>
              </a:rPr>
              <a:t> covers </a:t>
            </a:r>
            <a:r>
              <a:rPr lang="en-US" b="1" dirty="0">
                <a:solidFill>
                  <a:srgbClr val="00B050"/>
                </a:solidFill>
                <a:latin typeface="Work Sans" pitchFamily="2" charset="77"/>
              </a:rPr>
              <a:t>91 languages</a:t>
            </a:r>
            <a:r>
              <a:rPr lang="en-US" dirty="0">
                <a:solidFill>
                  <a:schemeClr val="tx1"/>
                </a:solidFill>
                <a:latin typeface="Work Sans" pitchFamily="2" charset="77"/>
              </a:rPr>
              <a:t>, 22 scripts, </a:t>
            </a:r>
            <a:r>
              <a:rPr lang="en-US" b="1" dirty="0">
                <a:solidFill>
                  <a:schemeClr val="accent3"/>
                </a:solidFill>
                <a:latin typeface="Work Sans" pitchFamily="2" charset="77"/>
              </a:rPr>
              <a:t>86 countries</a:t>
            </a:r>
            <a:r>
              <a:rPr lang="en-US" dirty="0">
                <a:solidFill>
                  <a:schemeClr val="tx1"/>
                </a:solidFill>
                <a:latin typeface="Work Sans" pitchFamily="2" charset="77"/>
              </a:rPr>
              <a:t>, and over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Work Sans" pitchFamily="2" charset="77"/>
              </a:rPr>
              <a:t>220,000 samples</a:t>
            </a:r>
            <a:r>
              <a:rPr lang="en-US" dirty="0">
                <a:solidFill>
                  <a:schemeClr val="tx1"/>
                </a:solidFill>
                <a:latin typeface="Work Sans" pitchFamily="2" charset="77"/>
              </a:rPr>
              <a:t>. </a:t>
            </a: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  <a:latin typeface="Work Sans" pitchFamily="2" charset="77"/>
              </a:rPr>
              <a:t>Largest factual knowledge for African languages </a:t>
            </a: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  <a:latin typeface="Work Sans" pitchFamily="2" charset="77"/>
              </a:rPr>
              <a:t>32 African languages</a:t>
            </a: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  <a:latin typeface="Work Sans" pitchFamily="2" charset="77"/>
              </a:rPr>
              <a:t>14 Indian languages </a:t>
            </a: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  <a:latin typeface="Work Sans" pitchFamily="2" charset="77"/>
              </a:rPr>
              <a:t>Each </a:t>
            </a:r>
            <a:r>
              <a:rPr lang="en-US" sz="1200" u="sng" dirty="0">
                <a:solidFill>
                  <a:schemeClr val="tx1"/>
                </a:solidFill>
                <a:latin typeface="Work Sans" pitchFamily="2" charset="77"/>
              </a:rPr>
              <a:t>item is annotated with its regional knowledge category</a:t>
            </a:r>
            <a:r>
              <a:rPr lang="en-US" sz="1200" dirty="0">
                <a:solidFill>
                  <a:schemeClr val="tx1"/>
                </a:solidFill>
                <a:latin typeface="Work Sans" pitchFamily="2" charset="77"/>
              </a:rPr>
              <a:t>, and all items are </a:t>
            </a:r>
            <a:r>
              <a:rPr lang="en-US" sz="1200" b="1" dirty="0">
                <a:solidFill>
                  <a:schemeClr val="tx1"/>
                </a:solidFill>
                <a:latin typeface="Work Sans" pitchFamily="2" charset="77"/>
              </a:rPr>
              <a:t>paired with English translations</a:t>
            </a:r>
            <a:r>
              <a:rPr lang="en-US" sz="1200" dirty="0">
                <a:solidFill>
                  <a:schemeClr val="tx1"/>
                </a:solidFill>
                <a:latin typeface="Work Sans" pitchFamily="2" charset="77"/>
              </a:rPr>
              <a:t>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4256CE-89F2-65A3-522B-259EC43F16A0}"/>
              </a:ext>
            </a:extLst>
          </p:cNvPr>
          <p:cNvSpPr txBox="1"/>
          <p:nvPr/>
        </p:nvSpPr>
        <p:spPr>
          <a:xfrm>
            <a:off x="5496894" y="3039253"/>
            <a:ext cx="338109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3"/>
                </a:solidFill>
              </a:rPr>
              <a:t>Region-Embedded</a:t>
            </a:r>
            <a:r>
              <a:rPr lang="en-US" sz="1050" dirty="0">
                <a:solidFill>
                  <a:schemeClr val="accent3"/>
                </a:solidFill>
              </a:rPr>
              <a:t> is the most challenging followed by </a:t>
            </a:r>
            <a:r>
              <a:rPr lang="en-US" sz="1050" b="1" dirty="0">
                <a:solidFill>
                  <a:schemeClr val="accent3"/>
                </a:solidFill>
              </a:rPr>
              <a:t>Regional-Conditional</a:t>
            </a:r>
            <a:r>
              <a:rPr lang="en-US" sz="1050" dirty="0">
                <a:solidFill>
                  <a:schemeClr val="accent3"/>
                </a:solidFill>
              </a:rPr>
              <a:t> since </a:t>
            </a:r>
            <a:r>
              <a:rPr lang="en-US" sz="1050" u="sng" dirty="0">
                <a:solidFill>
                  <a:schemeClr val="accent3"/>
                </a:solidFill>
              </a:rPr>
              <a:t>cultural knowledge are often required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EAD1C1-D668-03C1-A711-B4C7E87DABB1}"/>
              </a:ext>
            </a:extLst>
          </p:cNvPr>
          <p:cNvSpPr txBox="1"/>
          <p:nvPr/>
        </p:nvSpPr>
        <p:spPr>
          <a:xfrm>
            <a:off x="475200" y="4824519"/>
            <a:ext cx="757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Romanou</a:t>
            </a:r>
            <a:r>
              <a:rPr lang="en-GB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Angelika, et al. "</a:t>
            </a:r>
            <a:r>
              <a:rPr lang="en-US" sz="900" dirty="0"/>
              <a:t>INCLUDE-2.0: Disentangling Knowledge Gaps in Multilingual LLM Evaluation”</a:t>
            </a:r>
            <a:r>
              <a:rPr lang="en-GB" sz="9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EMNLP </a:t>
            </a:r>
            <a:r>
              <a:rPr lang="en-GB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2026.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0907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3">
          <a:extLst>
            <a:ext uri="{FF2B5EF4-FFF2-40B4-BE49-F238E27FC236}">
              <a16:creationId xmlns:a16="http://schemas.microsoft.com/office/drawing/2014/main" id="{0D91ADDD-8EF3-A7F0-F6F9-0CCFAC7ED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39">
            <a:extLst>
              <a:ext uri="{FF2B5EF4-FFF2-40B4-BE49-F238E27FC236}">
                <a16:creationId xmlns:a16="http://schemas.microsoft.com/office/drawing/2014/main" id="{E59D7500-6A0D-6A4E-0067-C4FB2E3BA0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fr" sz="80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endParaRPr lang="fr" sz="80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C2316A1-ADCC-D661-000F-BC27A39A8618}"/>
              </a:ext>
            </a:extLst>
          </p:cNvPr>
          <p:cNvSpPr/>
          <p:nvPr/>
        </p:nvSpPr>
        <p:spPr>
          <a:xfrm>
            <a:off x="475200" y="335665"/>
            <a:ext cx="3102015" cy="10995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91425" tIns="91425" rIns="91425" bIns="91425" rtlCol="0" anchor="t" anchorCtr="0">
            <a:normAutofit/>
          </a:bodyPr>
          <a:lstStyle/>
          <a:p>
            <a:pPr marL="457200" indent="-304800" algn="ctr">
              <a:spcAft>
                <a:spcPts val="600"/>
              </a:spcAft>
              <a:buClr>
                <a:schemeClr val="dk1"/>
              </a:buClr>
              <a:buSzPts val="1100"/>
            </a:pPr>
            <a:r>
              <a:rPr lang="en-US" sz="2600" dirty="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Cultural benchmarks</a:t>
            </a:r>
            <a:endParaRPr lang="en-US" sz="2600" b="0" i="0" u="none" strike="noStrike" cap="none" dirty="0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marL="457200" lvl="1" indent="-304800" algn="ctr">
              <a:spcAft>
                <a:spcPts val="600"/>
              </a:spcAft>
              <a:buClr>
                <a:schemeClr val="dk1"/>
              </a:buClr>
              <a:buSzPts val="1100"/>
            </a:pPr>
            <a:endParaRPr lang="en-US" sz="1100" b="0" i="0" u="none" strike="noStrike" cap="none" dirty="0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B8B217D0-288E-D919-B2D3-1C8639BBD0B7}"/>
              </a:ext>
            </a:extLst>
          </p:cNvPr>
          <p:cNvSpPr/>
          <p:nvPr/>
        </p:nvSpPr>
        <p:spPr>
          <a:xfrm>
            <a:off x="4015779" y="335665"/>
            <a:ext cx="3991630" cy="24331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91425" tIns="91425" rIns="91425" bIns="91425" rtlCol="0" anchor="t" anchorCtr="0">
            <a:normAutofit/>
          </a:bodyPr>
          <a:lstStyle/>
          <a:p>
            <a:pPr marL="457200" indent="-304800" algn="ctr">
              <a:spcAft>
                <a:spcPts val="600"/>
              </a:spcAft>
              <a:buClr>
                <a:schemeClr val="dk1"/>
              </a:buClr>
              <a:buSzPts val="1100"/>
            </a:pPr>
            <a:r>
              <a:rPr lang="en-US" sz="2600" dirty="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Multimodal settings</a:t>
            </a:r>
          </a:p>
          <a:p>
            <a:pPr marL="936625" indent="-460375">
              <a:spcAft>
                <a:spcPts val="60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Text + Image</a:t>
            </a:r>
          </a:p>
          <a:p>
            <a:pPr marL="936625" indent="-460375">
              <a:spcAft>
                <a:spcPts val="60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Speech + Image</a:t>
            </a:r>
          </a:p>
          <a:p>
            <a:pPr marL="609600" indent="-457200">
              <a:spcAft>
                <a:spcPts val="600"/>
              </a:spcAft>
              <a:buClr>
                <a:schemeClr val="dk1"/>
              </a:buClr>
              <a:buSzPts val="1100"/>
              <a:buFontTx/>
              <a:buChar char="-"/>
            </a:pPr>
            <a:endParaRPr lang="en-US" sz="2600" b="0" i="0" u="none" strike="noStrike" cap="none" dirty="0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marL="457200" lvl="1" indent="-304800" algn="ctr">
              <a:spcAft>
                <a:spcPts val="600"/>
              </a:spcAft>
              <a:buClr>
                <a:schemeClr val="dk1"/>
              </a:buClr>
              <a:buSzPts val="1100"/>
            </a:pPr>
            <a:endParaRPr lang="en-US" sz="1100" b="0" i="0" u="none" strike="noStrike" cap="none" dirty="0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89537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04571-E1B5-AF3C-42E6-1237219F0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0CD72-14B9-03E3-7F54-E23FA218C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00" y="218418"/>
            <a:ext cx="7894800" cy="600134"/>
          </a:xfrm>
        </p:spPr>
        <p:txBody>
          <a:bodyPr/>
          <a:lstStyle/>
          <a:p>
            <a:r>
              <a:rPr lang="en-US" dirty="0"/>
              <a:t>How to evaluate culture in VLMs?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84BD17-FF6E-A36D-CD15-77DCA6786A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7BBE-B4CA-2D00-E2AF-9E0107BF7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88" y="1487437"/>
            <a:ext cx="4099206" cy="28391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21AF8A-4C33-F92F-40C5-C0FBD96C3E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696" b="23723"/>
          <a:stretch>
            <a:fillRect/>
          </a:stretch>
        </p:blipFill>
        <p:spPr>
          <a:xfrm>
            <a:off x="575478" y="1590654"/>
            <a:ext cx="4099206" cy="27563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294B8B-2DF1-5345-E2CA-95A73BB9F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886" y="738205"/>
            <a:ext cx="2576853" cy="7486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45573C-D52C-CE97-773F-F15550D3254F}"/>
              </a:ext>
            </a:extLst>
          </p:cNvPr>
          <p:cNvSpPr txBox="1"/>
          <p:nvPr/>
        </p:nvSpPr>
        <p:spPr>
          <a:xfrm>
            <a:off x="575478" y="1200426"/>
            <a:ext cx="16337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3"/>
                </a:solidFill>
              </a:rPr>
              <a:t>Image-Text QA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C9C5B1-912A-F67F-474E-3A88FF8FBE4B}"/>
              </a:ext>
            </a:extLst>
          </p:cNvPr>
          <p:cNvSpPr txBox="1"/>
          <p:nvPr/>
        </p:nvSpPr>
        <p:spPr>
          <a:xfrm>
            <a:off x="4838105" y="1076341"/>
            <a:ext cx="16337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3"/>
                </a:solidFill>
              </a:rPr>
              <a:t>Text-Image QA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20000F-E59F-707B-776D-0F3B4612D428}"/>
              </a:ext>
            </a:extLst>
          </p:cNvPr>
          <p:cNvSpPr txBox="1"/>
          <p:nvPr/>
        </p:nvSpPr>
        <p:spPr>
          <a:xfrm>
            <a:off x="575478" y="4346963"/>
            <a:ext cx="41583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 err="1"/>
              <a:t>CultureVQA</a:t>
            </a:r>
            <a:r>
              <a:rPr lang="en-US" sz="1000" dirty="0"/>
              <a:t>: Nayak et al. Benchmarking Vision Language Models for Cultural Understanding. In EMNLP 2024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9D389F-531F-DDE5-87E9-44AF01F58BB2}"/>
              </a:ext>
            </a:extLst>
          </p:cNvPr>
          <p:cNvSpPr txBox="1"/>
          <p:nvPr/>
        </p:nvSpPr>
        <p:spPr>
          <a:xfrm>
            <a:off x="4985657" y="4335513"/>
            <a:ext cx="415834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 err="1"/>
              <a:t>WorldWideDishes</a:t>
            </a:r>
            <a:r>
              <a:rPr lang="en-US" sz="1000" dirty="0"/>
              <a:t>: </a:t>
            </a:r>
            <a:r>
              <a:rPr lang="en-US" sz="1000" dirty="0" err="1"/>
              <a:t>Magomere</a:t>
            </a:r>
            <a:r>
              <a:rPr lang="en-US" sz="1000" dirty="0"/>
              <a:t> et. Al. The World Wide recipe: A community-</a:t>
            </a:r>
            <a:r>
              <a:rPr lang="en-US" sz="1000" dirty="0" err="1"/>
              <a:t>centred</a:t>
            </a:r>
            <a:r>
              <a:rPr lang="en-US" sz="1000" dirty="0"/>
              <a:t> framework for fine-grained data …, FAT 2025</a:t>
            </a:r>
          </a:p>
        </p:txBody>
      </p:sp>
    </p:spTree>
    <p:extLst>
      <p:ext uri="{BB962C8B-B14F-4D97-AF65-F5344CB8AC3E}">
        <p14:creationId xmlns:p14="http://schemas.microsoft.com/office/powerpoint/2010/main" val="4227196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C77B11F3-4BA6-FF2F-C7B0-E6EDA1C34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">
            <a:extLst>
              <a:ext uri="{FF2B5EF4-FFF2-40B4-BE49-F238E27FC236}">
                <a16:creationId xmlns:a16="http://schemas.microsoft.com/office/drawing/2014/main" id="{A7B28F58-0C8D-0260-365B-B9DAEF7CE1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2800" dirty="0"/>
              <a:t>Culture is a Multifaceted Concept</a:t>
            </a:r>
          </a:p>
        </p:txBody>
      </p:sp>
      <p:sp>
        <p:nvSpPr>
          <p:cNvPr id="960" name="Google Shape;960;p2">
            <a:extLst>
              <a:ext uri="{FF2B5EF4-FFF2-40B4-BE49-F238E27FC236}">
                <a16:creationId xmlns:a16="http://schemas.microsoft.com/office/drawing/2014/main" id="{28A228CF-16F8-078F-D8EF-2109D467CB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800"/>
              <a:pPr>
                <a:lnSpc>
                  <a:spcPct val="90000"/>
                </a:lnSpc>
                <a:spcAft>
                  <a:spcPts val="600"/>
                </a:spcAft>
              </a:pPr>
              <a:t>16</a:t>
            </a:fld>
            <a:endParaRPr lang="en-US" sz="800"/>
          </a:p>
        </p:txBody>
      </p:sp>
      <p:sp>
        <p:nvSpPr>
          <p:cNvPr id="3" name="Google Shape;958;p2">
            <a:extLst>
              <a:ext uri="{FF2B5EF4-FFF2-40B4-BE49-F238E27FC236}">
                <a16:creationId xmlns:a16="http://schemas.microsoft.com/office/drawing/2014/main" id="{CE92C4FA-EC02-6407-A92F-4A35831DE207}"/>
              </a:ext>
            </a:extLst>
          </p:cNvPr>
          <p:cNvSpPr txBox="1"/>
          <p:nvPr/>
        </p:nvSpPr>
        <p:spPr>
          <a:xfrm>
            <a:off x="622435" y="982685"/>
            <a:ext cx="3749149" cy="178366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lIns="91425" tIns="45700" rIns="91425" bIns="45700" anchor="t" anchorCtr="0">
            <a:normAutofit/>
          </a:bodyPr>
          <a:lstStyle/>
          <a:p>
            <a:pPr>
              <a:spcAft>
                <a:spcPts val="900"/>
              </a:spcAft>
            </a:pPr>
            <a:r>
              <a:rPr lang="en-GB" b="1" dirty="0">
                <a:solidFill>
                  <a:schemeClr val="tx1"/>
                </a:solidFill>
                <a:latin typeface="Work Sans" pitchFamily="2" charset="77"/>
              </a:rPr>
              <a:t>Tangible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tx1"/>
                </a:solidFill>
                <a:latin typeface="Work Sans" pitchFamily="2" charset="77"/>
              </a:rPr>
              <a:t>Food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tx1"/>
                </a:solidFill>
                <a:latin typeface="Work Sans" pitchFamily="2" charset="77"/>
              </a:rPr>
              <a:t>Tools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tx1"/>
                </a:solidFill>
                <a:latin typeface="Work Sans" pitchFamily="2" charset="77"/>
              </a:rPr>
              <a:t>Musical instrument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tx1"/>
                </a:solidFill>
                <a:latin typeface="Work Sans" pitchFamily="2" charset="77"/>
              </a:rPr>
              <a:t>Landmarks and Architecture etc.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endParaRPr lang="en-CA" dirty="0">
              <a:solidFill>
                <a:schemeClr val="tx1"/>
              </a:solidFill>
              <a:latin typeface="Work Sans" pitchFamily="2" charset="77"/>
            </a:endParaRPr>
          </a:p>
        </p:txBody>
      </p:sp>
      <p:sp>
        <p:nvSpPr>
          <p:cNvPr id="5" name="Google Shape;958;p2">
            <a:extLst>
              <a:ext uri="{FF2B5EF4-FFF2-40B4-BE49-F238E27FC236}">
                <a16:creationId xmlns:a16="http://schemas.microsoft.com/office/drawing/2014/main" id="{07A8AFD1-DBCD-AA34-C0AB-64755A21309A}"/>
              </a:ext>
            </a:extLst>
          </p:cNvPr>
          <p:cNvSpPr txBox="1"/>
          <p:nvPr/>
        </p:nvSpPr>
        <p:spPr>
          <a:xfrm>
            <a:off x="4920950" y="887052"/>
            <a:ext cx="3749149" cy="1783664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t" anchorCtr="0">
            <a:normAutofit/>
          </a:bodyPr>
          <a:lstStyle/>
          <a:p>
            <a:pPr>
              <a:spcAft>
                <a:spcPts val="900"/>
              </a:spcAft>
            </a:pPr>
            <a:r>
              <a:rPr lang="en-GB" b="1" dirty="0">
                <a:solidFill>
                  <a:schemeClr val="tx1"/>
                </a:solidFill>
                <a:latin typeface="Work Sans" pitchFamily="2" charset="77"/>
              </a:rPr>
              <a:t>Intangible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Work Sans" pitchFamily="2" charset="77"/>
              </a:rPr>
              <a:t>Beliefs, 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Work Sans" pitchFamily="2" charset="77"/>
              </a:rPr>
              <a:t>Values, 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Work Sans" pitchFamily="2" charset="77"/>
              </a:rPr>
              <a:t>Social norms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Work Sans" pitchFamily="2" charset="77"/>
              </a:rPr>
              <a:t>Traditions and ceremonies etc.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endParaRPr lang="en-GB" dirty="0">
              <a:solidFill>
                <a:schemeClr val="tx1"/>
              </a:solidFill>
              <a:latin typeface="Work Sans" pitchFamily="2" charset="77"/>
            </a:endParaRP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endParaRPr lang="en-CA" dirty="0">
              <a:solidFill>
                <a:schemeClr val="tx1"/>
              </a:solidFill>
              <a:latin typeface="Work Sans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D5D7AF-731D-18D1-24FD-B65BCF4A7472}"/>
              </a:ext>
            </a:extLst>
          </p:cNvPr>
          <p:cNvSpPr txBox="1"/>
          <p:nvPr/>
        </p:nvSpPr>
        <p:spPr>
          <a:xfrm>
            <a:off x="1013255" y="2804027"/>
            <a:ext cx="2940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VLM cultural eval. primary focus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6041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45385F9B-5B7F-7769-DFE8-5FB38559C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">
            <a:extLst>
              <a:ext uri="{FF2B5EF4-FFF2-40B4-BE49-F238E27FC236}">
                <a16:creationId xmlns:a16="http://schemas.microsoft.com/office/drawing/2014/main" id="{962338BD-031D-711A-87BA-AAACF3F417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8045222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2800" dirty="0"/>
              <a:t>Example of Tangible Cultural categorization</a:t>
            </a:r>
          </a:p>
        </p:txBody>
      </p:sp>
      <p:sp>
        <p:nvSpPr>
          <p:cNvPr id="960" name="Google Shape;960;p2">
            <a:extLst>
              <a:ext uri="{FF2B5EF4-FFF2-40B4-BE49-F238E27FC236}">
                <a16:creationId xmlns:a16="http://schemas.microsoft.com/office/drawing/2014/main" id="{42D80A27-2BAD-E23E-F877-01FB4BC773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800"/>
              <a:pPr>
                <a:lnSpc>
                  <a:spcPct val="90000"/>
                </a:lnSpc>
                <a:spcAft>
                  <a:spcPts val="600"/>
                </a:spcAft>
              </a:pPr>
              <a:t>17</a:t>
            </a:fld>
            <a:endParaRPr lang="en-US" sz="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FAD7EE-4A5D-5A06-165E-2CD32FEB6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00" y="791118"/>
            <a:ext cx="7451324" cy="37213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4E498A-ED50-5645-3984-E05BDD0CCA45}"/>
              </a:ext>
            </a:extLst>
          </p:cNvPr>
          <p:cNvSpPr txBox="1"/>
          <p:nvPr/>
        </p:nvSpPr>
        <p:spPr>
          <a:xfrm>
            <a:off x="734692" y="4794277"/>
            <a:ext cx="72601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Marino et al. OK-VQA: A Visual Question Answering Benchmark Requiring External Knowledge. In CVPR 2019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1857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2E603854-F49A-50C5-3BDA-1331EE9CA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">
            <a:extLst>
              <a:ext uri="{FF2B5EF4-FFF2-40B4-BE49-F238E27FC236}">
                <a16:creationId xmlns:a16="http://schemas.microsoft.com/office/drawing/2014/main" id="{D9B331B7-3D6E-76A1-4485-BF50385A0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2800" dirty="0"/>
              <a:t>One vs. Multiple concepts</a:t>
            </a:r>
          </a:p>
        </p:txBody>
      </p:sp>
      <p:sp>
        <p:nvSpPr>
          <p:cNvPr id="960" name="Google Shape;960;p2">
            <a:extLst>
              <a:ext uri="{FF2B5EF4-FFF2-40B4-BE49-F238E27FC236}">
                <a16:creationId xmlns:a16="http://schemas.microsoft.com/office/drawing/2014/main" id="{4A395379-3DC9-FA28-3FC1-82C225C80B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800"/>
              <a:pPr>
                <a:lnSpc>
                  <a:spcPct val="90000"/>
                </a:lnSpc>
                <a:spcAft>
                  <a:spcPts val="600"/>
                </a:spcAft>
              </a:pPr>
              <a:t>18</a:t>
            </a:fld>
            <a:endParaRPr lang="en-US" sz="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89CE46-25DF-86C3-7815-9B5F3E206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20" y="1122265"/>
            <a:ext cx="3709702" cy="30948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4381D9-C7F0-EAD3-6144-0FDF7F070F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885" y="1130641"/>
            <a:ext cx="4321040" cy="30864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C0A133-BE79-7C09-C9AC-E54E88828AB4}"/>
              </a:ext>
            </a:extLst>
          </p:cNvPr>
          <p:cNvSpPr txBox="1"/>
          <p:nvPr/>
        </p:nvSpPr>
        <p:spPr>
          <a:xfrm>
            <a:off x="627520" y="4766400"/>
            <a:ext cx="71201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/>
              <a:t>FoodieQA</a:t>
            </a:r>
            <a:r>
              <a:rPr lang="en-US" sz="1000" dirty="0"/>
              <a:t>: A Multimodal Dataset for Fine-Grained Understanding of Chinese Food Culture. In EMNLP 2024</a:t>
            </a:r>
          </a:p>
          <a:p>
            <a:r>
              <a:rPr lang="en-US" sz="1000" dirty="0"/>
              <a:t>Romero, David, et al. "</a:t>
            </a:r>
            <a:r>
              <a:rPr lang="en-US" sz="1000" dirty="0" err="1"/>
              <a:t>Cvqa</a:t>
            </a:r>
            <a:r>
              <a:rPr lang="en-US" sz="1000" dirty="0"/>
              <a:t>: Culturally-diverse multilingual visual question answering benchmark." </a:t>
            </a:r>
            <a:r>
              <a:rPr lang="en-US" sz="1000" dirty="0" err="1"/>
              <a:t>NeurIPS</a:t>
            </a:r>
            <a:r>
              <a:rPr lang="en-US" sz="1000" dirty="0"/>
              <a:t> D&amp;B 2024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E12C7E-799F-375A-1DF6-15F264D5C91B}"/>
              </a:ext>
            </a:extLst>
          </p:cNvPr>
          <p:cNvSpPr txBox="1"/>
          <p:nvPr/>
        </p:nvSpPr>
        <p:spPr>
          <a:xfrm>
            <a:off x="1705232" y="4219199"/>
            <a:ext cx="14157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Food/Cuisines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59FB7E-50A5-3513-A23B-5949315250CF}"/>
              </a:ext>
            </a:extLst>
          </p:cNvPr>
          <p:cNvSpPr txBox="1"/>
          <p:nvPr/>
        </p:nvSpPr>
        <p:spPr>
          <a:xfrm>
            <a:off x="5935362" y="4248844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Multiple concepts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274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DD9611E4-8615-30CC-64A8-4AA437376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">
            <a:extLst>
              <a:ext uri="{FF2B5EF4-FFF2-40B4-BE49-F238E27FC236}">
                <a16:creationId xmlns:a16="http://schemas.microsoft.com/office/drawing/2014/main" id="{F72E3A2D-6BC2-9F0F-5E93-468C888893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2800" dirty="0"/>
              <a:t>Food VQA: </a:t>
            </a:r>
            <a:r>
              <a:rPr lang="en-US" sz="2800" dirty="0" err="1"/>
              <a:t>FoodieQA</a:t>
            </a:r>
            <a:endParaRPr lang="en-US" sz="2800" dirty="0"/>
          </a:p>
        </p:txBody>
      </p:sp>
      <p:sp>
        <p:nvSpPr>
          <p:cNvPr id="960" name="Google Shape;960;p2">
            <a:extLst>
              <a:ext uri="{FF2B5EF4-FFF2-40B4-BE49-F238E27FC236}">
                <a16:creationId xmlns:a16="http://schemas.microsoft.com/office/drawing/2014/main" id="{2479FBCE-E590-D3B5-A1AD-F2C2C5713B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800"/>
              <a:pPr>
                <a:lnSpc>
                  <a:spcPct val="90000"/>
                </a:lnSpc>
                <a:spcAft>
                  <a:spcPts val="600"/>
                </a:spcAft>
              </a:pPr>
              <a:t>19</a:t>
            </a:fld>
            <a:endParaRPr lang="en-US" sz="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6B0960-5AD1-1762-D107-AFCCE27A5962}"/>
              </a:ext>
            </a:extLst>
          </p:cNvPr>
          <p:cNvSpPr txBox="1"/>
          <p:nvPr/>
        </p:nvSpPr>
        <p:spPr>
          <a:xfrm>
            <a:off x="648730" y="4824145"/>
            <a:ext cx="72843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/>
              <a:t>FoodieQA</a:t>
            </a:r>
            <a:r>
              <a:rPr lang="en-US" sz="1100" dirty="0"/>
              <a:t>: A Multimodal Dataset for Fine-Grained Understanding of Chinese Food Culture. In EMNLP 2024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885D8A-26D3-3B4D-436E-7EDA7DCC7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30" y="783828"/>
            <a:ext cx="4290682" cy="20783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5B01FF-F0E3-FFE8-B885-72EE4FCABA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5940" y="406566"/>
            <a:ext cx="3119330" cy="21055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3EC8B9-250F-2419-A2CF-EAADD2ED94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483" y="2862226"/>
            <a:ext cx="2762469" cy="1863168"/>
          </a:xfrm>
          <a:prstGeom prst="rect">
            <a:avLst/>
          </a:prstGeom>
          <a:ln w="25400">
            <a:solidFill>
              <a:schemeClr val="accent5">
                <a:alpha val="20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8703E9-5D05-EE46-23A9-0349E4303346}"/>
              </a:ext>
            </a:extLst>
          </p:cNvPr>
          <p:cNvSpPr txBox="1"/>
          <p:nvPr/>
        </p:nvSpPr>
        <p:spPr>
          <a:xfrm>
            <a:off x="5640224" y="2500582"/>
            <a:ext cx="336718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 err="1">
                <a:solidFill>
                  <a:schemeClr val="tx1"/>
                </a:solidFill>
              </a:rPr>
              <a:t>FoodieQA</a:t>
            </a:r>
            <a:r>
              <a:rPr lang="en-US" sz="900" b="1" dirty="0">
                <a:solidFill>
                  <a:schemeClr val="tx1"/>
                </a:solidFill>
              </a:rPr>
              <a:t>: Chinese cuisine from various regions</a:t>
            </a:r>
            <a:endParaRPr lang="en-US" sz="1050" b="1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D99D72-B057-AC6C-675B-43EDA97158CA}"/>
              </a:ext>
            </a:extLst>
          </p:cNvPr>
          <p:cNvSpPr txBox="1"/>
          <p:nvPr/>
        </p:nvSpPr>
        <p:spPr>
          <a:xfrm>
            <a:off x="3608416" y="3114131"/>
            <a:ext cx="146906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3"/>
                </a:solidFill>
                <a:latin typeface="Work Sans" pitchFamily="2" charset="77"/>
              </a:rPr>
              <a:t>Proprietary models </a:t>
            </a:r>
            <a:r>
              <a:rPr lang="en-US" sz="1000" dirty="0">
                <a:solidFill>
                  <a:schemeClr val="accent3"/>
                </a:solidFill>
                <a:latin typeface="Work Sans" pitchFamily="2" charset="77"/>
              </a:rPr>
              <a:t>are better especially on the </a:t>
            </a:r>
            <a:r>
              <a:rPr lang="en-US" sz="1000" b="1" dirty="0">
                <a:solidFill>
                  <a:srgbClr val="00B050"/>
                </a:solidFill>
                <a:latin typeface="Work Sans" pitchFamily="2" charset="77"/>
              </a:rPr>
              <a:t>Multi-image VQA </a:t>
            </a:r>
            <a:r>
              <a:rPr lang="en-US" sz="1000" dirty="0">
                <a:solidFill>
                  <a:schemeClr val="accent3"/>
                </a:solidFill>
                <a:latin typeface="Work Sans" pitchFamily="2" charset="77"/>
              </a:rPr>
              <a:t>and when asked in </a:t>
            </a:r>
            <a:r>
              <a:rPr lang="en-US" sz="1000" b="1" u="sng" dirty="0">
                <a:solidFill>
                  <a:schemeClr val="tx1"/>
                </a:solidFill>
                <a:latin typeface="Work Sans" pitchFamily="2" charset="77"/>
              </a:rPr>
              <a:t>Chinese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EBF9E0B-0E8A-D6D4-9B81-6FCE22B5FC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0033" y="2862226"/>
            <a:ext cx="3857471" cy="161180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B2FE70B-C977-4D04-DAFA-05E34CB7C125}"/>
              </a:ext>
            </a:extLst>
          </p:cNvPr>
          <p:cNvSpPr txBox="1"/>
          <p:nvPr/>
        </p:nvSpPr>
        <p:spPr>
          <a:xfrm>
            <a:off x="5947671" y="4440878"/>
            <a:ext cx="24798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3"/>
                </a:solidFill>
                <a:latin typeface="Work Sans" pitchFamily="2" charset="77"/>
              </a:rPr>
              <a:t>Performance varies across regions</a:t>
            </a:r>
            <a:endParaRPr lang="en-US" sz="1000" u="sng" dirty="0">
              <a:solidFill>
                <a:schemeClr val="tx1"/>
              </a:solidFill>
              <a:latin typeface="Work Sans" pitchFamily="2" charset="7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299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E1E76828-643B-8588-253B-887B905A7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">
            <a:extLst>
              <a:ext uri="{FF2B5EF4-FFF2-40B4-BE49-F238E27FC236}">
                <a16:creationId xmlns:a16="http://schemas.microsoft.com/office/drawing/2014/main" id="{ABBB18EF-4CC6-7090-8FB4-B9BBAD0E08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2800" dirty="0"/>
              <a:t>Food VQA: </a:t>
            </a:r>
            <a:r>
              <a:rPr lang="en-US" sz="2800" dirty="0" err="1"/>
              <a:t>WorldCuisines</a:t>
            </a:r>
            <a:endParaRPr lang="en-US" sz="2800" dirty="0"/>
          </a:p>
        </p:txBody>
      </p:sp>
      <p:sp>
        <p:nvSpPr>
          <p:cNvPr id="960" name="Google Shape;960;p2">
            <a:extLst>
              <a:ext uri="{FF2B5EF4-FFF2-40B4-BE49-F238E27FC236}">
                <a16:creationId xmlns:a16="http://schemas.microsoft.com/office/drawing/2014/main" id="{D8379550-7B43-C877-D78D-DCBB07009D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800"/>
              <a:pPr>
                <a:lnSpc>
                  <a:spcPct val="90000"/>
                </a:lnSpc>
                <a:spcAft>
                  <a:spcPts val="600"/>
                </a:spcAft>
              </a:pPr>
              <a:t>20</a:t>
            </a:fld>
            <a:endParaRPr lang="en-US" sz="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C7B596-41FB-7C21-217D-F8D87D91CC8B}"/>
              </a:ext>
            </a:extLst>
          </p:cNvPr>
          <p:cNvSpPr txBox="1"/>
          <p:nvPr/>
        </p:nvSpPr>
        <p:spPr>
          <a:xfrm>
            <a:off x="475199" y="4766400"/>
            <a:ext cx="73014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Winata, Genta Indra, et al. "</a:t>
            </a:r>
            <a:r>
              <a:rPr lang="en-US" sz="1000" dirty="0" err="1"/>
              <a:t>Worldcuisines</a:t>
            </a:r>
            <a:r>
              <a:rPr lang="en-US" sz="1000" dirty="0"/>
              <a:t>: A massive-scale benchmark for multilingual and multicultural visual question answering on global cuisines. In NAACL 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13F08D-96F8-7B76-2D34-F043B6AF5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26" y="910928"/>
            <a:ext cx="4880508" cy="35545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BA1A1C-5F0C-872B-CFB7-538608750EDD}"/>
              </a:ext>
            </a:extLst>
          </p:cNvPr>
          <p:cNvSpPr txBox="1"/>
          <p:nvPr/>
        </p:nvSpPr>
        <p:spPr>
          <a:xfrm>
            <a:off x="2514600" y="4462216"/>
            <a:ext cx="21684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 err="1">
                <a:solidFill>
                  <a:schemeClr val="tx1"/>
                </a:solidFill>
              </a:rPr>
              <a:t>Worldcuisines</a:t>
            </a:r>
            <a:r>
              <a:rPr lang="en-US" sz="1000" b="1" dirty="0">
                <a:solidFill>
                  <a:schemeClr val="tx1"/>
                </a:solidFill>
              </a:rPr>
              <a:t>: </a:t>
            </a:r>
            <a:r>
              <a:rPr lang="en-US" sz="1000" dirty="0">
                <a:solidFill>
                  <a:schemeClr val="tx1"/>
                </a:solidFill>
              </a:rPr>
              <a:t>30 languages 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650B5B-227A-B701-F57F-9230CF2CD577}"/>
              </a:ext>
            </a:extLst>
          </p:cNvPr>
          <p:cNvGrpSpPr/>
          <p:nvPr/>
        </p:nvGrpSpPr>
        <p:grpSpPr>
          <a:xfrm>
            <a:off x="5577271" y="791118"/>
            <a:ext cx="3464179" cy="2062806"/>
            <a:chOff x="5577271" y="2399409"/>
            <a:chExt cx="3464179" cy="206280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C4662FE-EB3A-842C-7385-47ABFF570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0943" r="30208"/>
            <a:stretch>
              <a:fillRect/>
            </a:stretch>
          </p:blipFill>
          <p:spPr>
            <a:xfrm>
              <a:off x="5577271" y="3889514"/>
              <a:ext cx="3464179" cy="57270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0266236-D055-E9C4-0337-C8158662F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30208" b="50416"/>
            <a:stretch>
              <a:fillRect/>
            </a:stretch>
          </p:blipFill>
          <p:spPr>
            <a:xfrm>
              <a:off x="5577271" y="2399409"/>
              <a:ext cx="3464179" cy="1490105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395D1DB-9B06-4634-7253-06D722E731C3}"/>
              </a:ext>
            </a:extLst>
          </p:cNvPr>
          <p:cNvGrpSpPr/>
          <p:nvPr/>
        </p:nvGrpSpPr>
        <p:grpSpPr>
          <a:xfrm>
            <a:off x="5577271" y="2993801"/>
            <a:ext cx="3307442" cy="1743617"/>
            <a:chOff x="5661933" y="2978440"/>
            <a:chExt cx="3307442" cy="174361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5670AE0-AC04-2175-6DD8-17D2E9CE4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61933" y="2978440"/>
              <a:ext cx="3294854" cy="132415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7640B5D-360F-E7FC-7E2E-512D7D16C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5430" b="-1524"/>
            <a:stretch>
              <a:fillRect/>
            </a:stretch>
          </p:blipFill>
          <p:spPr>
            <a:xfrm>
              <a:off x="5790121" y="4462216"/>
              <a:ext cx="2871502" cy="25984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6DD44F1-8EC7-049D-110F-84D59B7DD9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45446" b="-6219"/>
            <a:stretch>
              <a:fillRect/>
            </a:stretch>
          </p:blipFill>
          <p:spPr>
            <a:xfrm>
              <a:off x="5674522" y="4289456"/>
              <a:ext cx="3294853" cy="254852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45123BE-8A7A-4ECD-C5DD-3EF4E214AF21}"/>
              </a:ext>
            </a:extLst>
          </p:cNvPr>
          <p:cNvSpPr txBox="1"/>
          <p:nvPr/>
        </p:nvSpPr>
        <p:spPr>
          <a:xfrm>
            <a:off x="5964965" y="468642"/>
            <a:ext cx="30764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4"/>
                </a:solidFill>
              </a:rPr>
              <a:t>VLMs are easily fooled in </a:t>
            </a:r>
            <a:r>
              <a:rPr lang="en-US" sz="1100" b="1" u="sng" dirty="0">
                <a:solidFill>
                  <a:schemeClr val="accent4"/>
                </a:solidFill>
              </a:rPr>
              <a:t>adversarial setting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7D789E-412E-A3E3-8B28-0DD2D7745CBC}"/>
              </a:ext>
            </a:extLst>
          </p:cNvPr>
          <p:cNvSpPr txBox="1"/>
          <p:nvPr/>
        </p:nvSpPr>
        <p:spPr>
          <a:xfrm>
            <a:off x="7237286" y="4032175"/>
            <a:ext cx="1690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4"/>
                </a:solidFill>
              </a:rPr>
              <a:t>Performance varies by query language and resource level</a:t>
            </a:r>
            <a:endParaRPr lang="en-US" sz="800" b="1" u="sng" dirty="0">
              <a:solidFill>
                <a:schemeClr val="accent4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600252-2092-6CE7-5E0F-477429086A8D}"/>
              </a:ext>
            </a:extLst>
          </p:cNvPr>
          <p:cNvSpPr/>
          <p:nvPr/>
        </p:nvSpPr>
        <p:spPr>
          <a:xfrm>
            <a:off x="8397240" y="990600"/>
            <a:ext cx="644210" cy="1808480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         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455782-DC11-3CC0-D9B7-2FA64C236E32}"/>
              </a:ext>
            </a:extLst>
          </p:cNvPr>
          <p:cNvSpPr/>
          <p:nvPr/>
        </p:nvSpPr>
        <p:spPr>
          <a:xfrm>
            <a:off x="6858997" y="1007572"/>
            <a:ext cx="644210" cy="1808480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    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475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74BE9500-6198-627A-C22F-A1B56A87E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">
            <a:extLst>
              <a:ext uri="{FF2B5EF4-FFF2-40B4-BE49-F238E27FC236}">
                <a16:creationId xmlns:a16="http://schemas.microsoft.com/office/drawing/2014/main" id="{BC545471-D498-27A1-4B18-7CA1596806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2800" dirty="0"/>
              <a:t>Multiple concepts: CVQA</a:t>
            </a:r>
          </a:p>
        </p:txBody>
      </p:sp>
      <p:sp>
        <p:nvSpPr>
          <p:cNvPr id="960" name="Google Shape;960;p2">
            <a:extLst>
              <a:ext uri="{FF2B5EF4-FFF2-40B4-BE49-F238E27FC236}">
                <a16:creationId xmlns:a16="http://schemas.microsoft.com/office/drawing/2014/main" id="{33BC4535-58C4-4B75-7C49-7BCAF80062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800"/>
              <a:pPr>
                <a:lnSpc>
                  <a:spcPct val="90000"/>
                </a:lnSpc>
                <a:spcAft>
                  <a:spcPts val="600"/>
                </a:spcAft>
              </a:pPr>
              <a:t>21</a:t>
            </a:fld>
            <a:endParaRPr lang="en-US" sz="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89BD09-B5D2-C2E7-C17E-2EDB9E98D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40" y="864749"/>
            <a:ext cx="4774962" cy="18666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13C17A-E3D8-FD92-8B1F-E3924413D2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040" y="2865569"/>
            <a:ext cx="4774962" cy="1754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EE0A84-0247-2FE0-76CE-773787008E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0007" y="936922"/>
            <a:ext cx="3029668" cy="18534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8C08A7-CD26-8659-3908-8BA7C66678D9}"/>
              </a:ext>
            </a:extLst>
          </p:cNvPr>
          <p:cNvSpPr txBox="1"/>
          <p:nvPr/>
        </p:nvSpPr>
        <p:spPr>
          <a:xfrm>
            <a:off x="5920006" y="570905"/>
            <a:ext cx="30409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4 continents, </a:t>
            </a:r>
            <a:r>
              <a:rPr lang="en-US" sz="1050" b="1" dirty="0">
                <a:solidFill>
                  <a:schemeClr val="tx1"/>
                </a:solidFill>
              </a:rPr>
              <a:t>30 countries </a:t>
            </a:r>
            <a:r>
              <a:rPr lang="en-US" sz="1050" dirty="0">
                <a:solidFill>
                  <a:schemeClr val="tx1"/>
                </a:solidFill>
              </a:rPr>
              <a:t>and </a:t>
            </a:r>
            <a:r>
              <a:rPr lang="en-US" sz="1050" b="1" dirty="0">
                <a:solidFill>
                  <a:schemeClr val="tx1"/>
                </a:solidFill>
              </a:rPr>
              <a:t>31 languages</a:t>
            </a:r>
            <a:r>
              <a:rPr lang="en-US" sz="1050" dirty="0">
                <a:solidFill>
                  <a:schemeClr val="tx1"/>
                </a:solidFill>
              </a:rPr>
              <a:t>, </a:t>
            </a:r>
            <a:r>
              <a:rPr lang="en-US" sz="1050" b="1" dirty="0">
                <a:solidFill>
                  <a:srgbClr val="00B050"/>
                </a:solidFill>
              </a:rPr>
              <a:t>10 cultural categories </a:t>
            </a:r>
            <a:r>
              <a:rPr lang="en-US" sz="1050" dirty="0">
                <a:solidFill>
                  <a:schemeClr val="tx1"/>
                </a:solidFill>
              </a:rPr>
              <a:t>with questions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59FE6F-6E71-C571-60DC-B44ECC74585F}"/>
              </a:ext>
            </a:extLst>
          </p:cNvPr>
          <p:cNvGrpSpPr/>
          <p:nvPr/>
        </p:nvGrpSpPr>
        <p:grpSpPr>
          <a:xfrm>
            <a:off x="5920007" y="3537789"/>
            <a:ext cx="3040959" cy="572700"/>
            <a:chOff x="5157388" y="3391942"/>
            <a:chExt cx="3960975" cy="73983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23D36E7-C945-54CF-A927-FAA3F4154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62782"/>
            <a:stretch>
              <a:fillRect/>
            </a:stretch>
          </p:blipFill>
          <p:spPr>
            <a:xfrm>
              <a:off x="6225612" y="3391942"/>
              <a:ext cx="2892751" cy="73983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20405DF-5631-A848-9B82-9FD0B7DB8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86256"/>
            <a:stretch>
              <a:fillRect/>
            </a:stretch>
          </p:blipFill>
          <p:spPr>
            <a:xfrm>
              <a:off x="5157388" y="3391942"/>
              <a:ext cx="1068224" cy="739832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124DB29-6A31-1E0C-AEBA-79C7295357D2}"/>
              </a:ext>
            </a:extLst>
          </p:cNvPr>
          <p:cNvSpPr txBox="1"/>
          <p:nvPr/>
        </p:nvSpPr>
        <p:spPr>
          <a:xfrm>
            <a:off x="5920006" y="3156383"/>
            <a:ext cx="311289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accent4"/>
                </a:solidFill>
              </a:rPr>
              <a:t>Performance varies by prompt language:</a:t>
            </a:r>
          </a:p>
          <a:p>
            <a:r>
              <a:rPr lang="en-US" sz="1050" dirty="0">
                <a:solidFill>
                  <a:schemeClr val="tx1"/>
                </a:solidFill>
              </a:rPr>
              <a:t>English</a:t>
            </a:r>
            <a:r>
              <a:rPr lang="en-US" sz="1050" b="1" dirty="0">
                <a:solidFill>
                  <a:schemeClr val="tx1"/>
                </a:solidFill>
              </a:rPr>
              <a:t> (EN) </a:t>
            </a:r>
            <a:r>
              <a:rPr lang="en-US" sz="1050" dirty="0">
                <a:solidFill>
                  <a:schemeClr val="tx1"/>
                </a:solidFill>
              </a:rPr>
              <a:t>vs Local language prompt </a:t>
            </a:r>
            <a:r>
              <a:rPr lang="en-US" sz="1050" b="1" dirty="0">
                <a:solidFill>
                  <a:schemeClr val="tx1"/>
                </a:solidFill>
              </a:rPr>
              <a:t>(LOC)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0202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281BADAB-F2D7-F143-B1AC-371F8B8FF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">
            <a:extLst>
              <a:ext uri="{FF2B5EF4-FFF2-40B4-BE49-F238E27FC236}">
                <a16:creationId xmlns:a16="http://schemas.microsoft.com/office/drawing/2014/main" id="{A0903AFA-C714-5271-7893-B7D77C7E91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2800" dirty="0"/>
              <a:t>Multiple concepts: ALM-Bench</a:t>
            </a:r>
          </a:p>
        </p:txBody>
      </p:sp>
      <p:sp>
        <p:nvSpPr>
          <p:cNvPr id="960" name="Google Shape;960;p2">
            <a:extLst>
              <a:ext uri="{FF2B5EF4-FFF2-40B4-BE49-F238E27FC236}">
                <a16:creationId xmlns:a16="http://schemas.microsoft.com/office/drawing/2014/main" id="{BA5E9E23-1C07-D63E-F0EA-453BC33CD0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800"/>
              <a:pPr>
                <a:lnSpc>
                  <a:spcPct val="90000"/>
                </a:lnSpc>
                <a:spcAft>
                  <a:spcPts val="600"/>
                </a:spcAft>
              </a:pPr>
              <a:t>22</a:t>
            </a:fld>
            <a:endParaRPr lang="en-US" sz="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CCE926-32E7-6CFA-7286-4A9F3E024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43" y="917447"/>
            <a:ext cx="6097150" cy="29708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C1EFC4-8032-FE44-E138-EF392C1C6D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4010" y="2506020"/>
            <a:ext cx="4289989" cy="22603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C7815A-66FB-4208-B8A1-32AC2341E2E7}"/>
              </a:ext>
            </a:extLst>
          </p:cNvPr>
          <p:cNvSpPr txBox="1"/>
          <p:nvPr/>
        </p:nvSpPr>
        <p:spPr>
          <a:xfrm>
            <a:off x="6697493" y="851397"/>
            <a:ext cx="244650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Images curated from Open-license sources.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Questions generated in English, and machine translated followed by </a:t>
            </a:r>
            <a:r>
              <a:rPr lang="en-US" sz="1100" u="sng" dirty="0">
                <a:solidFill>
                  <a:schemeClr val="tx1"/>
                </a:solidFill>
              </a:rPr>
              <a:t>human verification</a:t>
            </a:r>
            <a:r>
              <a:rPr lang="en-US" sz="1100" dirty="0">
                <a:solidFill>
                  <a:schemeClr val="tx1"/>
                </a:solidFill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</a:rPr>
              <a:t>13 cultural categories</a:t>
            </a:r>
            <a:r>
              <a:rPr lang="en-US" sz="1100" dirty="0">
                <a:solidFill>
                  <a:schemeClr val="tx1"/>
                </a:solidFill>
              </a:rPr>
              <a:t>.  </a:t>
            </a:r>
          </a:p>
          <a:p>
            <a:endParaRPr lang="en-US" sz="1100" b="1" dirty="0">
              <a:solidFill>
                <a:schemeClr val="tx1"/>
              </a:solidFill>
            </a:endParaRPr>
          </a:p>
          <a:p>
            <a:r>
              <a:rPr lang="en-US" sz="1050" b="1" dirty="0">
                <a:solidFill>
                  <a:srgbClr val="00B050"/>
                </a:solidFill>
              </a:rPr>
              <a:t>PRO</a:t>
            </a:r>
            <a:r>
              <a:rPr lang="en-US" sz="1050" b="1" dirty="0">
                <a:solidFill>
                  <a:schemeClr val="tx1"/>
                </a:solidFill>
              </a:rPr>
              <a:t>: </a:t>
            </a:r>
            <a:r>
              <a:rPr lang="en-US" sz="1050" dirty="0">
                <a:solidFill>
                  <a:schemeClr val="tx1"/>
                </a:solidFill>
              </a:rPr>
              <a:t>Covers 100 languages</a:t>
            </a:r>
          </a:p>
          <a:p>
            <a:r>
              <a:rPr lang="en-US" sz="1050" b="1" dirty="0">
                <a:solidFill>
                  <a:schemeClr val="accent4"/>
                </a:solidFill>
              </a:rPr>
              <a:t>CON</a:t>
            </a:r>
            <a:r>
              <a:rPr lang="en-US" sz="1050" b="1" dirty="0">
                <a:solidFill>
                  <a:schemeClr val="tx1"/>
                </a:solidFill>
              </a:rPr>
              <a:t>: </a:t>
            </a:r>
            <a:r>
              <a:rPr lang="en-US" sz="1050" dirty="0">
                <a:solidFill>
                  <a:schemeClr val="tx1"/>
                </a:solidFill>
              </a:rPr>
              <a:t>machine translated from GPT-4</a:t>
            </a:r>
            <a:endParaRPr lang="en-US" sz="1050" dirty="0">
              <a:solidFill>
                <a:schemeClr val="accent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B6839D-6408-92C2-9552-D8F6D1B8572D}"/>
              </a:ext>
            </a:extLst>
          </p:cNvPr>
          <p:cNvSpPr txBox="1"/>
          <p:nvPr/>
        </p:nvSpPr>
        <p:spPr>
          <a:xfrm>
            <a:off x="2484534" y="3986363"/>
            <a:ext cx="23268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3"/>
                </a:solidFill>
              </a:rPr>
              <a:t>High-resource languages are often better across models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710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C6B13BDC-9114-2072-537B-6C1A06AC8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">
            <a:extLst>
              <a:ext uri="{FF2B5EF4-FFF2-40B4-BE49-F238E27FC236}">
                <a16:creationId xmlns:a16="http://schemas.microsoft.com/office/drawing/2014/main" id="{760CBE70-1288-5F06-524B-82105842E7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2800" dirty="0"/>
              <a:t>Multiple concepts: Adversarial setting</a:t>
            </a:r>
          </a:p>
        </p:txBody>
      </p:sp>
      <p:sp>
        <p:nvSpPr>
          <p:cNvPr id="960" name="Google Shape;960;p2">
            <a:extLst>
              <a:ext uri="{FF2B5EF4-FFF2-40B4-BE49-F238E27FC236}">
                <a16:creationId xmlns:a16="http://schemas.microsoft.com/office/drawing/2014/main" id="{92F87C05-230D-93F0-0B11-969A2E277C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800"/>
              <a:pPr>
                <a:lnSpc>
                  <a:spcPct val="90000"/>
                </a:lnSpc>
                <a:spcAft>
                  <a:spcPts val="600"/>
                </a:spcAft>
              </a:pPr>
              <a:t>23</a:t>
            </a:fld>
            <a:endParaRPr lang="en-US" sz="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09ABFD-6FE6-1D22-946A-6957C4246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963" y="797121"/>
            <a:ext cx="5181915" cy="35492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2AF9B8-1E85-9263-E3BD-426642083386}"/>
              </a:ext>
            </a:extLst>
          </p:cNvPr>
          <p:cNvSpPr txBox="1"/>
          <p:nvPr/>
        </p:nvSpPr>
        <p:spPr>
          <a:xfrm>
            <a:off x="893873" y="4346378"/>
            <a:ext cx="48766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1"/>
                </a:solidFill>
              </a:rPr>
              <a:t>Confusing VLMs using country </a:t>
            </a:r>
            <a:r>
              <a:rPr lang="en-US" sz="1100" b="1" dirty="0">
                <a:solidFill>
                  <a:schemeClr val="tx1"/>
                </a:solidFill>
              </a:rPr>
              <a:t>Flags (F)</a:t>
            </a:r>
            <a:r>
              <a:rPr lang="en-US" sz="1100" dirty="0">
                <a:solidFill>
                  <a:schemeClr val="tx1"/>
                </a:solidFill>
              </a:rPr>
              <a:t> and </a:t>
            </a:r>
            <a:r>
              <a:rPr lang="en-US" sz="1100" b="1" dirty="0">
                <a:solidFill>
                  <a:schemeClr val="tx1"/>
                </a:solidFill>
              </a:rPr>
              <a:t>Landmarks (L)</a:t>
            </a:r>
            <a:r>
              <a:rPr lang="en-US" sz="1100" dirty="0">
                <a:solidFill>
                  <a:schemeClr val="tx1"/>
                </a:solidFill>
              </a:rPr>
              <a:t> or </a:t>
            </a:r>
            <a:r>
              <a:rPr lang="en-US" sz="1100" b="1" dirty="0">
                <a:solidFill>
                  <a:schemeClr val="tx1"/>
                </a:solidFill>
              </a:rPr>
              <a:t>Both (F+L)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68C713-FEDD-F77E-277C-56822BC30C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7150" y="2674834"/>
            <a:ext cx="5104537" cy="16775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EF88DA-7945-4FD3-EBF9-9F32C4EFD9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239"/>
          <a:stretch>
            <a:fillRect/>
          </a:stretch>
        </p:blipFill>
        <p:spPr>
          <a:xfrm>
            <a:off x="6017347" y="894202"/>
            <a:ext cx="1160481" cy="16775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CCB0EB-835A-1560-93CE-736FBE0C4085}"/>
              </a:ext>
            </a:extLst>
          </p:cNvPr>
          <p:cNvSpPr txBox="1"/>
          <p:nvPr/>
        </p:nvSpPr>
        <p:spPr>
          <a:xfrm>
            <a:off x="7298108" y="1341690"/>
            <a:ext cx="172357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/>
                </a:solidFill>
              </a:rPr>
              <a:t>Huge drop in performance. </a:t>
            </a:r>
            <a:r>
              <a:rPr lang="en-US" sz="1100" b="1" dirty="0">
                <a:solidFill>
                  <a:schemeClr val="accent4"/>
                </a:solidFill>
              </a:rPr>
              <a:t>VLMs are confused tourists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8A3DB3-D70B-4B2A-DB2A-D4C9D271DBBB}"/>
              </a:ext>
            </a:extLst>
          </p:cNvPr>
          <p:cNvSpPr txBox="1"/>
          <p:nvPr/>
        </p:nvSpPr>
        <p:spPr>
          <a:xfrm>
            <a:off x="996511" y="4794277"/>
            <a:ext cx="63015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Irawan et al. Vision Language Models are Confused Tourists. In CVPR findings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7641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900E3096-4BCB-032B-B8DB-B9FBF5103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">
            <a:extLst>
              <a:ext uri="{FF2B5EF4-FFF2-40B4-BE49-F238E27FC236}">
                <a16:creationId xmlns:a16="http://schemas.microsoft.com/office/drawing/2014/main" id="{C48CB0AA-4D69-C4C5-F25D-48FD58A4DF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2800" dirty="0"/>
              <a:t>Safety concerns in multicultural settings</a:t>
            </a:r>
          </a:p>
        </p:txBody>
      </p:sp>
      <p:sp>
        <p:nvSpPr>
          <p:cNvPr id="960" name="Google Shape;960;p2">
            <a:extLst>
              <a:ext uri="{FF2B5EF4-FFF2-40B4-BE49-F238E27FC236}">
                <a16:creationId xmlns:a16="http://schemas.microsoft.com/office/drawing/2014/main" id="{CAC47237-DFAD-E5B8-0A72-E9E1A92900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800"/>
              <a:pPr>
                <a:lnSpc>
                  <a:spcPct val="90000"/>
                </a:lnSpc>
                <a:spcAft>
                  <a:spcPts val="600"/>
                </a:spcAft>
              </a:pPr>
              <a:t>24</a:t>
            </a:fld>
            <a:endParaRPr lang="en-US" sz="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BC5A66-46A2-2071-CB57-3EEB607BD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67" y="1170995"/>
            <a:ext cx="7772400" cy="26137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55813E-948B-13A8-05FF-65B7099A152A}"/>
              </a:ext>
            </a:extLst>
          </p:cNvPr>
          <p:cNvSpPr txBox="1"/>
          <p:nvPr/>
        </p:nvSpPr>
        <p:spPr>
          <a:xfrm>
            <a:off x="3701649" y="3800749"/>
            <a:ext cx="18874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Chinese-cultural context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91BB16-B22E-7A5A-829B-F237F82F2A0B}"/>
              </a:ext>
            </a:extLst>
          </p:cNvPr>
          <p:cNvSpPr txBox="1"/>
          <p:nvPr/>
        </p:nvSpPr>
        <p:spPr>
          <a:xfrm>
            <a:off x="447767" y="4827992"/>
            <a:ext cx="77724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Badhe et al. </a:t>
            </a:r>
            <a:r>
              <a:rPr lang="en-US" sz="1050" dirty="0" err="1"/>
              <a:t>Pluralis</a:t>
            </a:r>
            <a:r>
              <a:rPr lang="en-US" sz="1050" dirty="0"/>
              <a:t> v0.1: Towards a Multicultural, Multimodal, Multilingual Benchmark for AI Risk and Reliability. In </a:t>
            </a:r>
            <a:r>
              <a:rPr lang="en-US" sz="1050" dirty="0" err="1"/>
              <a:t>arXiv</a:t>
            </a:r>
            <a:r>
              <a:rPr lang="en-US" sz="1050" dirty="0"/>
              <a:t> 2026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00142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042DA390-032E-75C9-880A-F930D322D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">
            <a:extLst>
              <a:ext uri="{FF2B5EF4-FFF2-40B4-BE49-F238E27FC236}">
                <a16:creationId xmlns:a16="http://schemas.microsoft.com/office/drawing/2014/main" id="{A78B28C6-56D7-E4CC-C9F8-519DA75AD0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3999" y="218418"/>
            <a:ext cx="8115075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2800" b="1" dirty="0"/>
              <a:t>Afri-MCQA</a:t>
            </a:r>
            <a:r>
              <a:rPr lang="en-US" sz="2800" dirty="0"/>
              <a:t>: Text + Image vs. Speech + Image</a:t>
            </a:r>
          </a:p>
        </p:txBody>
      </p:sp>
      <p:sp>
        <p:nvSpPr>
          <p:cNvPr id="960" name="Google Shape;960;p2">
            <a:extLst>
              <a:ext uri="{FF2B5EF4-FFF2-40B4-BE49-F238E27FC236}">
                <a16:creationId xmlns:a16="http://schemas.microsoft.com/office/drawing/2014/main" id="{A4807C72-CC6A-2B64-3A4C-6A9E8768D9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800"/>
              <a:pPr>
                <a:lnSpc>
                  <a:spcPct val="90000"/>
                </a:lnSpc>
                <a:spcAft>
                  <a:spcPts val="600"/>
                </a:spcAft>
              </a:pPr>
              <a:t>25</a:t>
            </a:fld>
            <a:endParaRPr lang="en-US" sz="8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5A6CD5-FD24-D5E5-6EC7-514AC9E8409D}"/>
              </a:ext>
            </a:extLst>
          </p:cNvPr>
          <p:cNvGrpSpPr/>
          <p:nvPr/>
        </p:nvGrpSpPr>
        <p:grpSpPr>
          <a:xfrm>
            <a:off x="759069" y="1137974"/>
            <a:ext cx="4628548" cy="1794174"/>
            <a:chOff x="617220" y="1200150"/>
            <a:chExt cx="4491893" cy="1885950"/>
          </a:xfrm>
        </p:grpSpPr>
        <p:sp>
          <p:nvSpPr>
            <p:cNvPr id="5" name="Google Shape;790;p71">
              <a:extLst>
                <a:ext uri="{FF2B5EF4-FFF2-40B4-BE49-F238E27FC236}">
                  <a16:creationId xmlns:a16="http://schemas.microsoft.com/office/drawing/2014/main" id="{103527E1-A481-F532-13F0-6F2C25C61AF5}"/>
                </a:ext>
              </a:extLst>
            </p:cNvPr>
            <p:cNvSpPr/>
            <p:nvPr/>
          </p:nvSpPr>
          <p:spPr>
            <a:xfrm>
              <a:off x="2983088" y="1227619"/>
              <a:ext cx="2126025" cy="85725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6" name="Google Shape;787;p71">
              <a:extLst>
                <a:ext uri="{FF2B5EF4-FFF2-40B4-BE49-F238E27FC236}">
                  <a16:creationId xmlns:a16="http://schemas.microsoft.com/office/drawing/2014/main" id="{0E25F922-E7D1-EF99-C40B-E7C332627EDE}"/>
                </a:ext>
              </a:extLst>
            </p:cNvPr>
            <p:cNvSpPr/>
            <p:nvPr/>
          </p:nvSpPr>
          <p:spPr>
            <a:xfrm>
              <a:off x="617220" y="2228850"/>
              <a:ext cx="2126025" cy="85725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7" name="Google Shape;781;p71">
              <a:extLst>
                <a:ext uri="{FF2B5EF4-FFF2-40B4-BE49-F238E27FC236}">
                  <a16:creationId xmlns:a16="http://schemas.microsoft.com/office/drawing/2014/main" id="{8D5714FC-EEFE-FAB6-82E7-3EC03E6581F8}"/>
                </a:ext>
              </a:extLst>
            </p:cNvPr>
            <p:cNvSpPr/>
            <p:nvPr/>
          </p:nvSpPr>
          <p:spPr>
            <a:xfrm>
              <a:off x="617220" y="1200150"/>
              <a:ext cx="2126025" cy="85725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" name="Google Shape;782;p71">
              <a:extLst>
                <a:ext uri="{FF2B5EF4-FFF2-40B4-BE49-F238E27FC236}">
                  <a16:creationId xmlns:a16="http://schemas.microsoft.com/office/drawing/2014/main" id="{BBE64B43-E8F4-626E-D14A-7820C2E08106}"/>
                </a:ext>
              </a:extLst>
            </p:cNvPr>
            <p:cNvSpPr/>
            <p:nvPr/>
          </p:nvSpPr>
          <p:spPr>
            <a:xfrm>
              <a:off x="788670" y="1323594"/>
              <a:ext cx="1783125" cy="3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>
                <a:buClr>
                  <a:srgbClr val="111827"/>
                </a:buClr>
                <a:buSzPts val="3000"/>
              </a:pPr>
              <a:r>
                <a:rPr lang="en-US" sz="225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≈7.6k</a:t>
              </a:r>
              <a:endParaRPr sz="225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83;p71">
              <a:extLst>
                <a:ext uri="{FF2B5EF4-FFF2-40B4-BE49-F238E27FC236}">
                  <a16:creationId xmlns:a16="http://schemas.microsoft.com/office/drawing/2014/main" id="{99B1B012-0D8A-404F-9D43-D51E202AA85D}"/>
                </a:ext>
              </a:extLst>
            </p:cNvPr>
            <p:cNvSpPr/>
            <p:nvPr/>
          </p:nvSpPr>
          <p:spPr>
            <a:xfrm>
              <a:off x="788670" y="1666494"/>
              <a:ext cx="1783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>
                <a:buClr>
                  <a:srgbClr val="6B7280"/>
                </a:buClr>
                <a:buSzPts val="1200"/>
              </a:pPr>
              <a:r>
                <a:rPr lang="en-US" sz="15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image‑grounded Q&amp;A pairs</a:t>
              </a:r>
              <a:endParaRPr sz="15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84;p71">
              <a:extLst>
                <a:ext uri="{FF2B5EF4-FFF2-40B4-BE49-F238E27FC236}">
                  <a16:creationId xmlns:a16="http://schemas.microsoft.com/office/drawing/2014/main" id="{E73B06E9-3EB1-8689-64DD-8621847699C2}"/>
                </a:ext>
              </a:extLst>
            </p:cNvPr>
            <p:cNvSpPr/>
            <p:nvPr/>
          </p:nvSpPr>
          <p:spPr>
            <a:xfrm>
              <a:off x="2983088" y="2184291"/>
              <a:ext cx="2126025" cy="85725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1" name="Google Shape;785;p71">
              <a:extLst>
                <a:ext uri="{FF2B5EF4-FFF2-40B4-BE49-F238E27FC236}">
                  <a16:creationId xmlns:a16="http://schemas.microsoft.com/office/drawing/2014/main" id="{33123555-6B4E-7189-C608-4FDACD0E79AF}"/>
                </a:ext>
              </a:extLst>
            </p:cNvPr>
            <p:cNvSpPr/>
            <p:nvPr/>
          </p:nvSpPr>
          <p:spPr>
            <a:xfrm>
              <a:off x="3154538" y="2307735"/>
              <a:ext cx="1783125" cy="3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>
                <a:buClr>
                  <a:srgbClr val="111827"/>
                </a:buClr>
                <a:buSzPts val="3000"/>
              </a:pPr>
              <a:r>
                <a:rPr lang="en-US" sz="225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sz="225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786;p71">
              <a:extLst>
                <a:ext uri="{FF2B5EF4-FFF2-40B4-BE49-F238E27FC236}">
                  <a16:creationId xmlns:a16="http://schemas.microsoft.com/office/drawing/2014/main" id="{08611D45-C658-8A71-5950-AC6598415805}"/>
                </a:ext>
              </a:extLst>
            </p:cNvPr>
            <p:cNvSpPr/>
            <p:nvPr/>
          </p:nvSpPr>
          <p:spPr>
            <a:xfrm>
              <a:off x="3154538" y="2650635"/>
              <a:ext cx="1783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>
                <a:buClr>
                  <a:srgbClr val="6B7280"/>
                </a:buClr>
                <a:buSzPts val="1200"/>
              </a:pPr>
              <a:r>
                <a:rPr lang="en-US" sz="18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languages</a:t>
              </a:r>
              <a:endParaRPr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88;p71">
              <a:extLst>
                <a:ext uri="{FF2B5EF4-FFF2-40B4-BE49-F238E27FC236}">
                  <a16:creationId xmlns:a16="http://schemas.microsoft.com/office/drawing/2014/main" id="{6FF880B1-DA01-C9BB-FDF2-0DF8805F6229}"/>
                </a:ext>
              </a:extLst>
            </p:cNvPr>
            <p:cNvSpPr/>
            <p:nvPr/>
          </p:nvSpPr>
          <p:spPr>
            <a:xfrm>
              <a:off x="788670" y="2352294"/>
              <a:ext cx="1783125" cy="3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>
                <a:buClr>
                  <a:srgbClr val="111827"/>
                </a:buClr>
                <a:buSzPts val="3000"/>
              </a:pPr>
              <a:r>
                <a:rPr lang="en-US" sz="225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sz="225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789;p71">
              <a:extLst>
                <a:ext uri="{FF2B5EF4-FFF2-40B4-BE49-F238E27FC236}">
                  <a16:creationId xmlns:a16="http://schemas.microsoft.com/office/drawing/2014/main" id="{D910342C-722A-9235-70FF-5FB1D61BBB68}"/>
                </a:ext>
              </a:extLst>
            </p:cNvPr>
            <p:cNvSpPr/>
            <p:nvPr/>
          </p:nvSpPr>
          <p:spPr>
            <a:xfrm>
              <a:off x="788670" y="2695194"/>
              <a:ext cx="1783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>
                <a:buClr>
                  <a:srgbClr val="6B7280"/>
                </a:buClr>
                <a:buSzPts val="1200"/>
              </a:pPr>
              <a:r>
                <a:rPr lang="en-US" sz="15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countries</a:t>
              </a:r>
              <a:endParaRPr sz="15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791;p71">
              <a:extLst>
                <a:ext uri="{FF2B5EF4-FFF2-40B4-BE49-F238E27FC236}">
                  <a16:creationId xmlns:a16="http://schemas.microsoft.com/office/drawing/2014/main" id="{394D7491-8EBB-1BDF-599A-40D89BD45E94}"/>
                </a:ext>
              </a:extLst>
            </p:cNvPr>
            <p:cNvSpPr/>
            <p:nvPr/>
          </p:nvSpPr>
          <p:spPr>
            <a:xfrm>
              <a:off x="3154538" y="1351063"/>
              <a:ext cx="1783125" cy="30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>
                <a:buClr>
                  <a:srgbClr val="111827"/>
                </a:buClr>
                <a:buSzPts val="3000"/>
              </a:pPr>
              <a:r>
                <a:rPr lang="en-US" sz="225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≈58h</a:t>
              </a:r>
              <a:endParaRPr sz="225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792;p71">
              <a:extLst>
                <a:ext uri="{FF2B5EF4-FFF2-40B4-BE49-F238E27FC236}">
                  <a16:creationId xmlns:a16="http://schemas.microsoft.com/office/drawing/2014/main" id="{46B48568-FEF0-C18D-CFD7-41532A7B3EE6}"/>
                </a:ext>
              </a:extLst>
            </p:cNvPr>
            <p:cNvSpPr/>
            <p:nvPr/>
          </p:nvSpPr>
          <p:spPr>
            <a:xfrm>
              <a:off x="3154538" y="1693963"/>
              <a:ext cx="1783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>
                <a:buClr>
                  <a:srgbClr val="6B7280"/>
                </a:buClr>
                <a:buSzPts val="1200"/>
              </a:pPr>
              <a:r>
                <a:rPr lang="en-US" sz="135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total speech (native + accented English)</a:t>
              </a:r>
              <a:endParaRPr sz="135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B43CA9-8B9B-FA4D-CAD1-12467EF88FBE}"/>
              </a:ext>
            </a:extLst>
          </p:cNvPr>
          <p:cNvGrpSpPr/>
          <p:nvPr/>
        </p:nvGrpSpPr>
        <p:grpSpPr>
          <a:xfrm>
            <a:off x="753862" y="3088981"/>
            <a:ext cx="8115075" cy="1543050"/>
            <a:chOff x="617207" y="3188963"/>
            <a:chExt cx="8115075" cy="1543050"/>
          </a:xfrm>
        </p:grpSpPr>
        <p:sp>
          <p:nvSpPr>
            <p:cNvPr id="18" name="Google Shape;793;p71">
              <a:extLst>
                <a:ext uri="{FF2B5EF4-FFF2-40B4-BE49-F238E27FC236}">
                  <a16:creationId xmlns:a16="http://schemas.microsoft.com/office/drawing/2014/main" id="{9EEFA781-767D-8A66-A89A-D875B2A0827F}"/>
                </a:ext>
              </a:extLst>
            </p:cNvPr>
            <p:cNvSpPr/>
            <p:nvPr/>
          </p:nvSpPr>
          <p:spPr>
            <a:xfrm>
              <a:off x="617207" y="3188963"/>
              <a:ext cx="8115075" cy="154305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9" name="Google Shape;794;p71">
              <a:extLst>
                <a:ext uri="{FF2B5EF4-FFF2-40B4-BE49-F238E27FC236}">
                  <a16:creationId xmlns:a16="http://schemas.microsoft.com/office/drawing/2014/main" id="{8A575D83-B639-059C-A8A0-E97FEFF57D75}"/>
                </a:ext>
              </a:extLst>
            </p:cNvPr>
            <p:cNvSpPr/>
            <p:nvPr/>
          </p:nvSpPr>
          <p:spPr>
            <a:xfrm>
              <a:off x="926944" y="3326118"/>
              <a:ext cx="7433775" cy="261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>
                <a:buClr>
                  <a:srgbClr val="111827"/>
                </a:buClr>
                <a:buSzPts val="1400"/>
              </a:pPr>
              <a:r>
                <a:rPr lang="en-US" sz="150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10 cultural image categories</a:t>
              </a:r>
              <a:endParaRPr sz="15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795;p71">
              <a:extLst>
                <a:ext uri="{FF2B5EF4-FFF2-40B4-BE49-F238E27FC236}">
                  <a16:creationId xmlns:a16="http://schemas.microsoft.com/office/drawing/2014/main" id="{18AFDBD0-CB9F-7141-56AF-828275CA2DF7}"/>
                </a:ext>
              </a:extLst>
            </p:cNvPr>
            <p:cNvSpPr/>
            <p:nvPr/>
          </p:nvSpPr>
          <p:spPr>
            <a:xfrm>
              <a:off x="926944" y="3674552"/>
              <a:ext cx="1362825" cy="33097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 cmpd="sng">
              <a:solidFill>
                <a:srgbClr val="D1D5D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500"/>
            </a:p>
          </p:txBody>
        </p:sp>
        <p:sp>
          <p:nvSpPr>
            <p:cNvPr id="21" name="Google Shape;796;p71">
              <a:extLst>
                <a:ext uri="{FF2B5EF4-FFF2-40B4-BE49-F238E27FC236}">
                  <a16:creationId xmlns:a16="http://schemas.microsoft.com/office/drawing/2014/main" id="{B81D71DA-F529-C808-409F-356A4005C6E5}"/>
                </a:ext>
              </a:extLst>
            </p:cNvPr>
            <p:cNvSpPr/>
            <p:nvPr/>
          </p:nvSpPr>
          <p:spPr>
            <a:xfrm>
              <a:off x="964112" y="3700685"/>
              <a:ext cx="1288575" cy="278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>
                <a:buClr>
                  <a:srgbClr val="6B7280"/>
                </a:buClr>
                <a:buSzPts val="1000"/>
              </a:pPr>
              <a:r>
                <a:rPr lang="en-US" sz="15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Landmarks</a:t>
              </a:r>
              <a:endParaRPr sz="15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797;p71">
              <a:extLst>
                <a:ext uri="{FF2B5EF4-FFF2-40B4-BE49-F238E27FC236}">
                  <a16:creationId xmlns:a16="http://schemas.microsoft.com/office/drawing/2014/main" id="{A22F636F-F980-B69A-4975-1505C512E4B6}"/>
                </a:ext>
              </a:extLst>
            </p:cNvPr>
            <p:cNvSpPr/>
            <p:nvPr/>
          </p:nvSpPr>
          <p:spPr>
            <a:xfrm>
              <a:off x="2426081" y="3674552"/>
              <a:ext cx="1362825" cy="33097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 cmpd="sng">
              <a:solidFill>
                <a:srgbClr val="D1D5D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500" dirty="0"/>
            </a:p>
          </p:txBody>
        </p:sp>
        <p:sp>
          <p:nvSpPr>
            <p:cNvPr id="23" name="Google Shape;798;p71">
              <a:extLst>
                <a:ext uri="{FF2B5EF4-FFF2-40B4-BE49-F238E27FC236}">
                  <a16:creationId xmlns:a16="http://schemas.microsoft.com/office/drawing/2014/main" id="{DFB0B37A-269A-DF95-1F61-1F45783E9552}"/>
                </a:ext>
              </a:extLst>
            </p:cNvPr>
            <p:cNvSpPr/>
            <p:nvPr/>
          </p:nvSpPr>
          <p:spPr>
            <a:xfrm>
              <a:off x="2463249" y="3700685"/>
              <a:ext cx="1288575" cy="278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>
                <a:buClr>
                  <a:srgbClr val="6B7280"/>
                </a:buClr>
                <a:buSzPts val="1000"/>
              </a:pPr>
              <a:r>
                <a:rPr lang="en-US" sz="15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Food</a:t>
              </a:r>
              <a:endParaRPr sz="15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99;p71">
              <a:extLst>
                <a:ext uri="{FF2B5EF4-FFF2-40B4-BE49-F238E27FC236}">
                  <a16:creationId xmlns:a16="http://schemas.microsoft.com/office/drawing/2014/main" id="{699DB801-9945-83FF-7649-209786409DAA}"/>
                </a:ext>
              </a:extLst>
            </p:cNvPr>
            <p:cNvSpPr/>
            <p:nvPr/>
          </p:nvSpPr>
          <p:spPr>
            <a:xfrm>
              <a:off x="3925217" y="3674552"/>
              <a:ext cx="1362825" cy="33097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 cmpd="sng">
              <a:solidFill>
                <a:srgbClr val="D1D5D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500"/>
            </a:p>
          </p:txBody>
        </p:sp>
        <p:sp>
          <p:nvSpPr>
            <p:cNvPr id="25" name="Google Shape;800;p71">
              <a:extLst>
                <a:ext uri="{FF2B5EF4-FFF2-40B4-BE49-F238E27FC236}">
                  <a16:creationId xmlns:a16="http://schemas.microsoft.com/office/drawing/2014/main" id="{C41B9B29-FB2B-8319-72B4-2E2284229D3A}"/>
                </a:ext>
              </a:extLst>
            </p:cNvPr>
            <p:cNvSpPr/>
            <p:nvPr/>
          </p:nvSpPr>
          <p:spPr>
            <a:xfrm>
              <a:off x="3962387" y="3700685"/>
              <a:ext cx="1288575" cy="278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>
                <a:buClr>
                  <a:srgbClr val="6B7280"/>
                </a:buClr>
                <a:buSzPts val="1000"/>
              </a:pPr>
              <a:r>
                <a:rPr lang="en-US" sz="15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Clothing</a:t>
              </a:r>
              <a:endParaRPr sz="15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801;p71">
              <a:extLst>
                <a:ext uri="{FF2B5EF4-FFF2-40B4-BE49-F238E27FC236}">
                  <a16:creationId xmlns:a16="http://schemas.microsoft.com/office/drawing/2014/main" id="{255EAB83-9744-26C3-24D4-04D685887264}"/>
                </a:ext>
              </a:extLst>
            </p:cNvPr>
            <p:cNvSpPr/>
            <p:nvPr/>
          </p:nvSpPr>
          <p:spPr>
            <a:xfrm>
              <a:off x="5424355" y="3674552"/>
              <a:ext cx="1362825" cy="33097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 cmpd="sng">
              <a:solidFill>
                <a:srgbClr val="D1D5D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500"/>
            </a:p>
          </p:txBody>
        </p:sp>
        <p:sp>
          <p:nvSpPr>
            <p:cNvPr id="27" name="Google Shape;802;p71">
              <a:extLst>
                <a:ext uri="{FF2B5EF4-FFF2-40B4-BE49-F238E27FC236}">
                  <a16:creationId xmlns:a16="http://schemas.microsoft.com/office/drawing/2014/main" id="{AFB3E2AC-2793-1445-3D33-7AC65CBEA59A}"/>
                </a:ext>
              </a:extLst>
            </p:cNvPr>
            <p:cNvSpPr/>
            <p:nvPr/>
          </p:nvSpPr>
          <p:spPr>
            <a:xfrm>
              <a:off x="5461523" y="3700685"/>
              <a:ext cx="1288575" cy="278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>
                <a:buClr>
                  <a:srgbClr val="6B7280"/>
                </a:buClr>
                <a:buSzPts val="1000"/>
              </a:pPr>
              <a:r>
                <a:rPr lang="en-US" sz="15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Traditions</a:t>
              </a:r>
              <a:endParaRPr sz="15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03;p71">
              <a:extLst>
                <a:ext uri="{FF2B5EF4-FFF2-40B4-BE49-F238E27FC236}">
                  <a16:creationId xmlns:a16="http://schemas.microsoft.com/office/drawing/2014/main" id="{15B83EDB-A5BC-A1C5-C803-54C3FF6B3C44}"/>
                </a:ext>
              </a:extLst>
            </p:cNvPr>
            <p:cNvSpPr/>
            <p:nvPr/>
          </p:nvSpPr>
          <p:spPr>
            <a:xfrm>
              <a:off x="6923492" y="3674552"/>
              <a:ext cx="1362825" cy="33097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 cmpd="sng">
              <a:solidFill>
                <a:srgbClr val="D1D5D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500"/>
            </a:p>
          </p:txBody>
        </p:sp>
        <p:sp>
          <p:nvSpPr>
            <p:cNvPr id="29" name="Google Shape;804;p71">
              <a:extLst>
                <a:ext uri="{FF2B5EF4-FFF2-40B4-BE49-F238E27FC236}">
                  <a16:creationId xmlns:a16="http://schemas.microsoft.com/office/drawing/2014/main" id="{33D22F14-6BF4-F795-2E8D-3CDE047569D1}"/>
                </a:ext>
              </a:extLst>
            </p:cNvPr>
            <p:cNvSpPr/>
            <p:nvPr/>
          </p:nvSpPr>
          <p:spPr>
            <a:xfrm>
              <a:off x="6960660" y="3700685"/>
              <a:ext cx="1288575" cy="278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>
                <a:buClr>
                  <a:srgbClr val="6B7280"/>
                </a:buClr>
                <a:buSzPts val="1000"/>
              </a:pPr>
              <a:r>
                <a:rPr lang="en-US" sz="15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Daily life</a:t>
              </a:r>
              <a:endParaRPr sz="15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805;p71">
              <a:extLst>
                <a:ext uri="{FF2B5EF4-FFF2-40B4-BE49-F238E27FC236}">
                  <a16:creationId xmlns:a16="http://schemas.microsoft.com/office/drawing/2014/main" id="{5B797678-5613-90E3-8AD7-0A3C90FC95E6}"/>
                </a:ext>
              </a:extLst>
            </p:cNvPr>
            <p:cNvSpPr/>
            <p:nvPr/>
          </p:nvSpPr>
          <p:spPr>
            <a:xfrm>
              <a:off x="926944" y="4162361"/>
              <a:ext cx="1362825" cy="33097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 cmpd="sng">
              <a:solidFill>
                <a:srgbClr val="D1D5D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500"/>
            </a:p>
          </p:txBody>
        </p:sp>
        <p:sp>
          <p:nvSpPr>
            <p:cNvPr id="31" name="Google Shape;806;p71">
              <a:extLst>
                <a:ext uri="{FF2B5EF4-FFF2-40B4-BE49-F238E27FC236}">
                  <a16:creationId xmlns:a16="http://schemas.microsoft.com/office/drawing/2014/main" id="{1A787468-AA7B-E122-E7BE-4963B44EC043}"/>
                </a:ext>
              </a:extLst>
            </p:cNvPr>
            <p:cNvSpPr/>
            <p:nvPr/>
          </p:nvSpPr>
          <p:spPr>
            <a:xfrm>
              <a:off x="964112" y="4188494"/>
              <a:ext cx="1288575" cy="278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>
                <a:buClr>
                  <a:srgbClr val="6B7280"/>
                </a:buClr>
                <a:buSzPts val="1000"/>
              </a:pPr>
              <a:r>
                <a:rPr lang="en-US" sz="15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Plants/animals</a:t>
              </a:r>
              <a:endParaRPr sz="15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807;p71">
              <a:extLst>
                <a:ext uri="{FF2B5EF4-FFF2-40B4-BE49-F238E27FC236}">
                  <a16:creationId xmlns:a16="http://schemas.microsoft.com/office/drawing/2014/main" id="{EE46C0B3-64E6-BDFB-7B52-A76C22276FB2}"/>
                </a:ext>
              </a:extLst>
            </p:cNvPr>
            <p:cNvSpPr/>
            <p:nvPr/>
          </p:nvSpPr>
          <p:spPr>
            <a:xfrm>
              <a:off x="2426081" y="4162361"/>
              <a:ext cx="1362825" cy="33097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 cmpd="sng">
              <a:solidFill>
                <a:srgbClr val="D1D5D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500"/>
            </a:p>
          </p:txBody>
        </p:sp>
        <p:sp>
          <p:nvSpPr>
            <p:cNvPr id="33" name="Google Shape;808;p71">
              <a:extLst>
                <a:ext uri="{FF2B5EF4-FFF2-40B4-BE49-F238E27FC236}">
                  <a16:creationId xmlns:a16="http://schemas.microsoft.com/office/drawing/2014/main" id="{AA9CF863-20C4-88B6-76D9-6CD4F30A88B6}"/>
                </a:ext>
              </a:extLst>
            </p:cNvPr>
            <p:cNvSpPr/>
            <p:nvPr/>
          </p:nvSpPr>
          <p:spPr>
            <a:xfrm>
              <a:off x="2463249" y="4188494"/>
              <a:ext cx="1288575" cy="278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>
                <a:buClr>
                  <a:srgbClr val="6B7280"/>
                </a:buClr>
                <a:buSzPts val="1000"/>
              </a:pPr>
              <a:r>
                <a:rPr lang="en-US" sz="15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 sz="15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809;p71">
              <a:extLst>
                <a:ext uri="{FF2B5EF4-FFF2-40B4-BE49-F238E27FC236}">
                  <a16:creationId xmlns:a16="http://schemas.microsoft.com/office/drawing/2014/main" id="{F2347647-DDB3-07F8-268F-F0AE16792230}"/>
                </a:ext>
              </a:extLst>
            </p:cNvPr>
            <p:cNvSpPr/>
            <p:nvPr/>
          </p:nvSpPr>
          <p:spPr>
            <a:xfrm>
              <a:off x="3925217" y="4162361"/>
              <a:ext cx="1362825" cy="33097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 cmpd="sng">
              <a:solidFill>
                <a:srgbClr val="D1D5D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500"/>
            </a:p>
          </p:txBody>
        </p:sp>
        <p:sp>
          <p:nvSpPr>
            <p:cNvPr id="35" name="Google Shape;810;p71">
              <a:extLst>
                <a:ext uri="{FF2B5EF4-FFF2-40B4-BE49-F238E27FC236}">
                  <a16:creationId xmlns:a16="http://schemas.microsoft.com/office/drawing/2014/main" id="{01BA0291-8263-0189-EC0D-47257827ECAF}"/>
                </a:ext>
              </a:extLst>
            </p:cNvPr>
            <p:cNvSpPr/>
            <p:nvPr/>
          </p:nvSpPr>
          <p:spPr>
            <a:xfrm>
              <a:off x="3962387" y="4188494"/>
              <a:ext cx="1288575" cy="278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>
                <a:buClr>
                  <a:srgbClr val="6B7280"/>
                </a:buClr>
                <a:buSzPts val="1000"/>
              </a:pPr>
              <a:r>
                <a:rPr lang="en-US" sz="15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Sports</a:t>
              </a:r>
              <a:endParaRPr sz="15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811;p71">
              <a:extLst>
                <a:ext uri="{FF2B5EF4-FFF2-40B4-BE49-F238E27FC236}">
                  <a16:creationId xmlns:a16="http://schemas.microsoft.com/office/drawing/2014/main" id="{AC5EBB61-60AA-2DED-CFEE-C76B26BE87AE}"/>
                </a:ext>
              </a:extLst>
            </p:cNvPr>
            <p:cNvSpPr/>
            <p:nvPr/>
          </p:nvSpPr>
          <p:spPr>
            <a:xfrm>
              <a:off x="5424355" y="4162361"/>
              <a:ext cx="1362825" cy="33097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 cmpd="sng">
              <a:solidFill>
                <a:srgbClr val="D1D5D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500"/>
            </a:p>
          </p:txBody>
        </p:sp>
        <p:sp>
          <p:nvSpPr>
            <p:cNvPr id="37" name="Google Shape;812;p71">
              <a:extLst>
                <a:ext uri="{FF2B5EF4-FFF2-40B4-BE49-F238E27FC236}">
                  <a16:creationId xmlns:a16="http://schemas.microsoft.com/office/drawing/2014/main" id="{A17D4E04-5447-0699-A8B1-486E63808CB5}"/>
                </a:ext>
              </a:extLst>
            </p:cNvPr>
            <p:cNvSpPr/>
            <p:nvPr/>
          </p:nvSpPr>
          <p:spPr>
            <a:xfrm>
              <a:off x="5461523" y="4188494"/>
              <a:ext cx="1288575" cy="278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>
                <a:buClr>
                  <a:srgbClr val="6B7280"/>
                </a:buClr>
                <a:buSzPts val="1000"/>
              </a:pPr>
              <a:r>
                <a:rPr lang="en-US" sz="15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Pop</a:t>
              </a:r>
              <a:r>
                <a:rPr lang="en-US" sz="1500" dirty="0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5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culture</a:t>
              </a:r>
              <a:endParaRPr sz="15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813;p71">
              <a:extLst>
                <a:ext uri="{FF2B5EF4-FFF2-40B4-BE49-F238E27FC236}">
                  <a16:creationId xmlns:a16="http://schemas.microsoft.com/office/drawing/2014/main" id="{441A7DE3-0321-0826-9F7E-6CA817B140C1}"/>
                </a:ext>
              </a:extLst>
            </p:cNvPr>
            <p:cNvSpPr/>
            <p:nvPr/>
          </p:nvSpPr>
          <p:spPr>
            <a:xfrm>
              <a:off x="6923492" y="4162361"/>
              <a:ext cx="1362825" cy="33097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 cmpd="sng">
              <a:solidFill>
                <a:srgbClr val="D1D5D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500"/>
            </a:p>
          </p:txBody>
        </p:sp>
        <p:sp>
          <p:nvSpPr>
            <p:cNvPr id="39" name="Google Shape;814;p71">
              <a:extLst>
                <a:ext uri="{FF2B5EF4-FFF2-40B4-BE49-F238E27FC236}">
                  <a16:creationId xmlns:a16="http://schemas.microsoft.com/office/drawing/2014/main" id="{439E1D54-B4B9-2153-72B4-74F08B698940}"/>
                </a:ext>
              </a:extLst>
            </p:cNvPr>
            <p:cNvSpPr/>
            <p:nvPr/>
          </p:nvSpPr>
          <p:spPr>
            <a:xfrm>
              <a:off x="6960660" y="4188494"/>
              <a:ext cx="1288575" cy="278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>
                <a:buClr>
                  <a:srgbClr val="6B7280"/>
                </a:buClr>
                <a:buSzPts val="1000"/>
              </a:pPr>
              <a:r>
                <a:rPr lang="en-US" sz="15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Brands</a:t>
              </a:r>
              <a:endParaRPr sz="15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EBC207C-393E-6649-7841-B894EFF05D37}"/>
              </a:ext>
            </a:extLst>
          </p:cNvPr>
          <p:cNvGrpSpPr/>
          <p:nvPr/>
        </p:nvGrpSpPr>
        <p:grpSpPr>
          <a:xfrm>
            <a:off x="5561010" y="806769"/>
            <a:ext cx="3509243" cy="2269146"/>
            <a:chOff x="3917419" y="1105800"/>
            <a:chExt cx="5022675" cy="3708450"/>
          </a:xfrm>
        </p:grpSpPr>
        <p:sp>
          <p:nvSpPr>
            <p:cNvPr id="3" name="Google Shape;982;p78">
              <a:extLst>
                <a:ext uri="{FF2B5EF4-FFF2-40B4-BE49-F238E27FC236}">
                  <a16:creationId xmlns:a16="http://schemas.microsoft.com/office/drawing/2014/main" id="{5AF65631-3CF0-F78A-F150-0B9A0A2D4F29}"/>
                </a:ext>
              </a:extLst>
            </p:cNvPr>
            <p:cNvSpPr/>
            <p:nvPr/>
          </p:nvSpPr>
          <p:spPr>
            <a:xfrm>
              <a:off x="3917419" y="1105800"/>
              <a:ext cx="5022675" cy="3708450"/>
            </a:xfrm>
            <a:prstGeom prst="roundRect">
              <a:avLst>
                <a:gd name="adj" fmla="val 3803"/>
              </a:avLst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9488" tIns="49725" rIns="99488" bIns="49725" anchor="ctr" anchorCtr="0">
              <a:noAutofit/>
            </a:bodyPr>
            <a:lstStyle/>
            <a:p>
              <a:pPr>
                <a:buSzPts val="2612"/>
              </a:pPr>
              <a:endParaRPr sz="1959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983;p78">
              <a:extLst>
                <a:ext uri="{FF2B5EF4-FFF2-40B4-BE49-F238E27FC236}">
                  <a16:creationId xmlns:a16="http://schemas.microsoft.com/office/drawing/2014/main" id="{8AF5267B-5E3C-EEA3-D7F7-834784FEFF76}"/>
                </a:ext>
              </a:extLst>
            </p:cNvPr>
            <p:cNvSpPr/>
            <p:nvPr/>
          </p:nvSpPr>
          <p:spPr>
            <a:xfrm>
              <a:off x="4247324" y="1159316"/>
              <a:ext cx="4540725" cy="15975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lnSpc>
                  <a:spcPct val="140000"/>
                </a:lnSpc>
                <a:buClr>
                  <a:srgbClr val="C75000"/>
                </a:buClr>
                <a:buSzPts val="1197"/>
              </a:pPr>
              <a:r>
                <a:rPr lang="en-US" sz="1200" b="1" dirty="0">
                  <a:solidFill>
                    <a:schemeClr val="tx1"/>
                  </a:solidFill>
                </a:rPr>
                <a:t>EXAMPLE DATAPOINT</a:t>
              </a:r>
              <a:endParaRPr sz="1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984;p78">
              <a:extLst>
                <a:ext uri="{FF2B5EF4-FFF2-40B4-BE49-F238E27FC236}">
                  <a16:creationId xmlns:a16="http://schemas.microsoft.com/office/drawing/2014/main" id="{4A435E65-99B8-7049-2011-B8AD86B0056D}"/>
                </a:ext>
              </a:extLst>
            </p:cNvPr>
            <p:cNvSpPr/>
            <p:nvPr/>
          </p:nvSpPr>
          <p:spPr>
            <a:xfrm>
              <a:off x="4247324" y="1542323"/>
              <a:ext cx="4452300" cy="1273500"/>
            </a:xfrm>
            <a:prstGeom prst="roundRect">
              <a:avLst>
                <a:gd name="adj" fmla="val 10901"/>
              </a:avLst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9488" tIns="49725" rIns="99488" bIns="49725" anchor="ctr" anchorCtr="0">
              <a:noAutofit/>
            </a:bodyPr>
            <a:lstStyle/>
            <a:p>
              <a:pPr>
                <a:buSzPts val="2612"/>
              </a:pPr>
              <a:endParaRPr sz="1959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985;p78">
              <a:extLst>
                <a:ext uri="{FF2B5EF4-FFF2-40B4-BE49-F238E27FC236}">
                  <a16:creationId xmlns:a16="http://schemas.microsoft.com/office/drawing/2014/main" id="{817B2D67-3529-4D63-0C65-901CD2FCCB1F}"/>
                </a:ext>
              </a:extLst>
            </p:cNvPr>
            <p:cNvSpPr/>
            <p:nvPr/>
          </p:nvSpPr>
          <p:spPr>
            <a:xfrm>
              <a:off x="4202814" y="1867397"/>
              <a:ext cx="1889743" cy="9031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>
                <a:lnSpc>
                  <a:spcPct val="140000"/>
                </a:lnSpc>
                <a:buClr>
                  <a:srgbClr val="666666"/>
                </a:buClr>
                <a:buSzPts val="1088"/>
              </a:pPr>
              <a:r>
                <a:rPr lang="en-US" sz="1050" dirty="0">
                  <a:solidFill>
                    <a:schemeClr val="tx1"/>
                  </a:solidFill>
                </a:rPr>
                <a:t>e.g., Traditional clay pot from Nigeria</a:t>
              </a:r>
              <a:endParaRPr sz="105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986;p78">
              <a:extLst>
                <a:ext uri="{FF2B5EF4-FFF2-40B4-BE49-F238E27FC236}">
                  <a16:creationId xmlns:a16="http://schemas.microsoft.com/office/drawing/2014/main" id="{5CEAE8FB-702A-808C-CEA5-9C3CB0DB80F7}"/>
                </a:ext>
              </a:extLst>
            </p:cNvPr>
            <p:cNvSpPr/>
            <p:nvPr/>
          </p:nvSpPr>
          <p:spPr>
            <a:xfrm>
              <a:off x="4202795" y="2961152"/>
              <a:ext cx="4452300" cy="781650"/>
            </a:xfrm>
            <a:prstGeom prst="roundRect">
              <a:avLst>
                <a:gd name="adj" fmla="val 7959"/>
              </a:avLst>
            </a:prstGeom>
            <a:solidFill>
              <a:schemeClr val="accent2">
                <a:lumMod val="75000"/>
                <a:alpha val="9800"/>
              </a:schemeClr>
            </a:solidFill>
            <a:ln>
              <a:noFill/>
            </a:ln>
          </p:spPr>
          <p:txBody>
            <a:bodyPr spcFirstLastPara="1" wrap="square" lIns="99488" tIns="49725" rIns="99488" bIns="49725" anchor="ctr" anchorCtr="0">
              <a:noAutofit/>
            </a:bodyPr>
            <a:lstStyle/>
            <a:p>
              <a:pPr>
                <a:buSzPts val="2612"/>
              </a:pPr>
              <a:endParaRPr sz="1959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987;p78">
              <a:extLst>
                <a:ext uri="{FF2B5EF4-FFF2-40B4-BE49-F238E27FC236}">
                  <a16:creationId xmlns:a16="http://schemas.microsoft.com/office/drawing/2014/main" id="{A79D23CB-E781-8BDE-5FAC-7F53B3B891EF}"/>
                </a:ext>
              </a:extLst>
            </p:cNvPr>
            <p:cNvSpPr/>
            <p:nvPr/>
          </p:nvSpPr>
          <p:spPr>
            <a:xfrm>
              <a:off x="4374020" y="3085534"/>
              <a:ext cx="4191525" cy="145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lnSpc>
                  <a:spcPct val="140000"/>
                </a:lnSpc>
                <a:buClr>
                  <a:srgbClr val="F5A623"/>
                </a:buClr>
                <a:buSzPts val="1088"/>
              </a:pPr>
              <a:r>
                <a:rPr lang="en-US" sz="900" dirty="0">
                  <a:solidFill>
                    <a:schemeClr val="tx1"/>
                  </a:solidFill>
                </a:rPr>
                <a:t>ENGLISH + AUDIO 🔊</a:t>
              </a:r>
              <a:endParaRPr sz="9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988;p78">
              <a:extLst>
                <a:ext uri="{FF2B5EF4-FFF2-40B4-BE49-F238E27FC236}">
                  <a16:creationId xmlns:a16="http://schemas.microsoft.com/office/drawing/2014/main" id="{1B4FA0EB-A684-6F9E-0B70-4DA2E713FE17}"/>
                </a:ext>
              </a:extLst>
            </p:cNvPr>
            <p:cNvSpPr/>
            <p:nvPr/>
          </p:nvSpPr>
          <p:spPr>
            <a:xfrm>
              <a:off x="4374020" y="3272106"/>
              <a:ext cx="4191525" cy="159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lnSpc>
                  <a:spcPct val="140000"/>
                </a:lnSpc>
                <a:buClr>
                  <a:srgbClr val="F9F4E8"/>
                </a:buClr>
                <a:buSzPts val="1197"/>
              </a:pPr>
              <a:r>
                <a:rPr lang="en-US" sz="800" b="1" dirty="0">
                  <a:solidFill>
                    <a:schemeClr val="tx1"/>
                  </a:solidFill>
                </a:rPr>
                <a:t>Q:</a:t>
              </a:r>
              <a:r>
                <a:rPr lang="en-US" sz="800" dirty="0">
                  <a:solidFill>
                    <a:schemeClr val="tx1"/>
                  </a:solidFill>
                </a:rPr>
                <a:t> What object is shown in the picture?</a:t>
              </a:r>
              <a:endParaRPr sz="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989;p78">
              <a:extLst>
                <a:ext uri="{FF2B5EF4-FFF2-40B4-BE49-F238E27FC236}">
                  <a16:creationId xmlns:a16="http://schemas.microsoft.com/office/drawing/2014/main" id="{522F86AE-5C0D-CA7C-2941-DE4E5EC8A740}"/>
                </a:ext>
              </a:extLst>
            </p:cNvPr>
            <p:cNvSpPr/>
            <p:nvPr/>
          </p:nvSpPr>
          <p:spPr>
            <a:xfrm>
              <a:off x="4374020" y="3473093"/>
              <a:ext cx="4191525" cy="145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lnSpc>
                  <a:spcPct val="140000"/>
                </a:lnSpc>
                <a:buClr>
                  <a:srgbClr val="A0A0B0"/>
                </a:buClr>
                <a:buSzPts val="1088"/>
              </a:pPr>
              <a:r>
                <a:rPr lang="en-US" sz="800" dirty="0">
                  <a:solidFill>
                    <a:schemeClr val="tx1"/>
                  </a:solidFill>
                </a:rPr>
                <a:t>A) Clay Pot  B) Clay Pan  C) Clay Oven  D) Wooden Pan</a:t>
              </a:r>
              <a:endParaRPr sz="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991;p78">
              <a:extLst>
                <a:ext uri="{FF2B5EF4-FFF2-40B4-BE49-F238E27FC236}">
                  <a16:creationId xmlns:a16="http://schemas.microsoft.com/office/drawing/2014/main" id="{F722C9FD-85C1-E595-4A9F-1ACE1FAD5A41}"/>
                </a:ext>
              </a:extLst>
            </p:cNvPr>
            <p:cNvSpPr/>
            <p:nvPr/>
          </p:nvSpPr>
          <p:spPr>
            <a:xfrm>
              <a:off x="4374020" y="3949889"/>
              <a:ext cx="4191525" cy="145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lnSpc>
                  <a:spcPct val="140000"/>
                </a:lnSpc>
                <a:buClr>
                  <a:srgbClr val="2D7A47"/>
                </a:buClr>
                <a:buSzPts val="1088"/>
              </a:pPr>
              <a:r>
                <a:rPr lang="en-US" sz="900" dirty="0">
                  <a:solidFill>
                    <a:srgbClr val="FF0000"/>
                  </a:solidFill>
                </a:rPr>
                <a:t>HAUSA + AUDIO</a:t>
              </a:r>
              <a:r>
                <a:rPr lang="en-US" sz="900" dirty="0">
                  <a:solidFill>
                    <a:schemeClr val="tx2">
                      <a:lumMod val="75000"/>
                    </a:schemeClr>
                  </a:solidFill>
                </a:rPr>
                <a:t> 🔊</a:t>
              </a:r>
              <a:endParaRPr sz="900" dirty="0">
                <a:solidFill>
                  <a:schemeClr val="tx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992;p78">
              <a:extLst>
                <a:ext uri="{FF2B5EF4-FFF2-40B4-BE49-F238E27FC236}">
                  <a16:creationId xmlns:a16="http://schemas.microsoft.com/office/drawing/2014/main" id="{3E8339CE-DCB2-5F5A-DA4D-290A75B79C75}"/>
                </a:ext>
              </a:extLst>
            </p:cNvPr>
            <p:cNvSpPr/>
            <p:nvPr/>
          </p:nvSpPr>
          <p:spPr>
            <a:xfrm>
              <a:off x="4374020" y="4136462"/>
              <a:ext cx="4191525" cy="159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lnSpc>
                  <a:spcPct val="140000"/>
                </a:lnSpc>
                <a:buClr>
                  <a:srgbClr val="F9F4E8"/>
                </a:buClr>
                <a:buSzPts val="1197"/>
              </a:pPr>
              <a:r>
                <a:rPr lang="en-US" sz="800" b="1" dirty="0">
                  <a:solidFill>
                    <a:schemeClr val="tx1"/>
                  </a:solidFill>
                </a:rPr>
                <a:t>Q:</a:t>
              </a:r>
              <a:r>
                <a:rPr lang="en-US" sz="800" dirty="0">
                  <a:solidFill>
                    <a:schemeClr val="tx1"/>
                  </a:solidFill>
                </a:rPr>
                <a:t> Wani </a:t>
              </a:r>
              <a:r>
                <a:rPr lang="en-US" sz="800" dirty="0" err="1">
                  <a:solidFill>
                    <a:schemeClr val="tx1"/>
                  </a:solidFill>
                </a:rPr>
                <a:t>abu</a:t>
              </a:r>
              <a:r>
                <a:rPr lang="en-US" sz="800" dirty="0">
                  <a:solidFill>
                    <a:schemeClr val="tx1"/>
                  </a:solidFill>
                </a:rPr>
                <a:t> ne aka </a:t>
              </a:r>
              <a:r>
                <a:rPr lang="en-US" sz="800" dirty="0" err="1">
                  <a:solidFill>
                    <a:schemeClr val="tx1"/>
                  </a:solidFill>
                </a:rPr>
                <a:t>nuna</a:t>
              </a:r>
              <a:r>
                <a:rPr lang="en-US" sz="800" dirty="0">
                  <a:solidFill>
                    <a:schemeClr val="tx1"/>
                  </a:solidFill>
                </a:rPr>
                <a:t> a </a:t>
              </a:r>
              <a:r>
                <a:rPr lang="en-US" sz="800" dirty="0" err="1">
                  <a:solidFill>
                    <a:schemeClr val="tx1"/>
                  </a:solidFill>
                </a:rPr>
                <a:t>hoton</a:t>
              </a:r>
              <a:r>
                <a:rPr lang="en-US" sz="800" dirty="0">
                  <a:solidFill>
                    <a:schemeClr val="tx1"/>
                  </a:solidFill>
                </a:rPr>
                <a:t> nan?</a:t>
              </a:r>
              <a:endParaRPr sz="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993;p78">
              <a:extLst>
                <a:ext uri="{FF2B5EF4-FFF2-40B4-BE49-F238E27FC236}">
                  <a16:creationId xmlns:a16="http://schemas.microsoft.com/office/drawing/2014/main" id="{6BDDC54D-9757-D4D1-8191-6A9F641A0C98}"/>
                </a:ext>
              </a:extLst>
            </p:cNvPr>
            <p:cNvSpPr/>
            <p:nvPr/>
          </p:nvSpPr>
          <p:spPr>
            <a:xfrm>
              <a:off x="4230059" y="4337447"/>
              <a:ext cx="4421898" cy="1597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lnSpc>
                  <a:spcPct val="140000"/>
                </a:lnSpc>
                <a:buClr>
                  <a:srgbClr val="A0A0B0"/>
                </a:buClr>
                <a:buSzPts val="1088"/>
              </a:pPr>
              <a:r>
                <a:rPr lang="en-US" sz="800" dirty="0">
                  <a:solidFill>
                    <a:schemeClr val="tx1"/>
                  </a:solidFill>
                </a:rPr>
                <a:t>A) Tukur Kusa  B) </a:t>
              </a:r>
              <a:r>
                <a:rPr lang="en-US" sz="800" dirty="0" err="1">
                  <a:solidFill>
                    <a:schemeClr val="tx1"/>
                  </a:solidFill>
                </a:rPr>
                <a:t>Tunkurye</a:t>
              </a:r>
              <a:r>
                <a:rPr lang="en-US" sz="800" dirty="0">
                  <a:solidFill>
                    <a:schemeClr val="tx1"/>
                  </a:solidFill>
                </a:rPr>
                <a:t> Kasa  C) </a:t>
              </a:r>
              <a:r>
                <a:rPr lang="en-US" sz="800" dirty="0" err="1">
                  <a:solidFill>
                    <a:schemeClr val="tx1"/>
                  </a:solidFill>
                </a:rPr>
                <a:t>Kujera</a:t>
              </a:r>
              <a:r>
                <a:rPr lang="en-US" sz="800" dirty="0">
                  <a:solidFill>
                    <a:schemeClr val="tx1"/>
                  </a:solidFill>
                </a:rPr>
                <a:t> Kasa  D) </a:t>
              </a:r>
              <a:r>
                <a:rPr lang="en-US" sz="800" dirty="0" err="1">
                  <a:solidFill>
                    <a:schemeClr val="tx1"/>
                  </a:solidFill>
                </a:rPr>
                <a:t>Kujere</a:t>
              </a:r>
              <a:r>
                <a:rPr lang="en-US" sz="800" dirty="0">
                  <a:solidFill>
                    <a:schemeClr val="tx1"/>
                  </a:solidFill>
                </a:rPr>
                <a:t> Kara</a:t>
              </a:r>
              <a:endParaRPr sz="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2" name="Google Shape;994;p78" title="2070391719.jpg">
              <a:extLst>
                <a:ext uri="{FF2B5EF4-FFF2-40B4-BE49-F238E27FC236}">
                  <a16:creationId xmlns:a16="http://schemas.microsoft.com/office/drawing/2014/main" id="{8FBBC39E-90A9-45CE-1C8B-C066E1368E42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244343" y="1728796"/>
              <a:ext cx="2499790" cy="111306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5392944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67D2BF58-5BDD-1588-6291-EB4AB3A75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">
            <a:extLst>
              <a:ext uri="{FF2B5EF4-FFF2-40B4-BE49-F238E27FC236}">
                <a16:creationId xmlns:a16="http://schemas.microsoft.com/office/drawing/2014/main" id="{12344E03-B2DD-F4A6-9FAE-F5CF5985D6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800" dirty="0"/>
              <a:t>Afri-MCQA: Culture definition and coverage</a:t>
            </a:r>
          </a:p>
        </p:txBody>
      </p:sp>
      <p:sp>
        <p:nvSpPr>
          <p:cNvPr id="960" name="Google Shape;960;p2">
            <a:extLst>
              <a:ext uri="{FF2B5EF4-FFF2-40B4-BE49-F238E27FC236}">
                <a16:creationId xmlns:a16="http://schemas.microsoft.com/office/drawing/2014/main" id="{4279DD02-E801-816E-49D3-9651D2B9FC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800"/>
              <a:pPr>
                <a:lnSpc>
                  <a:spcPct val="90000"/>
                </a:lnSpc>
                <a:spcAft>
                  <a:spcPts val="600"/>
                </a:spcAft>
              </a:pPr>
              <a:t>26</a:t>
            </a:fld>
            <a:endParaRPr lang="en-US" sz="800"/>
          </a:p>
        </p:txBody>
      </p:sp>
      <p:sp>
        <p:nvSpPr>
          <p:cNvPr id="3" name="Google Shape;958;p2">
            <a:extLst>
              <a:ext uri="{FF2B5EF4-FFF2-40B4-BE49-F238E27FC236}">
                <a16:creationId xmlns:a16="http://schemas.microsoft.com/office/drawing/2014/main" id="{CBF4ACAA-462D-00A6-6C9F-E93D101DE0FB}"/>
              </a:ext>
            </a:extLst>
          </p:cNvPr>
          <p:cNvSpPr txBox="1"/>
          <p:nvPr/>
        </p:nvSpPr>
        <p:spPr>
          <a:xfrm>
            <a:off x="624600" y="886901"/>
            <a:ext cx="7894799" cy="114374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t" anchorCtr="0">
            <a:norm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Work Sans" pitchFamily="2" charset="77"/>
              </a:rPr>
              <a:t>We define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Work Sans" pitchFamily="2" charset="77"/>
              </a:rPr>
              <a:t>culture</a:t>
            </a:r>
            <a:r>
              <a:rPr lang="en-US" sz="1600" dirty="0">
                <a:solidFill>
                  <a:schemeClr val="tx1"/>
                </a:solidFill>
                <a:latin typeface="Work Sans" pitchFamily="2" charset="77"/>
              </a:rPr>
              <a:t> as country-language pair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Work Sans" pitchFamily="2" charset="77"/>
              </a:rPr>
              <a:t>The </a:t>
            </a:r>
            <a:r>
              <a:rPr lang="en-US" sz="1600" b="1" dirty="0">
                <a:solidFill>
                  <a:schemeClr val="tx1"/>
                </a:solidFill>
                <a:latin typeface="Work Sans" pitchFamily="2" charset="77"/>
              </a:rPr>
              <a:t>country</a:t>
            </a:r>
            <a:r>
              <a:rPr lang="en-US" sz="1600" dirty="0">
                <a:solidFill>
                  <a:schemeClr val="tx1"/>
                </a:solidFill>
                <a:latin typeface="Work Sans" pitchFamily="2" charset="77"/>
              </a:rPr>
              <a:t> with the </a:t>
            </a:r>
            <a:r>
              <a:rPr lang="en-US" sz="1600" u="sng" dirty="0">
                <a:solidFill>
                  <a:schemeClr val="tx1"/>
                </a:solidFill>
                <a:latin typeface="Work Sans" pitchFamily="2" charset="77"/>
              </a:rPr>
              <a:t>largest native speakers </a:t>
            </a:r>
            <a:r>
              <a:rPr lang="en-US" sz="1600" dirty="0">
                <a:solidFill>
                  <a:schemeClr val="tx1"/>
                </a:solidFill>
                <a:latin typeface="Work Sans" pitchFamily="2" charset="77"/>
              </a:rPr>
              <a:t>selected per language</a:t>
            </a:r>
          </a:p>
          <a:p>
            <a:pPr marL="581025" lvl="2" indent="-285750">
              <a:spcAft>
                <a:spcPts val="900"/>
              </a:spcAft>
              <a:buFont typeface="Wingdings" pitchFamily="2" charset="2"/>
              <a:buChar char="v"/>
            </a:pPr>
            <a:r>
              <a:rPr lang="en-US" b="1" dirty="0">
                <a:solidFill>
                  <a:schemeClr val="tx1"/>
                </a:solidFill>
                <a:latin typeface="Work Sans" pitchFamily="2" charset="77"/>
              </a:rPr>
              <a:t>15 languages</a:t>
            </a:r>
            <a:r>
              <a:rPr lang="en-US" dirty="0">
                <a:solidFill>
                  <a:schemeClr val="tx1"/>
                </a:solidFill>
                <a:latin typeface="Work Sans" pitchFamily="2" charset="77"/>
              </a:rPr>
              <a:t>, </a:t>
            </a:r>
            <a:r>
              <a:rPr lang="en-US" b="1" dirty="0">
                <a:solidFill>
                  <a:schemeClr val="tx1"/>
                </a:solidFill>
                <a:latin typeface="Work Sans" pitchFamily="2" charset="77"/>
              </a:rPr>
              <a:t>12 countries</a:t>
            </a:r>
          </a:p>
        </p:txBody>
      </p:sp>
      <p:pic>
        <p:nvPicPr>
          <p:cNvPr id="9" name="Google Shape;879;p73" title="africa_highlighted_countries.png">
            <a:extLst>
              <a:ext uri="{FF2B5EF4-FFF2-40B4-BE49-F238E27FC236}">
                <a16:creationId xmlns:a16="http://schemas.microsoft.com/office/drawing/2014/main" id="{C703FB57-CAFF-608A-B9E9-111825A7A60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rcRect l="-13763" t="-13763"/>
          <a:stretch>
            <a:fillRect/>
          </a:stretch>
        </p:blipFill>
        <p:spPr>
          <a:xfrm>
            <a:off x="5020884" y="1259542"/>
            <a:ext cx="3895776" cy="34582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B4F6E3-28D2-E82E-2526-47212A66810E}"/>
              </a:ext>
            </a:extLst>
          </p:cNvPr>
          <p:cNvSpPr txBox="1"/>
          <p:nvPr/>
        </p:nvSpPr>
        <p:spPr>
          <a:xfrm>
            <a:off x="864000" y="2030641"/>
            <a:ext cx="4463375" cy="261610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Research Questions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How well do VLMs </a:t>
            </a:r>
            <a:r>
              <a:rPr lang="en-US" sz="1200" b="1" i="1" dirty="0">
                <a:solidFill>
                  <a:schemeClr val="tx1"/>
                </a:solidFill>
              </a:rPr>
              <a:t>understand African cultural contexts</a:t>
            </a:r>
            <a:r>
              <a:rPr lang="en-US" sz="1200" dirty="0">
                <a:solidFill>
                  <a:schemeClr val="tx1"/>
                </a:solidFill>
              </a:rPr>
              <a:t> in visually-grounded QA?</a:t>
            </a:r>
          </a:p>
          <a:p>
            <a:pPr marL="285750" indent="-2857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How does </a:t>
            </a:r>
            <a:r>
              <a:rPr lang="en-US" sz="1200" b="1" dirty="0">
                <a:solidFill>
                  <a:schemeClr val="tx1"/>
                </a:solidFill>
              </a:rPr>
              <a:t>input modality </a:t>
            </a:r>
            <a:r>
              <a:rPr lang="en-US" sz="1200" dirty="0">
                <a:solidFill>
                  <a:schemeClr val="tx1"/>
                </a:solidFill>
              </a:rPr>
              <a:t>(</a:t>
            </a:r>
            <a:r>
              <a:rPr lang="en-US" sz="1200" b="1" dirty="0">
                <a:solidFill>
                  <a:schemeClr val="tx1"/>
                </a:solidFill>
              </a:rPr>
              <a:t>text</a:t>
            </a:r>
            <a:r>
              <a:rPr lang="en-US" sz="1200" dirty="0">
                <a:solidFill>
                  <a:schemeClr val="tx1"/>
                </a:solidFill>
              </a:rPr>
              <a:t> vs. </a:t>
            </a:r>
            <a:r>
              <a:rPr lang="en-US" sz="1200" b="1" dirty="0">
                <a:solidFill>
                  <a:schemeClr val="tx1"/>
                </a:solidFill>
              </a:rPr>
              <a:t>speech</a:t>
            </a:r>
            <a:r>
              <a:rPr lang="en-US" sz="1200" dirty="0">
                <a:solidFill>
                  <a:schemeClr val="tx1"/>
                </a:solidFill>
              </a:rPr>
              <a:t>) affect performance?</a:t>
            </a:r>
          </a:p>
          <a:p>
            <a:pPr marL="285750" indent="-2857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How does </a:t>
            </a:r>
            <a:r>
              <a:rPr lang="en-US" sz="1200" b="1" dirty="0">
                <a:solidFill>
                  <a:schemeClr val="tx1"/>
                </a:solidFill>
              </a:rPr>
              <a:t>query language </a:t>
            </a:r>
            <a:r>
              <a:rPr lang="en-US" sz="1200" dirty="0">
                <a:solidFill>
                  <a:schemeClr val="tx1"/>
                </a:solidFill>
              </a:rPr>
              <a:t>(</a:t>
            </a:r>
            <a:r>
              <a:rPr lang="en-US" sz="1200" b="1" dirty="0">
                <a:solidFill>
                  <a:schemeClr val="tx1"/>
                </a:solidFill>
              </a:rPr>
              <a:t>native</a:t>
            </a:r>
            <a:r>
              <a:rPr lang="en-US" sz="1200" dirty="0">
                <a:solidFill>
                  <a:schemeClr val="tx1"/>
                </a:solidFill>
              </a:rPr>
              <a:t> vs. </a:t>
            </a:r>
            <a:r>
              <a:rPr lang="en-US" sz="1200" b="1" dirty="0">
                <a:solidFill>
                  <a:schemeClr val="tx1"/>
                </a:solidFill>
              </a:rPr>
              <a:t>English</a:t>
            </a:r>
            <a:r>
              <a:rPr lang="en-US" sz="1200" dirty="0">
                <a:solidFill>
                  <a:schemeClr val="tx1"/>
                </a:solidFill>
              </a:rPr>
              <a:t>) affect performance?</a:t>
            </a:r>
          </a:p>
          <a:p>
            <a:pPr marL="285750" indent="-2857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How does task format (</a:t>
            </a:r>
            <a:r>
              <a:rPr lang="en-US" sz="1200" b="1" dirty="0">
                <a:solidFill>
                  <a:schemeClr val="tx1"/>
                </a:solidFill>
              </a:rPr>
              <a:t>Multiple-Choice</a:t>
            </a:r>
            <a:r>
              <a:rPr lang="en-US" sz="1200" dirty="0">
                <a:solidFill>
                  <a:schemeClr val="tx1"/>
                </a:solidFill>
              </a:rPr>
              <a:t> vs. </a:t>
            </a:r>
            <a:r>
              <a:rPr lang="en-US" sz="1200" b="1" dirty="0">
                <a:solidFill>
                  <a:schemeClr val="tx1"/>
                </a:solidFill>
              </a:rPr>
              <a:t>Open</a:t>
            </a:r>
            <a:r>
              <a:rPr lang="en-US" sz="1200" dirty="0">
                <a:solidFill>
                  <a:schemeClr val="tx1"/>
                </a:solidFill>
              </a:rPr>
              <a:t> QA) affect accuracy?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554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83313571-053D-060D-9759-DB842F6D2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">
            <a:extLst>
              <a:ext uri="{FF2B5EF4-FFF2-40B4-BE49-F238E27FC236}">
                <a16:creationId xmlns:a16="http://schemas.microsoft.com/office/drawing/2014/main" id="{E81E58B9-F80B-A198-5FF5-C305313D74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800" dirty="0"/>
              <a:t>Afri-MCQA: Multi-choice QA results</a:t>
            </a:r>
          </a:p>
        </p:txBody>
      </p:sp>
      <p:sp>
        <p:nvSpPr>
          <p:cNvPr id="960" name="Google Shape;960;p2">
            <a:extLst>
              <a:ext uri="{FF2B5EF4-FFF2-40B4-BE49-F238E27FC236}">
                <a16:creationId xmlns:a16="http://schemas.microsoft.com/office/drawing/2014/main" id="{F4D42A5C-BF5B-5749-FF80-EEEC4EE144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800"/>
              <a:pPr>
                <a:lnSpc>
                  <a:spcPct val="90000"/>
                </a:lnSpc>
                <a:spcAft>
                  <a:spcPts val="600"/>
                </a:spcAft>
              </a:pPr>
              <a:t>27</a:t>
            </a:fld>
            <a:endParaRPr lang="en-US" sz="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9F677E-7734-E6E4-655B-9A7CCD0BAE17}"/>
              </a:ext>
            </a:extLst>
          </p:cNvPr>
          <p:cNvSpPr txBox="1"/>
          <p:nvPr/>
        </p:nvSpPr>
        <p:spPr>
          <a:xfrm>
            <a:off x="672146" y="4108805"/>
            <a:ext cx="8086654" cy="55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chemeClr val="tx1"/>
                </a:solidFill>
              </a:rPr>
              <a:t>Key findings</a:t>
            </a:r>
            <a:r>
              <a:rPr lang="en-US" sz="1500" dirty="0">
                <a:solidFill>
                  <a:schemeClr val="tx1"/>
                </a:solidFill>
              </a:rPr>
              <a:t>: Proprietary LLMs such as </a:t>
            </a:r>
            <a:r>
              <a:rPr lang="en-US" sz="1500" u="sng" dirty="0">
                <a:solidFill>
                  <a:schemeClr val="tx1"/>
                </a:solidFill>
              </a:rPr>
              <a:t>Gemini has similar performance across modality</a:t>
            </a:r>
            <a:r>
              <a:rPr lang="en-US" sz="1500" dirty="0">
                <a:solidFill>
                  <a:schemeClr val="tx1"/>
                </a:solidFill>
              </a:rPr>
              <a:t>, however, </a:t>
            </a:r>
            <a:r>
              <a:rPr lang="en-US" sz="1500" dirty="0">
                <a:solidFill>
                  <a:srgbClr val="C00000"/>
                </a:solidFill>
              </a:rPr>
              <a:t>open models are much worse with speech modality. </a:t>
            </a:r>
          </a:p>
        </p:txBody>
      </p:sp>
      <p:pic>
        <p:nvPicPr>
          <p:cNvPr id="3" name="Google Shape;1355;p94" title="MCQA-text.png">
            <a:extLst>
              <a:ext uri="{FF2B5EF4-FFF2-40B4-BE49-F238E27FC236}">
                <a16:creationId xmlns:a16="http://schemas.microsoft.com/office/drawing/2014/main" id="{EF4B1207-27D5-F000-FF84-302E4F34419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283" y="946396"/>
            <a:ext cx="3914717" cy="271061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4460CB-D358-45EE-1319-81482DC6E80E}"/>
              </a:ext>
            </a:extLst>
          </p:cNvPr>
          <p:cNvSpPr txBox="1"/>
          <p:nvPr/>
        </p:nvSpPr>
        <p:spPr>
          <a:xfrm>
            <a:off x="2057995" y="3657014"/>
            <a:ext cx="1249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Text modality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BDED0-0465-0307-F337-9D65E80A8679}"/>
              </a:ext>
            </a:extLst>
          </p:cNvPr>
          <p:cNvSpPr txBox="1"/>
          <p:nvPr/>
        </p:nvSpPr>
        <p:spPr>
          <a:xfrm>
            <a:off x="6376401" y="3657013"/>
            <a:ext cx="1508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Speech modality</a:t>
            </a:r>
          </a:p>
        </p:txBody>
      </p:sp>
      <p:pic>
        <p:nvPicPr>
          <p:cNvPr id="7" name="Google Shape;1521;p102" title="MCQA-audio.png">
            <a:extLst>
              <a:ext uri="{FF2B5EF4-FFF2-40B4-BE49-F238E27FC236}">
                <a16:creationId xmlns:a16="http://schemas.microsoft.com/office/drawing/2014/main" id="{54537FEF-0F12-C993-88BC-19A04A5BB3C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6390" y="946396"/>
            <a:ext cx="3747933" cy="263297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5528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19158504-5645-756C-91E8-AEA4C7529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">
            <a:extLst>
              <a:ext uri="{FF2B5EF4-FFF2-40B4-BE49-F238E27FC236}">
                <a16:creationId xmlns:a16="http://schemas.microsoft.com/office/drawing/2014/main" id="{0F26873D-4E5B-A2D7-3946-FA1BEC02C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800" dirty="0"/>
              <a:t>Afri-MCQA: Open QA results</a:t>
            </a:r>
          </a:p>
        </p:txBody>
      </p:sp>
      <p:sp>
        <p:nvSpPr>
          <p:cNvPr id="960" name="Google Shape;960;p2">
            <a:extLst>
              <a:ext uri="{FF2B5EF4-FFF2-40B4-BE49-F238E27FC236}">
                <a16:creationId xmlns:a16="http://schemas.microsoft.com/office/drawing/2014/main" id="{62987B33-4C6F-3F68-250C-FC6D9D4CB6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800"/>
              <a:pPr>
                <a:lnSpc>
                  <a:spcPct val="90000"/>
                </a:lnSpc>
                <a:spcAft>
                  <a:spcPts val="600"/>
                </a:spcAft>
              </a:pPr>
              <a:t>28</a:t>
            </a:fld>
            <a:endParaRPr lang="en-US" sz="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0797A7-CC7C-A8F6-37FA-DCE2D18DCE00}"/>
              </a:ext>
            </a:extLst>
          </p:cNvPr>
          <p:cNvSpPr txBox="1"/>
          <p:nvPr/>
        </p:nvSpPr>
        <p:spPr>
          <a:xfrm>
            <a:off x="581891" y="4120069"/>
            <a:ext cx="8280834" cy="55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chemeClr val="tx1"/>
                </a:solidFill>
              </a:rPr>
              <a:t>Key findings: Open QA </a:t>
            </a:r>
            <a:r>
              <a:rPr lang="en-US" sz="1500" dirty="0">
                <a:solidFill>
                  <a:schemeClr val="tx1"/>
                </a:solidFill>
              </a:rPr>
              <a:t>is </a:t>
            </a:r>
            <a:r>
              <a:rPr lang="en-US" sz="1500" b="1" dirty="0">
                <a:solidFill>
                  <a:srgbClr val="C00000"/>
                </a:solidFill>
              </a:rPr>
              <a:t>more challenging </a:t>
            </a:r>
            <a:r>
              <a:rPr lang="en-US" sz="1500" dirty="0">
                <a:solidFill>
                  <a:schemeClr val="tx1"/>
                </a:solidFill>
              </a:rPr>
              <a:t>than </a:t>
            </a:r>
            <a:r>
              <a:rPr lang="en-US" sz="1500" b="1" dirty="0">
                <a:solidFill>
                  <a:schemeClr val="tx1"/>
                </a:solidFill>
              </a:rPr>
              <a:t>Multi-choice QA</a:t>
            </a:r>
            <a:r>
              <a:rPr lang="en-US" sz="1500" dirty="0">
                <a:solidFill>
                  <a:schemeClr val="tx1"/>
                </a:solidFill>
              </a:rPr>
              <a:t>, with audio LLM achieving </a:t>
            </a:r>
            <a:r>
              <a:rPr lang="en-US" sz="1500" b="1" dirty="0">
                <a:solidFill>
                  <a:srgbClr val="C00000"/>
                </a:solidFill>
              </a:rPr>
              <a:t>near zero performance </a:t>
            </a:r>
            <a:r>
              <a:rPr lang="en-US" sz="1500" dirty="0">
                <a:solidFill>
                  <a:schemeClr val="tx1"/>
                </a:solidFill>
              </a:rPr>
              <a:t>where open audio LLMs are prompted in </a:t>
            </a:r>
            <a:r>
              <a:rPr lang="en-US" sz="1500" b="1" dirty="0">
                <a:solidFill>
                  <a:schemeClr val="tx1"/>
                </a:solidFill>
              </a:rPr>
              <a:t>native languages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C1135F-ED2E-7089-4D8F-5242CD90A26E}"/>
              </a:ext>
            </a:extLst>
          </p:cNvPr>
          <p:cNvSpPr txBox="1"/>
          <p:nvPr/>
        </p:nvSpPr>
        <p:spPr>
          <a:xfrm>
            <a:off x="2057995" y="3657014"/>
            <a:ext cx="1249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Text modality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371728-BFF3-6B2C-DA2A-7F206A2939ED}"/>
              </a:ext>
            </a:extLst>
          </p:cNvPr>
          <p:cNvSpPr txBox="1"/>
          <p:nvPr/>
        </p:nvSpPr>
        <p:spPr>
          <a:xfrm>
            <a:off x="6376401" y="3657013"/>
            <a:ext cx="1508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Speech modality</a:t>
            </a:r>
          </a:p>
        </p:txBody>
      </p:sp>
      <p:pic>
        <p:nvPicPr>
          <p:cNvPr id="5" name="Google Shape;1366;p95" title="Open-VQA-text.png">
            <a:extLst>
              <a:ext uri="{FF2B5EF4-FFF2-40B4-BE49-F238E27FC236}">
                <a16:creationId xmlns:a16="http://schemas.microsoft.com/office/drawing/2014/main" id="{FB7F3132-1851-EB54-E4A0-96F15D40837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019" y="1024035"/>
            <a:ext cx="3661103" cy="263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533;p103" title="Open-VQA-audio.png">
            <a:extLst>
              <a:ext uri="{FF2B5EF4-FFF2-40B4-BE49-F238E27FC236}">
                <a16:creationId xmlns:a16="http://schemas.microsoft.com/office/drawing/2014/main" id="{29C28E1A-3B12-71EE-F4C3-3DA0D6CE643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6779" y="1024034"/>
            <a:ext cx="3885946" cy="2632978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823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56483A70-DE43-8E3F-0373-22AF60742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">
            <a:extLst>
              <a:ext uri="{FF2B5EF4-FFF2-40B4-BE49-F238E27FC236}">
                <a16:creationId xmlns:a16="http://schemas.microsoft.com/office/drawing/2014/main" id="{2D8806CF-0FCA-88F6-E3F6-E6049C1D3F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810187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800" dirty="0"/>
              <a:t>Afri-MCQA: Why speech modality fail?</a:t>
            </a:r>
          </a:p>
        </p:txBody>
      </p:sp>
      <p:sp>
        <p:nvSpPr>
          <p:cNvPr id="960" name="Google Shape;960;p2">
            <a:extLst>
              <a:ext uri="{FF2B5EF4-FFF2-40B4-BE49-F238E27FC236}">
                <a16:creationId xmlns:a16="http://schemas.microsoft.com/office/drawing/2014/main" id="{ADE564F7-7506-7F89-B566-DC012E2665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800"/>
              <a:pPr>
                <a:lnSpc>
                  <a:spcPct val="90000"/>
                </a:lnSpc>
                <a:spcAft>
                  <a:spcPts val="600"/>
                </a:spcAft>
              </a:pPr>
              <a:t>29</a:t>
            </a:fld>
            <a:endParaRPr lang="en-US" sz="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0BDE98-16B7-9161-33C8-4450BFEA785B}"/>
              </a:ext>
            </a:extLst>
          </p:cNvPr>
          <p:cNvSpPr txBox="1"/>
          <p:nvPr/>
        </p:nvSpPr>
        <p:spPr>
          <a:xfrm>
            <a:off x="744229" y="910030"/>
            <a:ext cx="7319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If the model </a:t>
            </a:r>
            <a:r>
              <a:rPr lang="en-US" sz="1800" dirty="0">
                <a:solidFill>
                  <a:srgbClr val="FF0000"/>
                </a:solidFill>
              </a:rPr>
              <a:t>can’t identify the language</a:t>
            </a:r>
            <a:r>
              <a:rPr lang="en-US" sz="1800" dirty="0">
                <a:solidFill>
                  <a:schemeClr val="tx1"/>
                </a:solidFill>
              </a:rPr>
              <a:t> or </a:t>
            </a:r>
            <a:r>
              <a:rPr lang="en-US" sz="1800" dirty="0">
                <a:solidFill>
                  <a:srgbClr val="FF0000"/>
                </a:solidFill>
              </a:rPr>
              <a:t>transcribe the audio</a:t>
            </a:r>
            <a:r>
              <a:rPr lang="en-US" sz="1800" dirty="0">
                <a:solidFill>
                  <a:schemeClr val="tx1"/>
                </a:solidFill>
              </a:rPr>
              <a:t>, downstream VQA will collapse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3C814F-50FF-E025-CCB3-045D444E3195}"/>
              </a:ext>
            </a:extLst>
          </p:cNvPr>
          <p:cNvSpPr txBox="1"/>
          <p:nvPr/>
        </p:nvSpPr>
        <p:spPr>
          <a:xfrm>
            <a:off x="864000" y="3998833"/>
            <a:ext cx="7968343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Speech adds another </a:t>
            </a:r>
            <a:r>
              <a:rPr lang="en-US" sz="1600" u="sng" dirty="0">
                <a:solidFill>
                  <a:schemeClr val="tx1"/>
                </a:solidFill>
              </a:rPr>
              <a:t>layer of difficulty</a:t>
            </a:r>
            <a:r>
              <a:rPr lang="en-US" sz="1600" dirty="0">
                <a:solidFill>
                  <a:schemeClr val="tx1"/>
                </a:solidFill>
              </a:rPr>
              <a:t>, as </a:t>
            </a:r>
            <a:r>
              <a:rPr lang="en-US" sz="1600" b="1" dirty="0">
                <a:solidFill>
                  <a:schemeClr val="tx1"/>
                </a:solidFill>
              </a:rPr>
              <a:t>current multimodal LLMs </a:t>
            </a:r>
            <a:r>
              <a:rPr lang="en-US" sz="1600" dirty="0">
                <a:solidFill>
                  <a:schemeClr val="tx1"/>
                </a:solidFill>
              </a:rPr>
              <a:t>must first </a:t>
            </a:r>
            <a:r>
              <a:rPr lang="en-US" sz="1600" b="1" dirty="0">
                <a:solidFill>
                  <a:schemeClr val="tx1"/>
                </a:solidFill>
              </a:rPr>
              <a:t>transcribe</a:t>
            </a:r>
            <a:r>
              <a:rPr lang="en-US" sz="1600" dirty="0">
                <a:solidFill>
                  <a:schemeClr val="tx1"/>
                </a:solidFill>
              </a:rPr>
              <a:t> the audio accurately before </a:t>
            </a:r>
            <a:r>
              <a:rPr lang="en-US" sz="1600" b="1" dirty="0">
                <a:solidFill>
                  <a:schemeClr val="tx1"/>
                </a:solidFill>
              </a:rPr>
              <a:t>answering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2" name="Google Shape;1544;p104" title="Screenshot 2026-01-12 at 3.07.32 PM.png">
            <a:extLst>
              <a:ext uri="{FF2B5EF4-FFF2-40B4-BE49-F238E27FC236}">
                <a16:creationId xmlns:a16="http://schemas.microsoft.com/office/drawing/2014/main" id="{AF132A3D-4A77-B3F9-2AA4-790B70647BD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9626" y="1734650"/>
            <a:ext cx="7485497" cy="2065454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7127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EBDFD590-A7B2-51FD-528C-047067300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">
            <a:extLst>
              <a:ext uri="{FF2B5EF4-FFF2-40B4-BE49-F238E27FC236}">
                <a16:creationId xmlns:a16="http://schemas.microsoft.com/office/drawing/2014/main" id="{8D8DE7C9-6E42-7EC5-3E50-B1812A6985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000" y="218418"/>
            <a:ext cx="7894800" cy="572700"/>
          </a:xfr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3200" dirty="0"/>
              <a:t>Some Consideration when developing Multicultural benchmarks</a:t>
            </a:r>
          </a:p>
        </p:txBody>
      </p:sp>
      <p:sp>
        <p:nvSpPr>
          <p:cNvPr id="960" name="Google Shape;960;p2">
            <a:extLst>
              <a:ext uri="{FF2B5EF4-FFF2-40B4-BE49-F238E27FC236}">
                <a16:creationId xmlns:a16="http://schemas.microsoft.com/office/drawing/2014/main" id="{09857197-FFEF-C57D-97FD-D3D5F43C14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800"/>
              <a:pPr>
                <a:lnSpc>
                  <a:spcPct val="90000"/>
                </a:lnSpc>
                <a:spcAft>
                  <a:spcPts val="600"/>
                </a:spcAft>
              </a:pPr>
              <a:t>30</a:t>
            </a:fld>
            <a:endParaRPr lang="en-US" sz="800"/>
          </a:p>
        </p:txBody>
      </p:sp>
      <p:sp>
        <p:nvSpPr>
          <p:cNvPr id="3" name="Google Shape;958;p2">
            <a:extLst>
              <a:ext uri="{FF2B5EF4-FFF2-40B4-BE49-F238E27FC236}">
                <a16:creationId xmlns:a16="http://schemas.microsoft.com/office/drawing/2014/main" id="{46BA77E5-0CC7-E7B0-56B6-18292D7D08D4}"/>
              </a:ext>
            </a:extLst>
          </p:cNvPr>
          <p:cNvSpPr txBox="1"/>
          <p:nvPr/>
        </p:nvSpPr>
        <p:spPr>
          <a:xfrm>
            <a:off x="622435" y="982685"/>
            <a:ext cx="8136365" cy="3369396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t" anchorCtr="0">
            <a:normAutofit fontScale="92500" lnSpcReduction="10000"/>
          </a:bodyPr>
          <a:lstStyle/>
          <a:p>
            <a:pPr marL="587375" lvl="1">
              <a:spcAft>
                <a:spcPts val="900"/>
              </a:spcAft>
            </a:pPr>
            <a:endParaRPr lang="en-GB" b="1" dirty="0">
              <a:solidFill>
                <a:schemeClr val="tx1"/>
              </a:solidFill>
              <a:latin typeface="Work Sans" pitchFamily="2" charset="77"/>
            </a:endParaRP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/>
                </a:solidFill>
                <a:latin typeface="Work Sans" pitchFamily="2" charset="77"/>
              </a:rPr>
              <a:t>Define what is </a:t>
            </a:r>
            <a:r>
              <a:rPr lang="en-GB" b="1" dirty="0">
                <a:solidFill>
                  <a:srgbClr val="00B050"/>
                </a:solidFill>
                <a:latin typeface="Work Sans" pitchFamily="2" charset="77"/>
              </a:rPr>
              <a:t>culture</a:t>
            </a:r>
            <a:r>
              <a:rPr lang="en-GB" b="1" dirty="0">
                <a:solidFill>
                  <a:schemeClr val="tx1"/>
                </a:solidFill>
                <a:latin typeface="Work Sans" pitchFamily="2" charset="77"/>
              </a:rPr>
              <a:t>?</a:t>
            </a:r>
          </a:p>
          <a:p>
            <a:pPr marL="541338" lvl="2" indent="-285750">
              <a:spcAft>
                <a:spcPts val="900"/>
              </a:spcAft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  <a:latin typeface="Work Sans" pitchFamily="2" charset="77"/>
              </a:rPr>
              <a:t>Most papers treat country as a proxy for culture. </a:t>
            </a:r>
          </a:p>
          <a:p>
            <a:pPr marL="541338" lvl="2" indent="-285750">
              <a:spcAft>
                <a:spcPts val="900"/>
              </a:spcAft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  <a:latin typeface="Work Sans" pitchFamily="2" charset="77"/>
              </a:rPr>
              <a:t>Expand beyond country-level definition to more fine-grained groups. 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/>
                </a:solidFill>
                <a:latin typeface="Work Sans" pitchFamily="2" charset="77"/>
              </a:rPr>
              <a:t>Don’t limit culture evaluation to </a:t>
            </a:r>
            <a:r>
              <a:rPr lang="en-GB" b="1" dirty="0">
                <a:solidFill>
                  <a:schemeClr val="accent3"/>
                </a:solidFill>
                <a:latin typeface="Work Sans" pitchFamily="2" charset="77"/>
              </a:rPr>
              <a:t>text modality</a:t>
            </a:r>
            <a:r>
              <a:rPr lang="en-GB" dirty="0">
                <a:solidFill>
                  <a:schemeClr val="tx1"/>
                </a:solidFill>
                <a:latin typeface="Work Sans" pitchFamily="2" charset="77"/>
              </a:rPr>
              <a:t>.</a:t>
            </a:r>
          </a:p>
          <a:p>
            <a:pPr marL="541338" indent="-285750">
              <a:spcAft>
                <a:spcPts val="900"/>
              </a:spcAft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  <a:latin typeface="Work Sans" pitchFamily="2" charset="77"/>
              </a:rPr>
              <a:t>Especially for </a:t>
            </a:r>
            <a:r>
              <a:rPr lang="en-GB" u="sng" dirty="0">
                <a:solidFill>
                  <a:schemeClr val="tx1"/>
                </a:solidFill>
                <a:latin typeface="Work Sans" pitchFamily="2" charset="77"/>
              </a:rPr>
              <a:t>tangible cultural concepts </a:t>
            </a:r>
            <a:r>
              <a:rPr lang="en-GB" dirty="0">
                <a:solidFill>
                  <a:schemeClr val="tx1"/>
                </a:solidFill>
                <a:latin typeface="Work Sans" pitchFamily="2" charset="77"/>
              </a:rPr>
              <a:t>e.g. food, landmarks etc.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/>
                </a:solidFill>
                <a:latin typeface="Work Sans" pitchFamily="2" charset="77"/>
              </a:rPr>
              <a:t>Build datasets can cover </a:t>
            </a:r>
            <a:r>
              <a:rPr lang="en-GB" b="1" dirty="0">
                <a:solidFill>
                  <a:schemeClr val="bg2">
                    <a:lumMod val="75000"/>
                  </a:schemeClr>
                </a:solidFill>
                <a:latin typeface="Work Sans" pitchFamily="2" charset="77"/>
              </a:rPr>
              <a:t>under-represented cultures </a:t>
            </a:r>
            <a:endParaRPr lang="en-GB" dirty="0">
              <a:solidFill>
                <a:schemeClr val="bg2">
                  <a:lumMod val="75000"/>
                </a:schemeClr>
              </a:solidFill>
              <a:latin typeface="Work Sans" pitchFamily="2" charset="77"/>
            </a:endParaRP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/>
                </a:solidFill>
                <a:latin typeface="Work Sans" pitchFamily="2" charset="77"/>
              </a:rPr>
              <a:t>Develop benchmarks that expose </a:t>
            </a:r>
            <a:r>
              <a:rPr lang="en-GB" b="1" dirty="0">
                <a:solidFill>
                  <a:schemeClr val="accent4"/>
                </a:solidFill>
                <a:latin typeface="Work Sans" pitchFamily="2" charset="77"/>
              </a:rPr>
              <a:t>lack of robustness of VLMs to adversarial changes </a:t>
            </a:r>
          </a:p>
          <a:p>
            <a:pPr marL="541338" indent="-285750">
              <a:spcAft>
                <a:spcPts val="900"/>
              </a:spcAft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  <a:latin typeface="Work Sans" pitchFamily="2" charset="77"/>
              </a:rPr>
              <a:t>such as safety difference across cultures and </a:t>
            </a:r>
          </a:p>
          <a:p>
            <a:pPr marL="541338" indent="-285750">
              <a:spcAft>
                <a:spcPts val="900"/>
              </a:spcAft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  <a:latin typeface="Work Sans" pitchFamily="2" charset="77"/>
              </a:rPr>
              <a:t>slight modification of prompts and objects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/>
                </a:solidFill>
                <a:latin typeface="Work Sans" pitchFamily="2" charset="77"/>
              </a:rPr>
              <a:t>Collaborate with Social science </a:t>
            </a:r>
            <a:r>
              <a:rPr lang="en-GB" dirty="0">
                <a:solidFill>
                  <a:schemeClr val="tx1"/>
                </a:solidFill>
                <a:latin typeface="Work Sans" pitchFamily="2" charset="77"/>
              </a:rPr>
              <a:t>(Hire an Anthropologist!)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</a:pPr>
            <a:endParaRPr lang="en-CA" dirty="0">
              <a:solidFill>
                <a:schemeClr val="tx1"/>
              </a:solidFill>
              <a:latin typeface="Work Sans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DF83EE-B6CB-BDC8-299B-40B176E69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3582365"/>
            <a:ext cx="4384040" cy="11568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6608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21"/>
          <p:cNvSpPr txBox="1">
            <a:spLocks noGrp="1"/>
          </p:cNvSpPr>
          <p:nvPr>
            <p:ph type="sldNum" idx="12"/>
          </p:nvPr>
        </p:nvSpPr>
        <p:spPr>
          <a:xfrm>
            <a:off x="0" y="4766400"/>
            <a:ext cx="475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fr"/>
              <a:t>31</a:t>
            </a:fld>
            <a:endParaRPr/>
          </a:p>
        </p:txBody>
      </p:sp>
      <p:sp>
        <p:nvSpPr>
          <p:cNvPr id="2337" name="Google Shape;2337;p21"/>
          <p:cNvSpPr txBox="1"/>
          <p:nvPr/>
        </p:nvSpPr>
        <p:spPr>
          <a:xfrm>
            <a:off x="6270175" y="360611"/>
            <a:ext cx="19023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 dirty="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15-10</a:t>
            </a:r>
            <a:r>
              <a:rPr lang="fr" sz="1100" b="0" i="0" u="none" strike="noStrike" cap="none" spc="0" dirty="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-2026</a:t>
            </a:r>
            <a:endParaRPr sz="1100" b="0" i="0" u="none" strike="noStrike" cap="none" spc="0" dirty="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2338" name="Google Shape;2338;p21"/>
          <p:cNvSpPr txBox="1">
            <a:spLocks noGrp="1"/>
          </p:cNvSpPr>
          <p:nvPr>
            <p:ph type="ctrTitle"/>
          </p:nvPr>
        </p:nvSpPr>
        <p:spPr>
          <a:xfrm>
            <a:off x="836531" y="1109139"/>
            <a:ext cx="7652700" cy="10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fr" dirty="0" err="1"/>
              <a:t>Thank</a:t>
            </a:r>
            <a:r>
              <a:rPr lang="fr" dirty="0"/>
              <a:t> </a:t>
            </a:r>
            <a:r>
              <a:rPr lang="fr" dirty="0" err="1"/>
              <a:t>you</a:t>
            </a:r>
            <a:r>
              <a:rPr lang="fr" dirty="0"/>
              <a:t>!!!</a:t>
            </a:r>
            <a:endParaRPr dirty="0"/>
          </a:p>
        </p:txBody>
      </p:sp>
      <p:sp>
        <p:nvSpPr>
          <p:cNvPr id="2" name="Google Shape;1433;p38">
            <a:extLst>
              <a:ext uri="{FF2B5EF4-FFF2-40B4-BE49-F238E27FC236}">
                <a16:creationId xmlns:a16="http://schemas.microsoft.com/office/drawing/2014/main" id="{75F9EA97-3814-CB3B-DBB9-2DF706108830}"/>
              </a:ext>
            </a:extLst>
          </p:cNvPr>
          <p:cNvSpPr txBox="1"/>
          <p:nvPr/>
        </p:nvSpPr>
        <p:spPr>
          <a:xfrm>
            <a:off x="4005072" y="2645327"/>
            <a:ext cx="151892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Merci beaucoup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Ẹ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ṣe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pupọ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Daalụ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gode</a:t>
            </a:r>
            <a:endParaRPr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14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na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do well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6"/>
</p:tagLst>
</file>

<file path=ppt/theme/theme1.xml><?xml version="1.0" encoding="utf-8"?>
<a:theme xmlns:a="http://schemas.openxmlformats.org/drawingml/2006/main" name="Mila-2023">
  <a:themeElements>
    <a:clrScheme name="Simple Light">
      <a:dk1>
        <a:srgbClr val="662E7D"/>
      </a:dk1>
      <a:lt1>
        <a:srgbClr val="FFFFFF"/>
      </a:lt1>
      <a:dk2>
        <a:srgbClr val="59B9D2"/>
      </a:dk2>
      <a:lt2>
        <a:srgbClr val="F9B40D"/>
      </a:lt2>
      <a:accent1>
        <a:srgbClr val="F594BB"/>
      </a:accent1>
      <a:accent2>
        <a:srgbClr val="3FAE82"/>
      </a:accent2>
      <a:accent3>
        <a:srgbClr val="F0562A"/>
      </a:accent3>
      <a:accent4>
        <a:srgbClr val="D41647"/>
      </a:accent4>
      <a:accent5>
        <a:srgbClr val="363A44"/>
      </a:accent5>
      <a:accent6>
        <a:srgbClr val="F4F5F1"/>
      </a:accent6>
      <a:hlink>
        <a:srgbClr val="662E7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47343</TotalTime>
  <Words>1787</Words>
  <Application>Microsoft Macintosh PowerPoint</Application>
  <PresentationFormat>On-screen Show (16:9)</PresentationFormat>
  <Paragraphs>301</Paragraphs>
  <Slides>31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Work Sans</vt:lpstr>
      <vt:lpstr>Calibri</vt:lpstr>
      <vt:lpstr>Arial</vt:lpstr>
      <vt:lpstr>Wingdings</vt:lpstr>
      <vt:lpstr>Work Sans Medium</vt:lpstr>
      <vt:lpstr>-apple-system-body</vt:lpstr>
      <vt:lpstr>Work Sans SemiBold</vt:lpstr>
      <vt:lpstr>Courier New</vt:lpstr>
      <vt:lpstr>Mila-2023</vt:lpstr>
      <vt:lpstr>Multilingual Multicultural LLMs Tutorial Culture beyond words: multimodal and multicultural LLMs</vt:lpstr>
      <vt:lpstr>PowerPoint Presentation</vt:lpstr>
      <vt:lpstr>Are LLMs Multicultural and In which language?</vt:lpstr>
      <vt:lpstr>But, Multilingual ≠ Multicultural</vt:lpstr>
      <vt:lpstr>Agenda</vt:lpstr>
      <vt:lpstr>PowerPoint Presentation</vt:lpstr>
      <vt:lpstr>How Culture is Measured in Benchmarks?</vt:lpstr>
      <vt:lpstr>How Culture is Measured in Benchmarks?</vt:lpstr>
      <vt:lpstr>Localizing Named Entities: Blend </vt:lpstr>
      <vt:lpstr>Localizing Named Entities: Macaron </vt:lpstr>
      <vt:lpstr>Accessing Knowledge: MILU </vt:lpstr>
      <vt:lpstr>Accessing Knowledge: INCLUDE </vt:lpstr>
      <vt:lpstr>Accessing Knowledge: INCLUDE 2.0 </vt:lpstr>
      <vt:lpstr>PowerPoint Presentation</vt:lpstr>
      <vt:lpstr>How to evaluate culture in VLMs?</vt:lpstr>
      <vt:lpstr>Culture is a Multifaceted Concept</vt:lpstr>
      <vt:lpstr>Example of Tangible Cultural categorization</vt:lpstr>
      <vt:lpstr>One vs. Multiple concepts</vt:lpstr>
      <vt:lpstr>Food VQA: FoodieQA</vt:lpstr>
      <vt:lpstr>Food VQA: WorldCuisines</vt:lpstr>
      <vt:lpstr>Multiple concepts: CVQA</vt:lpstr>
      <vt:lpstr>Multiple concepts: ALM-Bench</vt:lpstr>
      <vt:lpstr>Multiple concepts: Adversarial setting</vt:lpstr>
      <vt:lpstr>Safety concerns in multicultural settings</vt:lpstr>
      <vt:lpstr>Afri-MCQA: Text + Image vs. Speech + Image</vt:lpstr>
      <vt:lpstr>Afri-MCQA: Culture definition and coverage</vt:lpstr>
      <vt:lpstr>Afri-MCQA: Multi-choice QA results</vt:lpstr>
      <vt:lpstr>Afri-MCQA: Open QA results</vt:lpstr>
      <vt:lpstr>Afri-MCQA: Why speech modality fail?</vt:lpstr>
      <vt:lpstr>Some Consideration when developing Multicultural benchmarks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Ifeoluwa Adelani</cp:lastModifiedBy>
  <cp:revision>57</cp:revision>
  <cp:lastPrinted>2026-10-25T19:32:50Z</cp:lastPrinted>
  <dcterms:modified xsi:type="dcterms:W3CDTF">2026-10-28T15:33:13Z</dcterms:modified>
</cp:coreProperties>
</file>